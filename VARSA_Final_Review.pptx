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1428"/>
        </a:solidFill>
        <a:effectLst/>
      </p:bgPr>
    </p:bg>
    <p:spTree>
      <p:nvGrpSpPr>
        <p:cNvPr id="1" name=""/>
        <p:cNvGrpSpPr/>
        <p:nvPr/>
      </p:nvGrpSpPr>
      <p:grpSpPr/>
      <p:sp>
        <p:nvSpPr>
          <p:cNvPr id="2" name="Rectangle 1"/>
          <p:cNvSpPr/>
          <p:nvPr/>
        </p:nvSpPr>
        <p:spPr>
          <a:xfrm>
            <a:off x="548640" y="468000"/>
            <a:ext cx="5220000" cy="234000"/>
          </a:xfrm>
          <a:prstGeom prst="rect">
            <a:avLst/>
          </a:prstGeom>
          <a:solidFill>
            <a:srgbClr val="0F2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6640" y="503999"/>
            <a:ext cx="5040000" cy="180000"/>
          </a:xfrm>
          <a:prstGeom prst="rect">
            <a:avLst/>
          </a:prstGeom>
          <a:noFill/>
        </p:spPr>
        <p:txBody>
          <a:bodyPr wrap="square">
            <a:spAutoFit/>
          </a:bodyPr>
          <a:lstStyle/>
          <a:p>
            <a:pPr algn="l"/>
            <a:r>
              <a:rPr sz="850" b="1" i="0">
                <a:solidFill>
                  <a:srgbClr val="E0A526"/>
                </a:solidFill>
                <a:latin typeface="Outfit"/>
              </a:rPr>
              <a:t>PROBABILITY &amp; STATISTICS  ·  FINAL CAPSTONE PROJECT DEFENSE</a:t>
            </a:r>
          </a:p>
        </p:txBody>
      </p:sp>
      <p:sp>
        <p:nvSpPr>
          <p:cNvPr id="4" name="TextBox 3"/>
          <p:cNvSpPr txBox="1"/>
          <p:nvPr/>
        </p:nvSpPr>
        <p:spPr>
          <a:xfrm>
            <a:off x="548640" y="972000"/>
            <a:ext cx="11160000" cy="720000"/>
          </a:xfrm>
          <a:prstGeom prst="rect">
            <a:avLst/>
          </a:prstGeom>
          <a:noFill/>
        </p:spPr>
        <p:txBody>
          <a:bodyPr wrap="square">
            <a:spAutoFit/>
          </a:bodyPr>
          <a:lstStyle/>
          <a:p>
            <a:pPr algn="l"/>
            <a:r>
              <a:rPr sz="3400" b="1" i="0">
                <a:solidFill>
                  <a:srgbClr val="FFFFFF"/>
                </a:solidFill>
                <a:latin typeface="Outfit"/>
              </a:rPr>
              <a:t>VARSA: Understanding India's Rainfall</a:t>
            </a:r>
          </a:p>
        </p:txBody>
      </p:sp>
      <p:sp>
        <p:nvSpPr>
          <p:cNvPr id="5" name="TextBox 4"/>
          <p:cNvSpPr txBox="1"/>
          <p:nvPr/>
        </p:nvSpPr>
        <p:spPr>
          <a:xfrm>
            <a:off x="548640" y="1728000"/>
            <a:ext cx="11160000" cy="503999"/>
          </a:xfrm>
          <a:prstGeom prst="rect">
            <a:avLst/>
          </a:prstGeom>
          <a:noFill/>
        </p:spPr>
        <p:txBody>
          <a:bodyPr wrap="square">
            <a:spAutoFit/>
          </a:bodyPr>
          <a:lstStyle/>
          <a:p>
            <a:pPr algn="l"/>
            <a:r>
              <a:rPr sz="1500" b="0" i="0">
                <a:solidFill>
                  <a:srgbClr val="C9D6EA"/>
                </a:solidFill>
                <a:latin typeface="Outfit"/>
              </a:rPr>
              <a:t>A 126-Year Statistical Journey (1901–2026): Myths, Realities &amp; Interactive Atlas</a:t>
            </a:r>
          </a:p>
        </p:txBody>
      </p:sp>
      <p:sp>
        <p:nvSpPr>
          <p:cNvPr id="6" name="Rectangle 5"/>
          <p:cNvSpPr/>
          <p:nvPr/>
        </p:nvSpPr>
        <p:spPr>
          <a:xfrm>
            <a:off x="548640" y="2448000"/>
            <a:ext cx="11094720" cy="18000"/>
          </a:xfrm>
          <a:prstGeom prst="rect">
            <a:avLst/>
          </a:prstGeom>
          <a:solidFill>
            <a:srgbClr val="E0A5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736000"/>
            <a:ext cx="2665680" cy="1512000"/>
          </a:xfrm>
          <a:prstGeom prst="rect">
            <a:avLst/>
          </a:prstGeom>
          <a:solidFill>
            <a:srgbClr val="0F2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74639" y="2815200"/>
            <a:ext cx="2485680" cy="432000"/>
          </a:xfrm>
          <a:prstGeom prst="rect">
            <a:avLst/>
          </a:prstGeom>
          <a:noFill/>
        </p:spPr>
        <p:txBody>
          <a:bodyPr wrap="square">
            <a:spAutoFit/>
          </a:bodyPr>
          <a:lstStyle/>
          <a:p>
            <a:pPr algn="l"/>
            <a:r>
              <a:rPr sz="2000" b="1" i="0">
                <a:solidFill>
                  <a:srgbClr val="38BDF8"/>
                </a:solidFill>
                <a:latin typeface="Outfit"/>
              </a:rPr>
              <a:t>126 Years</a:t>
            </a:r>
          </a:p>
        </p:txBody>
      </p:sp>
      <p:sp>
        <p:nvSpPr>
          <p:cNvPr id="9" name="TextBox 8"/>
          <p:cNvSpPr txBox="1"/>
          <p:nvPr/>
        </p:nvSpPr>
        <p:spPr>
          <a:xfrm>
            <a:off x="674639" y="3258000"/>
            <a:ext cx="2485680" cy="198000"/>
          </a:xfrm>
          <a:prstGeom prst="rect">
            <a:avLst/>
          </a:prstGeom>
          <a:noFill/>
        </p:spPr>
        <p:txBody>
          <a:bodyPr wrap="square">
            <a:spAutoFit/>
          </a:bodyPr>
          <a:lstStyle/>
          <a:p>
            <a:pPr algn="l"/>
            <a:r>
              <a:rPr sz="850" b="1" i="0">
                <a:solidFill>
                  <a:srgbClr val="E0A526"/>
                </a:solidFill>
                <a:latin typeface="Outfit"/>
              </a:rPr>
              <a:t>Complete History</a:t>
            </a:r>
          </a:p>
        </p:txBody>
      </p:sp>
      <p:sp>
        <p:nvSpPr>
          <p:cNvPr id="10" name="TextBox 9"/>
          <p:cNvSpPr txBox="1"/>
          <p:nvPr/>
        </p:nvSpPr>
        <p:spPr>
          <a:xfrm>
            <a:off x="674639" y="3473999"/>
            <a:ext cx="2485680" cy="756000"/>
          </a:xfrm>
          <a:prstGeom prst="rect">
            <a:avLst/>
          </a:prstGeom>
          <a:noFill/>
        </p:spPr>
        <p:txBody>
          <a:bodyPr wrap="square">
            <a:spAutoFit/>
          </a:bodyPr>
          <a:lstStyle/>
          <a:p>
            <a:pPr algn="l"/>
            <a:r>
              <a:rPr sz="750" b="0" i="0">
                <a:solidFill>
                  <a:srgbClr val="C9D6EA"/>
                </a:solidFill>
                <a:latin typeface="Outfit"/>
              </a:rPr>
              <a:t>From British records (1901) to live monsoon 2026</a:t>
            </a:r>
          </a:p>
        </p:txBody>
      </p:sp>
      <p:sp>
        <p:nvSpPr>
          <p:cNvPr id="11" name="Rectangle 10"/>
          <p:cNvSpPr/>
          <p:nvPr/>
        </p:nvSpPr>
        <p:spPr>
          <a:xfrm>
            <a:off x="3358320" y="2736000"/>
            <a:ext cx="2665680" cy="1512000"/>
          </a:xfrm>
          <a:prstGeom prst="rect">
            <a:avLst/>
          </a:prstGeom>
          <a:solidFill>
            <a:srgbClr val="0F2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84319" y="2815200"/>
            <a:ext cx="2485680" cy="432000"/>
          </a:xfrm>
          <a:prstGeom prst="rect">
            <a:avLst/>
          </a:prstGeom>
          <a:noFill/>
        </p:spPr>
        <p:txBody>
          <a:bodyPr wrap="square">
            <a:spAutoFit/>
          </a:bodyPr>
          <a:lstStyle/>
          <a:p>
            <a:pPr algn="l"/>
            <a:r>
              <a:rPr sz="2000" b="1" i="0">
                <a:solidFill>
                  <a:srgbClr val="22C55E"/>
                </a:solidFill>
                <a:latin typeface="Outfit"/>
              </a:rPr>
              <a:t>36 Regions</a:t>
            </a:r>
          </a:p>
        </p:txBody>
      </p:sp>
      <p:sp>
        <p:nvSpPr>
          <p:cNvPr id="13" name="TextBox 12"/>
          <p:cNvSpPr txBox="1"/>
          <p:nvPr/>
        </p:nvSpPr>
        <p:spPr>
          <a:xfrm>
            <a:off x="3484319" y="3258000"/>
            <a:ext cx="2485680" cy="198000"/>
          </a:xfrm>
          <a:prstGeom prst="rect">
            <a:avLst/>
          </a:prstGeom>
          <a:noFill/>
        </p:spPr>
        <p:txBody>
          <a:bodyPr wrap="square">
            <a:spAutoFit/>
          </a:bodyPr>
          <a:lstStyle/>
          <a:p>
            <a:pPr algn="l"/>
            <a:r>
              <a:rPr sz="850" b="1" i="0">
                <a:solidFill>
                  <a:srgbClr val="E0A526"/>
                </a:solidFill>
                <a:latin typeface="Outfit"/>
              </a:rPr>
              <a:t>All of India</a:t>
            </a:r>
          </a:p>
        </p:txBody>
      </p:sp>
      <p:sp>
        <p:nvSpPr>
          <p:cNvPr id="14" name="TextBox 13"/>
          <p:cNvSpPr txBox="1"/>
          <p:nvPr/>
        </p:nvSpPr>
        <p:spPr>
          <a:xfrm>
            <a:off x="3484319" y="3473999"/>
            <a:ext cx="2485680" cy="756000"/>
          </a:xfrm>
          <a:prstGeom prst="rect">
            <a:avLst/>
          </a:prstGeom>
          <a:noFill/>
        </p:spPr>
        <p:txBody>
          <a:bodyPr wrap="square">
            <a:spAutoFit/>
          </a:bodyPr>
          <a:lstStyle/>
          <a:p>
            <a:pPr algn="l"/>
            <a:r>
              <a:rPr sz="750" b="0" i="0">
                <a:solidFill>
                  <a:srgbClr val="C9D6EA"/>
                </a:solidFill>
                <a:latin typeface="Outfit"/>
              </a:rPr>
              <a:t>Every meteorological subdivision analyzed individually</a:t>
            </a:r>
          </a:p>
        </p:txBody>
      </p:sp>
      <p:sp>
        <p:nvSpPr>
          <p:cNvPr id="15" name="Rectangle 14"/>
          <p:cNvSpPr/>
          <p:nvPr/>
        </p:nvSpPr>
        <p:spPr>
          <a:xfrm>
            <a:off x="6168000" y="2736000"/>
            <a:ext cx="2665680" cy="1512000"/>
          </a:xfrm>
          <a:prstGeom prst="rect">
            <a:avLst/>
          </a:prstGeom>
          <a:solidFill>
            <a:srgbClr val="0F2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93999" y="2815200"/>
            <a:ext cx="2485680" cy="432000"/>
          </a:xfrm>
          <a:prstGeom prst="rect">
            <a:avLst/>
          </a:prstGeom>
          <a:noFill/>
        </p:spPr>
        <p:txBody>
          <a:bodyPr wrap="square">
            <a:spAutoFit/>
          </a:bodyPr>
          <a:lstStyle/>
          <a:p>
            <a:pPr algn="l"/>
            <a:r>
              <a:rPr sz="2000" b="1" i="0">
                <a:solidFill>
                  <a:srgbClr val="E0A526"/>
                </a:solidFill>
                <a:latin typeface="Outfit"/>
              </a:rPr>
              <a:t>0 Myths</a:t>
            </a:r>
          </a:p>
        </p:txBody>
      </p:sp>
      <p:sp>
        <p:nvSpPr>
          <p:cNvPr id="17" name="TextBox 16"/>
          <p:cNvSpPr txBox="1"/>
          <p:nvPr/>
        </p:nvSpPr>
        <p:spPr>
          <a:xfrm>
            <a:off x="6293999" y="3258000"/>
            <a:ext cx="2485680" cy="198000"/>
          </a:xfrm>
          <a:prstGeom prst="rect">
            <a:avLst/>
          </a:prstGeom>
          <a:noFill/>
        </p:spPr>
        <p:txBody>
          <a:bodyPr wrap="square">
            <a:spAutoFit/>
          </a:bodyPr>
          <a:lstStyle/>
          <a:p>
            <a:pPr algn="l"/>
            <a:r>
              <a:rPr sz="850" b="1" i="0">
                <a:solidFill>
                  <a:srgbClr val="E0A526"/>
                </a:solidFill>
                <a:latin typeface="Outfit"/>
              </a:rPr>
              <a:t>Truth in Data</a:t>
            </a:r>
          </a:p>
        </p:txBody>
      </p:sp>
      <p:sp>
        <p:nvSpPr>
          <p:cNvPr id="18" name="TextBox 17"/>
          <p:cNvSpPr txBox="1"/>
          <p:nvPr/>
        </p:nvSpPr>
        <p:spPr>
          <a:xfrm>
            <a:off x="6293999" y="3473999"/>
            <a:ext cx="2485680" cy="756000"/>
          </a:xfrm>
          <a:prstGeom prst="rect">
            <a:avLst/>
          </a:prstGeom>
          <a:noFill/>
        </p:spPr>
        <p:txBody>
          <a:bodyPr wrap="square">
            <a:spAutoFit/>
          </a:bodyPr>
          <a:lstStyle/>
          <a:p>
            <a:pPr algn="l"/>
            <a:r>
              <a:rPr sz="750" b="0" i="0">
                <a:solidFill>
                  <a:srgbClr val="C9D6EA"/>
                </a:solidFill>
                <a:latin typeface="Outfit"/>
              </a:rPr>
              <a:t>Common misconceptions tested with mathematical rigor</a:t>
            </a:r>
          </a:p>
        </p:txBody>
      </p:sp>
      <p:sp>
        <p:nvSpPr>
          <p:cNvPr id="19" name="Rectangle 18"/>
          <p:cNvSpPr/>
          <p:nvPr/>
        </p:nvSpPr>
        <p:spPr>
          <a:xfrm>
            <a:off x="8977680" y="2736000"/>
            <a:ext cx="2665680" cy="1512000"/>
          </a:xfrm>
          <a:prstGeom prst="rect">
            <a:avLst/>
          </a:prstGeom>
          <a:solidFill>
            <a:srgbClr val="0F2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03679" y="2815200"/>
            <a:ext cx="2485680" cy="432000"/>
          </a:xfrm>
          <a:prstGeom prst="rect">
            <a:avLst/>
          </a:prstGeom>
          <a:noFill/>
        </p:spPr>
        <p:txBody>
          <a:bodyPr wrap="square">
            <a:spAutoFit/>
          </a:bodyPr>
          <a:lstStyle/>
          <a:p>
            <a:pPr algn="l"/>
            <a:r>
              <a:rPr sz="2000" b="1" i="0">
                <a:solidFill>
                  <a:srgbClr val="FFFFFF"/>
                </a:solidFill>
                <a:latin typeface="Outfit"/>
              </a:rPr>
              <a:t>Live &amp; 3D</a:t>
            </a:r>
          </a:p>
        </p:txBody>
      </p:sp>
      <p:sp>
        <p:nvSpPr>
          <p:cNvPr id="21" name="TextBox 20"/>
          <p:cNvSpPr txBox="1"/>
          <p:nvPr/>
        </p:nvSpPr>
        <p:spPr>
          <a:xfrm>
            <a:off x="9103679" y="3258000"/>
            <a:ext cx="2485680" cy="198000"/>
          </a:xfrm>
          <a:prstGeom prst="rect">
            <a:avLst/>
          </a:prstGeom>
          <a:noFill/>
        </p:spPr>
        <p:txBody>
          <a:bodyPr wrap="square">
            <a:spAutoFit/>
          </a:bodyPr>
          <a:lstStyle/>
          <a:p>
            <a:pPr algn="l"/>
            <a:r>
              <a:rPr sz="850" b="1" i="0">
                <a:solidFill>
                  <a:srgbClr val="E0A526"/>
                </a:solidFill>
                <a:latin typeface="Outfit"/>
              </a:rPr>
              <a:t>Interactive Tools</a:t>
            </a:r>
          </a:p>
        </p:txBody>
      </p:sp>
      <p:sp>
        <p:nvSpPr>
          <p:cNvPr id="22" name="TextBox 21"/>
          <p:cNvSpPr txBox="1"/>
          <p:nvPr/>
        </p:nvSpPr>
        <p:spPr>
          <a:xfrm>
            <a:off x="9103679" y="3473999"/>
            <a:ext cx="2485680" cy="756000"/>
          </a:xfrm>
          <a:prstGeom prst="rect">
            <a:avLst/>
          </a:prstGeom>
          <a:noFill/>
        </p:spPr>
        <p:txBody>
          <a:bodyPr wrap="square">
            <a:spAutoFit/>
          </a:bodyPr>
          <a:lstStyle/>
          <a:p>
            <a:pPr algn="l"/>
            <a:r>
              <a:rPr sz="750" b="0" i="0">
                <a:solidFill>
                  <a:srgbClr val="C9D6EA"/>
                </a:solidFill>
                <a:latin typeface="Outfit"/>
              </a:rPr>
              <a:t>Web dashboard + 3D atlas anyone can explore</a:t>
            </a:r>
          </a:p>
        </p:txBody>
      </p:sp>
      <p:sp>
        <p:nvSpPr>
          <p:cNvPr id="23" name="Rectangle 22"/>
          <p:cNvSpPr/>
          <p:nvPr/>
        </p:nvSpPr>
        <p:spPr>
          <a:xfrm>
            <a:off x="548640" y="4572000"/>
            <a:ext cx="11094720" cy="1512000"/>
          </a:xfrm>
          <a:prstGeom prst="rect">
            <a:avLst/>
          </a:prstGeom>
          <a:solidFill>
            <a:srgbClr val="0F2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4640" y="4680000"/>
            <a:ext cx="5040000" cy="216000"/>
          </a:xfrm>
          <a:prstGeom prst="rect">
            <a:avLst/>
          </a:prstGeom>
          <a:noFill/>
        </p:spPr>
        <p:txBody>
          <a:bodyPr wrap="square">
            <a:spAutoFit/>
          </a:bodyPr>
          <a:lstStyle/>
          <a:p>
            <a:pPr algn="l"/>
            <a:r>
              <a:rPr sz="900" b="1" i="0">
                <a:solidFill>
                  <a:srgbClr val="E0A526"/>
                </a:solidFill>
                <a:latin typeface="Outfit"/>
              </a:rPr>
              <a:t>PROJECT TEAM</a:t>
            </a:r>
          </a:p>
        </p:txBody>
      </p:sp>
      <p:sp>
        <p:nvSpPr>
          <p:cNvPr id="25" name="TextBox 24"/>
          <p:cNvSpPr txBox="1"/>
          <p:nvPr/>
        </p:nvSpPr>
        <p:spPr>
          <a:xfrm>
            <a:off x="764640" y="4932000"/>
            <a:ext cx="5760000" cy="936000"/>
          </a:xfrm>
          <a:prstGeom prst="rect">
            <a:avLst/>
          </a:prstGeom>
          <a:noFill/>
        </p:spPr>
        <p:txBody>
          <a:bodyPr wrap="square">
            <a:spAutoFit/>
          </a:bodyPr>
          <a:lstStyle/>
          <a:p>
            <a:pPr algn="l"/>
            <a:r>
              <a:rPr sz="1100" b="1" i="0">
                <a:solidFill>
                  <a:srgbClr val="FFFFFF"/>
                </a:solidFill>
                <a:latin typeface="Outfit"/>
              </a:rPr>
              <a:t>• Pratik  (25BCE0337)
• Adarsh  (25BCE0401)
• Arunya  (25BCE0344)</a:t>
            </a:r>
          </a:p>
        </p:txBody>
      </p:sp>
      <p:sp>
        <p:nvSpPr>
          <p:cNvPr id="26" name="TextBox 25"/>
          <p:cNvSpPr txBox="1"/>
          <p:nvPr/>
        </p:nvSpPr>
        <p:spPr>
          <a:xfrm>
            <a:off x="6488640" y="4680000"/>
            <a:ext cx="5040000" cy="216000"/>
          </a:xfrm>
          <a:prstGeom prst="rect">
            <a:avLst/>
          </a:prstGeom>
          <a:noFill/>
        </p:spPr>
        <p:txBody>
          <a:bodyPr wrap="square">
            <a:spAutoFit/>
          </a:bodyPr>
          <a:lstStyle/>
          <a:p>
            <a:pPr algn="l"/>
            <a:r>
              <a:rPr sz="900" b="1" i="0">
                <a:solidFill>
                  <a:srgbClr val="E0A526"/>
                </a:solidFill>
                <a:latin typeface="Outfit"/>
              </a:rPr>
              <a:t>COURSE &amp; FACULTY GUIDANCE</a:t>
            </a:r>
          </a:p>
        </p:txBody>
      </p:sp>
      <p:sp>
        <p:nvSpPr>
          <p:cNvPr id="27" name="TextBox 26"/>
          <p:cNvSpPr txBox="1"/>
          <p:nvPr/>
        </p:nvSpPr>
        <p:spPr>
          <a:xfrm>
            <a:off x="6488640" y="4932000"/>
            <a:ext cx="5040000" cy="936000"/>
          </a:xfrm>
          <a:prstGeom prst="rect">
            <a:avLst/>
          </a:prstGeom>
          <a:noFill/>
        </p:spPr>
        <p:txBody>
          <a:bodyPr wrap="square">
            <a:spAutoFit/>
          </a:bodyPr>
          <a:lstStyle/>
          <a:p>
            <a:pPr algn="l"/>
            <a:r>
              <a:rPr sz="1100" b="0" i="0">
                <a:solidFill>
                  <a:srgbClr val="C9D6EA"/>
                </a:solidFill>
                <a:latin typeface="Outfit"/>
              </a:rPr>
              <a:t>Dr. Juhi Baroi
Probability and Statistics (BAMAT207)
School of Computer Science &amp; Engineering</a:t>
            </a:r>
          </a:p>
        </p:txBody>
      </p:sp>
      <p:sp>
        <p:nvSpPr>
          <p:cNvPr id="28" name="Rectangle 27"/>
          <p:cNvSpPr/>
          <p:nvPr/>
        </p:nvSpPr>
        <p:spPr>
          <a:xfrm>
            <a:off x="0" y="6570000"/>
            <a:ext cx="12192000" cy="288000"/>
          </a:xfrm>
          <a:prstGeom prst="rect">
            <a:avLst/>
          </a:prstGeom>
          <a:solidFill>
            <a:srgbClr val="0F2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48640" y="6598800"/>
            <a:ext cx="5760000" cy="216000"/>
          </a:xfrm>
          <a:prstGeom prst="rect">
            <a:avLst/>
          </a:prstGeom>
          <a:noFill/>
        </p:spPr>
        <p:txBody>
          <a:bodyPr wrap="square">
            <a:spAutoFit/>
          </a:bodyPr>
          <a:lstStyle/>
          <a:p>
            <a:pPr algn="l"/>
            <a:r>
              <a:rPr sz="750" b="0" i="0">
                <a:solidFill>
                  <a:srgbClr val="C9D6EA"/>
                </a:solidFill>
                <a:latin typeface="Outfit"/>
              </a:rPr>
              <a:t>VARSA  ·  Final Project Review &amp; Defense  ·  Probability &amp; Statistics (BAMAT207)</a:t>
            </a:r>
          </a:p>
        </p:txBody>
      </p:sp>
      <p:sp>
        <p:nvSpPr>
          <p:cNvPr id="30" name="TextBox 29"/>
          <p:cNvSpPr txBox="1"/>
          <p:nvPr/>
        </p:nvSpPr>
        <p:spPr>
          <a:xfrm>
            <a:off x="10932000" y="6598800"/>
            <a:ext cx="1080000" cy="216000"/>
          </a:xfrm>
          <a:prstGeom prst="rect">
            <a:avLst/>
          </a:prstGeom>
          <a:noFill/>
        </p:spPr>
        <p:txBody>
          <a:bodyPr wrap="square">
            <a:spAutoFit/>
          </a:bodyPr>
          <a:lstStyle/>
          <a:p>
            <a:pPr algn="r"/>
            <a:r>
              <a:rPr sz="750" b="0" i="0">
                <a:solidFill>
                  <a:srgbClr val="C9D6EA"/>
                </a:solidFill>
                <a:latin typeface="Outfit"/>
              </a:rPr>
              <a:t>1 / 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B1428"/>
        </a:solidFill>
        <a:effectLst/>
      </p:bgPr>
    </p:bg>
    <p:spTree>
      <p:nvGrpSpPr>
        <p:cNvPr id="1" name=""/>
        <p:cNvGrpSpPr/>
        <p:nvPr/>
      </p:nvGrpSpPr>
      <p:grpSpPr/>
      <p:sp>
        <p:nvSpPr>
          <p:cNvPr id="2" name="TextBox 1"/>
          <p:cNvSpPr txBox="1"/>
          <p:nvPr/>
        </p:nvSpPr>
        <p:spPr>
          <a:xfrm>
            <a:off x="548640" y="244800"/>
            <a:ext cx="11094720" cy="827999"/>
          </a:xfrm>
          <a:prstGeom prst="rect">
            <a:avLst/>
          </a:prstGeom>
          <a:noFill/>
        </p:spPr>
        <p:txBody>
          <a:bodyPr wrap="square" tIns="0" bIns="0" lIns="0" rIns="0">
            <a:spAutoFit/>
          </a:bodyPr>
          <a:lstStyle/>
          <a:p>
            <a:pPr>
              <a:spcAft>
                <a:spcPts val="700"/>
              </a:spcAft>
            </a:pPr>
            <a:r>
              <a:rPr sz="800" b="1">
                <a:solidFill>
                  <a:srgbClr val="E0A526"/>
                </a:solidFill>
                <a:latin typeface="Outfit"/>
              </a:rPr>
              <a:t>EXECUTIVE SUMMARY</a:t>
            </a:r>
          </a:p>
          <a:p>
            <a:pPr>
              <a:spcBef>
                <a:spcPts val="400"/>
              </a:spcBef>
            </a:pPr>
            <a:r>
              <a:rPr sz="1800" b="1">
                <a:solidFill>
                  <a:srgbClr val="FFFFFF"/>
                </a:solidFill>
                <a:latin typeface="Outfit"/>
              </a:rPr>
              <a:t>The Big Questions &amp; What We Discovered</a:t>
            </a:r>
          </a:p>
          <a:p>
            <a:pPr>
              <a:spcBef>
                <a:spcPts val="300"/>
              </a:spcBef>
            </a:pPr>
            <a:r>
              <a:rPr sz="900" i="1">
                <a:solidFill>
                  <a:srgbClr val="C9D6EA"/>
                </a:solidFill>
                <a:latin typeface="Outfit"/>
              </a:rPr>
              <a:t>In simple words: what we set out to do, what we proved, and what we built.</a:t>
            </a:r>
          </a:p>
        </p:txBody>
      </p:sp>
      <p:sp>
        <p:nvSpPr>
          <p:cNvPr id="3" name="Rectangle 2"/>
          <p:cNvSpPr/>
          <p:nvPr/>
        </p:nvSpPr>
        <p:spPr>
          <a:xfrm>
            <a:off x="548640" y="1080000"/>
            <a:ext cx="11094720" cy="18000"/>
          </a:xfrm>
          <a:prstGeom prst="rect">
            <a:avLst/>
          </a:prstGeom>
          <a:solidFill>
            <a:srgbClr val="1E35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48640" y="1296000"/>
            <a:ext cx="5439360" cy="1692000"/>
          </a:xfrm>
          <a:prstGeom prst="rect">
            <a:avLst/>
          </a:prstGeom>
          <a:solidFill>
            <a:srgbClr val="0F2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296000"/>
            <a:ext cx="72000" cy="169200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64640" y="1440000"/>
            <a:ext cx="5079360" cy="288000"/>
          </a:xfrm>
          <a:prstGeom prst="rect">
            <a:avLst/>
          </a:prstGeom>
          <a:noFill/>
        </p:spPr>
        <p:txBody>
          <a:bodyPr wrap="square">
            <a:spAutoFit/>
          </a:bodyPr>
          <a:lstStyle/>
          <a:p>
            <a:pPr algn="l"/>
            <a:r>
              <a:rPr sz="1300" b="1" i="0">
                <a:solidFill>
                  <a:srgbClr val="38BDF8"/>
                </a:solidFill>
                <a:latin typeface="Outfit"/>
              </a:rPr>
              <a:t>1. Is India's Monsoon Decreasing?</a:t>
            </a:r>
          </a:p>
        </p:txBody>
      </p:sp>
      <p:sp>
        <p:nvSpPr>
          <p:cNvPr id="7" name="TextBox 6"/>
          <p:cNvSpPr txBox="1"/>
          <p:nvPr/>
        </p:nvSpPr>
        <p:spPr>
          <a:xfrm>
            <a:off x="764640" y="1764000"/>
            <a:ext cx="5007360" cy="1080000"/>
          </a:xfrm>
          <a:prstGeom prst="rect">
            <a:avLst/>
          </a:prstGeom>
          <a:noFill/>
        </p:spPr>
        <p:txBody>
          <a:bodyPr wrap="square">
            <a:spAutoFit/>
          </a:bodyPr>
          <a:lstStyle/>
          <a:p>
            <a:pPr algn="l"/>
            <a:r>
              <a:rPr sz="1019" b="0" i="0">
                <a:solidFill>
                  <a:srgbClr val="C9D6EA"/>
                </a:solidFill>
                <a:latin typeface="Outfit"/>
              </a:rPr>
              <a:t>Common belief says India is rapidly drying up. But across 125 continuous years of official data, the national trend is virtually zero (-18 mm/century, p=0.50). Rainfall fluctuates in cycles, but the total volume remains steady.</a:t>
            </a:r>
          </a:p>
        </p:txBody>
      </p:sp>
      <p:sp>
        <p:nvSpPr>
          <p:cNvPr id="8" name="Rectangle 7"/>
          <p:cNvSpPr/>
          <p:nvPr/>
        </p:nvSpPr>
        <p:spPr>
          <a:xfrm>
            <a:off x="6204000" y="1296000"/>
            <a:ext cx="5439360" cy="1692000"/>
          </a:xfrm>
          <a:prstGeom prst="rect">
            <a:avLst/>
          </a:prstGeom>
          <a:solidFill>
            <a:srgbClr val="0F2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204000" y="1296000"/>
            <a:ext cx="72000" cy="1692000"/>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20000" y="1440000"/>
            <a:ext cx="5079360" cy="288000"/>
          </a:xfrm>
          <a:prstGeom prst="rect">
            <a:avLst/>
          </a:prstGeom>
          <a:noFill/>
        </p:spPr>
        <p:txBody>
          <a:bodyPr wrap="square">
            <a:spAutoFit/>
          </a:bodyPr>
          <a:lstStyle/>
          <a:p>
            <a:pPr algn="l"/>
            <a:r>
              <a:rPr sz="1300" b="1" i="0">
                <a:solidFill>
                  <a:srgbClr val="22C55E"/>
                </a:solidFill>
                <a:latin typeface="Outfit"/>
              </a:rPr>
              <a:t>2. Why 'National Averages' Are Misleading</a:t>
            </a:r>
          </a:p>
        </p:txBody>
      </p:sp>
      <p:sp>
        <p:nvSpPr>
          <p:cNvPr id="11" name="TextBox 10"/>
          <p:cNvSpPr txBox="1"/>
          <p:nvPr/>
        </p:nvSpPr>
        <p:spPr>
          <a:xfrm>
            <a:off x="6420000" y="1764000"/>
            <a:ext cx="5007360" cy="1080000"/>
          </a:xfrm>
          <a:prstGeom prst="rect">
            <a:avLst/>
          </a:prstGeom>
          <a:noFill/>
        </p:spPr>
        <p:txBody>
          <a:bodyPr wrap="square">
            <a:spAutoFit/>
          </a:bodyPr>
          <a:lstStyle/>
          <a:p>
            <a:pPr algn="l"/>
            <a:r>
              <a:rPr sz="1019" b="0" i="0">
                <a:solidFill>
                  <a:srgbClr val="C9D6EA"/>
                </a:solidFill>
                <a:latin typeface="Outfit"/>
              </a:rPr>
              <a:t>India is not one climate. 86% of rainfall differences come down to geography alone. Ladakh gets 148 mm while Konkan gets 3,500 mm. You cannot manage India's water with one nationwide number.</a:t>
            </a:r>
          </a:p>
        </p:txBody>
      </p:sp>
      <p:sp>
        <p:nvSpPr>
          <p:cNvPr id="12" name="Rectangle 11"/>
          <p:cNvSpPr/>
          <p:nvPr/>
        </p:nvSpPr>
        <p:spPr>
          <a:xfrm>
            <a:off x="548640" y="3168000"/>
            <a:ext cx="5439360" cy="1692000"/>
          </a:xfrm>
          <a:prstGeom prst="rect">
            <a:avLst/>
          </a:prstGeom>
          <a:solidFill>
            <a:srgbClr val="0F2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168000"/>
            <a:ext cx="72000" cy="1692000"/>
          </a:xfrm>
          <a:prstGeom prst="rect">
            <a:avLst/>
          </a:prstGeom>
          <a:solidFill>
            <a:srgbClr val="E0A5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4640" y="3312000"/>
            <a:ext cx="5079360" cy="288000"/>
          </a:xfrm>
          <a:prstGeom prst="rect">
            <a:avLst/>
          </a:prstGeom>
          <a:noFill/>
        </p:spPr>
        <p:txBody>
          <a:bodyPr wrap="square">
            <a:spAutoFit/>
          </a:bodyPr>
          <a:lstStyle/>
          <a:p>
            <a:pPr algn="l"/>
            <a:r>
              <a:rPr sz="1300" b="1" i="0">
                <a:solidFill>
                  <a:srgbClr val="E0A526"/>
                </a:solidFill>
                <a:latin typeface="Outfit"/>
              </a:rPr>
              <a:t>3. Recovering the 'Missing Decade'</a:t>
            </a:r>
          </a:p>
        </p:txBody>
      </p:sp>
      <p:sp>
        <p:nvSpPr>
          <p:cNvPr id="15" name="TextBox 14"/>
          <p:cNvSpPr txBox="1"/>
          <p:nvPr/>
        </p:nvSpPr>
        <p:spPr>
          <a:xfrm>
            <a:off x="764640" y="3636000"/>
            <a:ext cx="5007360" cy="1080000"/>
          </a:xfrm>
          <a:prstGeom prst="rect">
            <a:avLst/>
          </a:prstGeom>
          <a:noFill/>
        </p:spPr>
        <p:txBody>
          <a:bodyPr wrap="square">
            <a:spAutoFit/>
          </a:bodyPr>
          <a:lstStyle/>
          <a:p>
            <a:pPr algn="l"/>
            <a:r>
              <a:rPr sz="1019" b="0" i="0">
                <a:solidFill>
                  <a:srgbClr val="C9D6EA"/>
                </a:solidFill>
                <a:latin typeface="Outfit"/>
              </a:rPr>
              <a:t>Most public datasets abruptly end in 2015. We downloaded and parsed official IMD annual climate summaries (2015–2026), recovering 10 modern years and validating every single cell against printed departures.</a:t>
            </a:r>
          </a:p>
        </p:txBody>
      </p:sp>
      <p:sp>
        <p:nvSpPr>
          <p:cNvPr id="16" name="Rectangle 15"/>
          <p:cNvSpPr/>
          <p:nvPr/>
        </p:nvSpPr>
        <p:spPr>
          <a:xfrm>
            <a:off x="6204000" y="3168000"/>
            <a:ext cx="5439360" cy="1692000"/>
          </a:xfrm>
          <a:prstGeom prst="rect">
            <a:avLst/>
          </a:prstGeom>
          <a:solidFill>
            <a:srgbClr val="0F2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204000" y="3168000"/>
            <a:ext cx="72000" cy="1692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20000" y="3312000"/>
            <a:ext cx="5079360" cy="288000"/>
          </a:xfrm>
          <a:prstGeom prst="rect">
            <a:avLst/>
          </a:prstGeom>
          <a:noFill/>
        </p:spPr>
        <p:txBody>
          <a:bodyPr wrap="square">
            <a:spAutoFit/>
          </a:bodyPr>
          <a:lstStyle/>
          <a:p>
            <a:pPr algn="l"/>
            <a:r>
              <a:rPr sz="1300" b="1" i="0">
                <a:solidFill>
                  <a:srgbClr val="FFFFFF"/>
                </a:solidFill>
                <a:latin typeface="Outfit"/>
              </a:rPr>
              <a:t>4. Interactive Tools for Everyone</a:t>
            </a:r>
          </a:p>
        </p:txBody>
      </p:sp>
      <p:sp>
        <p:nvSpPr>
          <p:cNvPr id="19" name="TextBox 18"/>
          <p:cNvSpPr txBox="1"/>
          <p:nvPr/>
        </p:nvSpPr>
        <p:spPr>
          <a:xfrm>
            <a:off x="6420000" y="3636000"/>
            <a:ext cx="5007360" cy="1080000"/>
          </a:xfrm>
          <a:prstGeom prst="rect">
            <a:avLst/>
          </a:prstGeom>
          <a:noFill/>
        </p:spPr>
        <p:txBody>
          <a:bodyPr wrap="square">
            <a:spAutoFit/>
          </a:bodyPr>
          <a:lstStyle/>
          <a:p>
            <a:pPr algn="l"/>
            <a:r>
              <a:rPr sz="1019" b="0" i="0">
                <a:solidFill>
                  <a:srgbClr val="C9D6EA"/>
                </a:solidFill>
                <a:latin typeface="Outfit"/>
              </a:rPr>
              <a:t>Rather than hiding results in a static document, we built a point-and-click Streamlit dashboard and a zero-lag 3D Prism Atlas on Vercel so any teacher, researcher, or student can visually inspect 126 years of rainfall.</a:t>
            </a:r>
          </a:p>
        </p:txBody>
      </p:sp>
      <p:sp>
        <p:nvSpPr>
          <p:cNvPr id="20" name="TextBox 19"/>
          <p:cNvSpPr txBox="1"/>
          <p:nvPr/>
        </p:nvSpPr>
        <p:spPr>
          <a:xfrm>
            <a:off x="548640" y="5328000"/>
            <a:ext cx="11094720" cy="648000"/>
          </a:xfrm>
          <a:prstGeom prst="rect">
            <a:avLst/>
          </a:prstGeom>
          <a:noFill/>
        </p:spPr>
        <p:txBody>
          <a:bodyPr wrap="square">
            <a:spAutoFit/>
          </a:bodyPr>
          <a:lstStyle/>
          <a:p>
            <a:pPr algn="l"/>
            <a:r>
              <a:rPr sz="1100" b="1" i="0">
                <a:solidFill>
                  <a:srgbClr val="E0A526"/>
                </a:solidFill>
                <a:latin typeface="Outfit"/>
              </a:rPr>
              <a:t>★ Takeaway: VARSA turns complex probability principles into clear, undeniable facts backed by 126 years of evidence.</a:t>
            </a:r>
          </a:p>
        </p:txBody>
      </p:sp>
      <p:sp>
        <p:nvSpPr>
          <p:cNvPr id="21" name="Rectangle 20"/>
          <p:cNvSpPr/>
          <p:nvPr/>
        </p:nvSpPr>
        <p:spPr>
          <a:xfrm>
            <a:off x="0" y="6570000"/>
            <a:ext cx="12192000" cy="288000"/>
          </a:xfrm>
          <a:prstGeom prst="rect">
            <a:avLst/>
          </a:prstGeom>
          <a:solidFill>
            <a:srgbClr val="0F2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48640" y="6598800"/>
            <a:ext cx="5760000" cy="216000"/>
          </a:xfrm>
          <a:prstGeom prst="rect">
            <a:avLst/>
          </a:prstGeom>
          <a:noFill/>
        </p:spPr>
        <p:txBody>
          <a:bodyPr wrap="square">
            <a:spAutoFit/>
          </a:bodyPr>
          <a:lstStyle/>
          <a:p>
            <a:pPr algn="l"/>
            <a:r>
              <a:rPr sz="750" b="0" i="0">
                <a:solidFill>
                  <a:srgbClr val="C9D6EA"/>
                </a:solidFill>
                <a:latin typeface="Outfit"/>
              </a:rPr>
              <a:t>VARSA  ·  Final Project Review &amp; Defense  ·  Probability &amp; Statistics (BAMAT207)</a:t>
            </a:r>
          </a:p>
        </p:txBody>
      </p:sp>
      <p:sp>
        <p:nvSpPr>
          <p:cNvPr id="23" name="TextBox 22"/>
          <p:cNvSpPr txBox="1"/>
          <p:nvPr/>
        </p:nvSpPr>
        <p:spPr>
          <a:xfrm>
            <a:off x="10932000" y="6598800"/>
            <a:ext cx="1080000" cy="216000"/>
          </a:xfrm>
          <a:prstGeom prst="rect">
            <a:avLst/>
          </a:prstGeom>
          <a:noFill/>
        </p:spPr>
        <p:txBody>
          <a:bodyPr wrap="square">
            <a:spAutoFit/>
          </a:bodyPr>
          <a:lstStyle/>
          <a:p>
            <a:pPr algn="r"/>
            <a:r>
              <a:rPr sz="750" b="0" i="0">
                <a:solidFill>
                  <a:srgbClr val="C9D6EA"/>
                </a:solidFill>
                <a:latin typeface="Outfit"/>
              </a:rPr>
              <a:t>2 / 20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B1428"/>
        </a:solidFill>
        <a:effectLst/>
      </p:bgPr>
    </p:bg>
    <p:spTree>
      <p:nvGrpSpPr>
        <p:cNvPr id="1" name=""/>
        <p:cNvGrpSpPr/>
        <p:nvPr/>
      </p:nvGrpSpPr>
      <p:grpSpPr/>
      <p:sp>
        <p:nvSpPr>
          <p:cNvPr id="2" name="TextBox 1"/>
          <p:cNvSpPr txBox="1"/>
          <p:nvPr/>
        </p:nvSpPr>
        <p:spPr>
          <a:xfrm>
            <a:off x="548640" y="244800"/>
            <a:ext cx="11094720" cy="827999"/>
          </a:xfrm>
          <a:prstGeom prst="rect">
            <a:avLst/>
          </a:prstGeom>
          <a:noFill/>
        </p:spPr>
        <p:txBody>
          <a:bodyPr wrap="square" tIns="0" bIns="0" lIns="0" rIns="0">
            <a:spAutoFit/>
          </a:bodyPr>
          <a:lstStyle/>
          <a:p>
            <a:pPr>
              <a:spcAft>
                <a:spcPts val="700"/>
              </a:spcAft>
            </a:pPr>
            <a:r>
              <a:rPr sz="800" b="1">
                <a:solidFill>
                  <a:srgbClr val="E0A526"/>
                </a:solidFill>
                <a:latin typeface="Outfit"/>
              </a:rPr>
              <a:t>01  ·  PROJECT TRAJECTORY</a:t>
            </a:r>
          </a:p>
          <a:p>
            <a:pPr>
              <a:spcBef>
                <a:spcPts val="400"/>
              </a:spcBef>
            </a:pPr>
            <a:r>
              <a:rPr sz="1800" b="1">
                <a:solidFill>
                  <a:srgbClr val="FFFFFF"/>
                </a:solidFill>
                <a:latin typeface="Outfit"/>
              </a:rPr>
              <a:t>Our Journey Across the Three Reviews</a:t>
            </a:r>
          </a:p>
          <a:p>
            <a:pPr>
              <a:spcBef>
                <a:spcPts val="300"/>
              </a:spcBef>
            </a:pPr>
            <a:r>
              <a:rPr sz="900" i="1">
                <a:solidFill>
                  <a:srgbClr val="C9D6EA"/>
                </a:solidFill>
                <a:latin typeface="Outfit"/>
              </a:rPr>
              <a:t>How a simple classroom project evolved into an end-to-end meteorological system.</a:t>
            </a:r>
          </a:p>
        </p:txBody>
      </p:sp>
      <p:sp>
        <p:nvSpPr>
          <p:cNvPr id="3" name="Rectangle 2"/>
          <p:cNvSpPr/>
          <p:nvPr/>
        </p:nvSpPr>
        <p:spPr>
          <a:xfrm>
            <a:off x="548640" y="1080000"/>
            <a:ext cx="11094720" cy="18000"/>
          </a:xfrm>
          <a:prstGeom prst="rect">
            <a:avLst/>
          </a:prstGeom>
          <a:solidFill>
            <a:srgbClr val="1E35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48640" y="1296000"/>
            <a:ext cx="2665680" cy="4140000"/>
          </a:xfrm>
          <a:prstGeom prst="rect">
            <a:avLst/>
          </a:prstGeom>
          <a:solidFill>
            <a:srgbClr val="0F2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296000"/>
            <a:ext cx="2665680" cy="72000"/>
          </a:xfrm>
          <a:prstGeom prst="rect">
            <a:avLst/>
          </a:prstGeom>
          <a:solidFill>
            <a:srgbClr val="C9D6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92640" y="1440000"/>
            <a:ext cx="2377680" cy="216000"/>
          </a:xfrm>
          <a:prstGeom prst="rect">
            <a:avLst/>
          </a:prstGeom>
          <a:noFill/>
        </p:spPr>
        <p:txBody>
          <a:bodyPr wrap="square">
            <a:spAutoFit/>
          </a:bodyPr>
          <a:lstStyle/>
          <a:p>
            <a:pPr algn="l"/>
            <a:r>
              <a:rPr sz="1300" b="1" i="0">
                <a:solidFill>
                  <a:srgbClr val="C9D6EA"/>
                </a:solidFill>
                <a:latin typeface="Outfit"/>
              </a:rPr>
              <a:t>REVIEW 1</a:t>
            </a:r>
          </a:p>
        </p:txBody>
      </p:sp>
      <p:sp>
        <p:nvSpPr>
          <p:cNvPr id="7" name="TextBox 6"/>
          <p:cNvSpPr txBox="1"/>
          <p:nvPr/>
        </p:nvSpPr>
        <p:spPr>
          <a:xfrm>
            <a:off x="692640" y="1692000"/>
            <a:ext cx="2377680" cy="360000"/>
          </a:xfrm>
          <a:prstGeom prst="rect">
            <a:avLst/>
          </a:prstGeom>
          <a:noFill/>
        </p:spPr>
        <p:txBody>
          <a:bodyPr wrap="square">
            <a:spAutoFit/>
          </a:bodyPr>
          <a:lstStyle/>
          <a:p>
            <a:pPr algn="l"/>
            <a:r>
              <a:rPr sz="1000" b="1" i="0">
                <a:solidFill>
                  <a:srgbClr val="FFFFFF"/>
                </a:solidFill>
                <a:latin typeface="Outfit"/>
              </a:rPr>
              <a:t>Curiosity &amp; Questions</a:t>
            </a:r>
          </a:p>
        </p:txBody>
      </p:sp>
      <p:sp>
        <p:nvSpPr>
          <p:cNvPr id="8" name="Rectangle 7"/>
          <p:cNvSpPr/>
          <p:nvPr/>
        </p:nvSpPr>
        <p:spPr>
          <a:xfrm>
            <a:off x="692640" y="2088000"/>
            <a:ext cx="2377680" cy="18000"/>
          </a:xfrm>
          <a:prstGeom prst="rect">
            <a:avLst/>
          </a:prstGeom>
          <a:solidFill>
            <a:srgbClr val="1E35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92640" y="2196000"/>
            <a:ext cx="2377680" cy="684000"/>
          </a:xfrm>
          <a:prstGeom prst="rect">
            <a:avLst/>
          </a:prstGeom>
          <a:noFill/>
        </p:spPr>
        <p:txBody>
          <a:bodyPr wrap="square">
            <a:spAutoFit/>
          </a:bodyPr>
          <a:lstStyle/>
          <a:p>
            <a:pPr algn="l"/>
            <a:r>
              <a:rPr sz="919" b="0" i="0">
                <a:solidFill>
                  <a:srgbClr val="C9D6EA"/>
                </a:solidFill>
                <a:latin typeface="Outfit"/>
              </a:rPr>
              <a:t>▸ Asked 6 foundational questions</a:t>
            </a:r>
          </a:p>
        </p:txBody>
      </p:sp>
      <p:sp>
        <p:nvSpPr>
          <p:cNvPr id="10" name="TextBox 9"/>
          <p:cNvSpPr txBox="1"/>
          <p:nvPr/>
        </p:nvSpPr>
        <p:spPr>
          <a:xfrm>
            <a:off x="692640" y="2952000"/>
            <a:ext cx="2377680" cy="684000"/>
          </a:xfrm>
          <a:prstGeom prst="rect">
            <a:avLst/>
          </a:prstGeom>
          <a:noFill/>
        </p:spPr>
        <p:txBody>
          <a:bodyPr wrap="square">
            <a:spAutoFit/>
          </a:bodyPr>
          <a:lstStyle/>
          <a:p>
            <a:pPr algn="l"/>
            <a:r>
              <a:rPr sz="919" b="0" i="0">
                <a:solidFill>
                  <a:srgbClr val="C9D6EA"/>
                </a:solidFill>
                <a:latin typeface="Outfit"/>
              </a:rPr>
              <a:t>▸ Audited raw public government data</a:t>
            </a:r>
          </a:p>
        </p:txBody>
      </p:sp>
      <p:sp>
        <p:nvSpPr>
          <p:cNvPr id="11" name="TextBox 10"/>
          <p:cNvSpPr txBox="1"/>
          <p:nvPr/>
        </p:nvSpPr>
        <p:spPr>
          <a:xfrm>
            <a:off x="692640" y="3708000"/>
            <a:ext cx="2377680" cy="684000"/>
          </a:xfrm>
          <a:prstGeom prst="rect">
            <a:avLst/>
          </a:prstGeom>
          <a:noFill/>
        </p:spPr>
        <p:txBody>
          <a:bodyPr wrap="square">
            <a:spAutoFit/>
          </a:bodyPr>
          <a:lstStyle/>
          <a:p>
            <a:pPr algn="l"/>
            <a:r>
              <a:rPr sz="919" b="0" i="0">
                <a:solidFill>
                  <a:srgbClr val="C9D6EA"/>
                </a:solidFill>
                <a:latin typeface="Outfit"/>
              </a:rPr>
              <a:t>▸ Noticed huge differences between states</a:t>
            </a:r>
          </a:p>
        </p:txBody>
      </p:sp>
      <p:sp>
        <p:nvSpPr>
          <p:cNvPr id="12" name="TextBox 11"/>
          <p:cNvSpPr txBox="1"/>
          <p:nvPr/>
        </p:nvSpPr>
        <p:spPr>
          <a:xfrm>
            <a:off x="692640" y="4464000"/>
            <a:ext cx="2377680" cy="684000"/>
          </a:xfrm>
          <a:prstGeom prst="rect">
            <a:avLst/>
          </a:prstGeom>
          <a:noFill/>
        </p:spPr>
        <p:txBody>
          <a:bodyPr wrap="square">
            <a:spAutoFit/>
          </a:bodyPr>
          <a:lstStyle/>
          <a:p>
            <a:pPr algn="l"/>
            <a:r>
              <a:rPr sz="919" b="0" i="0">
                <a:solidFill>
                  <a:srgbClr val="C9D6EA"/>
                </a:solidFill>
                <a:latin typeface="Outfit"/>
              </a:rPr>
              <a:t>▸ Realized naive testing leads to false alarms</a:t>
            </a:r>
          </a:p>
        </p:txBody>
      </p:sp>
      <p:sp>
        <p:nvSpPr>
          <p:cNvPr id="13" name="Rectangle 12"/>
          <p:cNvSpPr/>
          <p:nvPr/>
        </p:nvSpPr>
        <p:spPr>
          <a:xfrm>
            <a:off x="3358320" y="1296000"/>
            <a:ext cx="2665680" cy="4140000"/>
          </a:xfrm>
          <a:prstGeom prst="rect">
            <a:avLst/>
          </a:prstGeom>
          <a:solidFill>
            <a:srgbClr val="0F2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358320" y="1296000"/>
            <a:ext cx="2665680" cy="72000"/>
          </a:xfrm>
          <a:prstGeom prst="rect">
            <a:avLst/>
          </a:prstGeom>
          <a:solidFill>
            <a:srgbClr val="E0A5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502320" y="1440000"/>
            <a:ext cx="2377680" cy="216000"/>
          </a:xfrm>
          <a:prstGeom prst="rect">
            <a:avLst/>
          </a:prstGeom>
          <a:noFill/>
        </p:spPr>
        <p:txBody>
          <a:bodyPr wrap="square">
            <a:spAutoFit/>
          </a:bodyPr>
          <a:lstStyle/>
          <a:p>
            <a:pPr algn="l"/>
            <a:r>
              <a:rPr sz="1300" b="1" i="0">
                <a:solidFill>
                  <a:srgbClr val="E0A526"/>
                </a:solidFill>
                <a:latin typeface="Outfit"/>
              </a:rPr>
              <a:t>REVIEW 2</a:t>
            </a:r>
          </a:p>
        </p:txBody>
      </p:sp>
      <p:sp>
        <p:nvSpPr>
          <p:cNvPr id="16" name="TextBox 15"/>
          <p:cNvSpPr txBox="1"/>
          <p:nvPr/>
        </p:nvSpPr>
        <p:spPr>
          <a:xfrm>
            <a:off x="3502320" y="1692000"/>
            <a:ext cx="2377680" cy="360000"/>
          </a:xfrm>
          <a:prstGeom prst="rect">
            <a:avLst/>
          </a:prstGeom>
          <a:noFill/>
        </p:spPr>
        <p:txBody>
          <a:bodyPr wrap="square">
            <a:spAutoFit/>
          </a:bodyPr>
          <a:lstStyle/>
          <a:p>
            <a:pPr algn="l"/>
            <a:r>
              <a:rPr sz="1000" b="1" i="0">
                <a:solidFill>
                  <a:srgbClr val="FFFFFF"/>
                </a:solidFill>
                <a:latin typeface="Outfit"/>
              </a:rPr>
              <a:t>Hitting Roadblocks &amp; Adapting</a:t>
            </a:r>
          </a:p>
        </p:txBody>
      </p:sp>
      <p:sp>
        <p:nvSpPr>
          <p:cNvPr id="17" name="Rectangle 16"/>
          <p:cNvSpPr/>
          <p:nvPr/>
        </p:nvSpPr>
        <p:spPr>
          <a:xfrm>
            <a:off x="3502320" y="2088000"/>
            <a:ext cx="2377680" cy="18000"/>
          </a:xfrm>
          <a:prstGeom prst="rect">
            <a:avLst/>
          </a:prstGeom>
          <a:solidFill>
            <a:srgbClr val="1E35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502320" y="2196000"/>
            <a:ext cx="2377680" cy="684000"/>
          </a:xfrm>
          <a:prstGeom prst="rect">
            <a:avLst/>
          </a:prstGeom>
          <a:noFill/>
        </p:spPr>
        <p:txBody>
          <a:bodyPr wrap="square">
            <a:spAutoFit/>
          </a:bodyPr>
          <a:lstStyle/>
          <a:p>
            <a:pPr algn="l"/>
            <a:r>
              <a:rPr sz="919" b="0" i="0">
                <a:solidFill>
                  <a:srgbClr val="C9D6EA"/>
                </a:solidFill>
                <a:latin typeface="Outfit"/>
              </a:rPr>
              <a:t>▸ Found public data ended in 2015</a:t>
            </a:r>
          </a:p>
        </p:txBody>
      </p:sp>
      <p:sp>
        <p:nvSpPr>
          <p:cNvPr id="19" name="TextBox 18"/>
          <p:cNvSpPr txBox="1"/>
          <p:nvPr/>
        </p:nvSpPr>
        <p:spPr>
          <a:xfrm>
            <a:off x="3502320" y="2952000"/>
            <a:ext cx="2377680" cy="684000"/>
          </a:xfrm>
          <a:prstGeom prst="rect">
            <a:avLst/>
          </a:prstGeom>
          <a:noFill/>
        </p:spPr>
        <p:txBody>
          <a:bodyPr wrap="square">
            <a:spAutoFit/>
          </a:bodyPr>
          <a:lstStyle/>
          <a:p>
            <a:pPr algn="l"/>
            <a:r>
              <a:rPr sz="919" b="0" i="0">
                <a:solidFill>
                  <a:srgbClr val="C9D6EA"/>
                </a:solidFill>
                <a:latin typeface="Outfit"/>
              </a:rPr>
              <a:t>▸ Proved ordinary textbook tests fail on India</a:t>
            </a:r>
          </a:p>
        </p:txBody>
      </p:sp>
      <p:sp>
        <p:nvSpPr>
          <p:cNvPr id="20" name="TextBox 19"/>
          <p:cNvSpPr txBox="1"/>
          <p:nvPr/>
        </p:nvSpPr>
        <p:spPr>
          <a:xfrm>
            <a:off x="3502320" y="3708000"/>
            <a:ext cx="2377680" cy="684000"/>
          </a:xfrm>
          <a:prstGeom prst="rect">
            <a:avLst/>
          </a:prstGeom>
          <a:noFill/>
        </p:spPr>
        <p:txBody>
          <a:bodyPr wrap="square">
            <a:spAutoFit/>
          </a:bodyPr>
          <a:lstStyle/>
          <a:p>
            <a:pPr algn="l"/>
            <a:r>
              <a:rPr sz="919" b="0" i="0">
                <a:solidFill>
                  <a:srgbClr val="C9D6EA"/>
                </a:solidFill>
                <a:latin typeface="Outfit"/>
              </a:rPr>
              <a:t>▸ Learned that states have unequal variances</a:t>
            </a:r>
          </a:p>
        </p:txBody>
      </p:sp>
      <p:sp>
        <p:nvSpPr>
          <p:cNvPr id="21" name="TextBox 20"/>
          <p:cNvSpPr txBox="1"/>
          <p:nvPr/>
        </p:nvSpPr>
        <p:spPr>
          <a:xfrm>
            <a:off x="3502320" y="4464000"/>
            <a:ext cx="2377680" cy="684000"/>
          </a:xfrm>
          <a:prstGeom prst="rect">
            <a:avLst/>
          </a:prstGeom>
          <a:noFill/>
        </p:spPr>
        <p:txBody>
          <a:bodyPr wrap="square">
            <a:spAutoFit/>
          </a:bodyPr>
          <a:lstStyle/>
          <a:p>
            <a:pPr algn="l"/>
            <a:r>
              <a:rPr sz="919" b="0" i="0">
                <a:solidFill>
                  <a:srgbClr val="C9D6EA"/>
                </a:solidFill>
                <a:latin typeface="Outfit"/>
              </a:rPr>
              <a:t>▸ Created our first rough dashboard prototype</a:t>
            </a:r>
          </a:p>
        </p:txBody>
      </p:sp>
      <p:sp>
        <p:nvSpPr>
          <p:cNvPr id="22" name="Rectangle 21"/>
          <p:cNvSpPr/>
          <p:nvPr/>
        </p:nvSpPr>
        <p:spPr>
          <a:xfrm>
            <a:off x="6168000" y="1296000"/>
            <a:ext cx="2665680" cy="4140000"/>
          </a:xfrm>
          <a:prstGeom prst="rect">
            <a:avLst/>
          </a:prstGeom>
          <a:solidFill>
            <a:srgbClr val="0F2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68000" y="1296000"/>
            <a:ext cx="2665680" cy="7200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312000" y="1440000"/>
            <a:ext cx="2377680" cy="216000"/>
          </a:xfrm>
          <a:prstGeom prst="rect">
            <a:avLst/>
          </a:prstGeom>
          <a:noFill/>
        </p:spPr>
        <p:txBody>
          <a:bodyPr wrap="square">
            <a:spAutoFit/>
          </a:bodyPr>
          <a:lstStyle/>
          <a:p>
            <a:pPr algn="l"/>
            <a:r>
              <a:rPr sz="1300" b="1" i="0">
                <a:solidFill>
                  <a:srgbClr val="38BDF8"/>
                </a:solidFill>
                <a:latin typeface="Outfit"/>
              </a:rPr>
              <a:t>REVIEW 3</a:t>
            </a:r>
          </a:p>
        </p:txBody>
      </p:sp>
      <p:sp>
        <p:nvSpPr>
          <p:cNvPr id="25" name="TextBox 24"/>
          <p:cNvSpPr txBox="1"/>
          <p:nvPr/>
        </p:nvSpPr>
        <p:spPr>
          <a:xfrm>
            <a:off x="6312000" y="1692000"/>
            <a:ext cx="2377680" cy="360000"/>
          </a:xfrm>
          <a:prstGeom prst="rect">
            <a:avLst/>
          </a:prstGeom>
          <a:noFill/>
        </p:spPr>
        <p:txBody>
          <a:bodyPr wrap="square">
            <a:spAutoFit/>
          </a:bodyPr>
          <a:lstStyle/>
          <a:p>
            <a:pPr algn="l"/>
            <a:r>
              <a:rPr sz="1000" b="1" i="0">
                <a:solidFill>
                  <a:srgbClr val="FFFFFF"/>
                </a:solidFill>
                <a:latin typeface="Outfit"/>
              </a:rPr>
              <a:t>Mathematical Discovery</a:t>
            </a:r>
          </a:p>
        </p:txBody>
      </p:sp>
      <p:sp>
        <p:nvSpPr>
          <p:cNvPr id="26" name="Rectangle 25"/>
          <p:cNvSpPr/>
          <p:nvPr/>
        </p:nvSpPr>
        <p:spPr>
          <a:xfrm>
            <a:off x="6312000" y="2088000"/>
            <a:ext cx="2377680" cy="18000"/>
          </a:xfrm>
          <a:prstGeom prst="rect">
            <a:avLst/>
          </a:prstGeom>
          <a:solidFill>
            <a:srgbClr val="1E35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312000" y="2196000"/>
            <a:ext cx="2377680" cy="684000"/>
          </a:xfrm>
          <a:prstGeom prst="rect">
            <a:avLst/>
          </a:prstGeom>
          <a:noFill/>
        </p:spPr>
        <p:txBody>
          <a:bodyPr wrap="square">
            <a:spAutoFit/>
          </a:bodyPr>
          <a:lstStyle/>
          <a:p>
            <a:pPr algn="l"/>
            <a:r>
              <a:rPr sz="919" b="0" i="0">
                <a:solidFill>
                  <a:srgbClr val="C9D6EA"/>
                </a:solidFill>
                <a:latin typeface="Outfit"/>
              </a:rPr>
              <a:t>▸ Ran full hypothesis tests on 115 years</a:t>
            </a:r>
          </a:p>
        </p:txBody>
      </p:sp>
      <p:sp>
        <p:nvSpPr>
          <p:cNvPr id="28" name="TextBox 27"/>
          <p:cNvSpPr txBox="1"/>
          <p:nvPr/>
        </p:nvSpPr>
        <p:spPr>
          <a:xfrm>
            <a:off x="6312000" y="2952000"/>
            <a:ext cx="2377680" cy="684000"/>
          </a:xfrm>
          <a:prstGeom prst="rect">
            <a:avLst/>
          </a:prstGeom>
          <a:noFill/>
        </p:spPr>
        <p:txBody>
          <a:bodyPr wrap="square">
            <a:spAutoFit/>
          </a:bodyPr>
          <a:lstStyle/>
          <a:p>
            <a:pPr algn="l"/>
            <a:r>
              <a:rPr sz="919" b="0" i="0">
                <a:solidFill>
                  <a:srgbClr val="C9D6EA"/>
                </a:solidFill>
                <a:latin typeface="Outfit"/>
              </a:rPr>
              <a:t>▸ Busted the secular trend myth with 7 figures</a:t>
            </a:r>
          </a:p>
        </p:txBody>
      </p:sp>
      <p:sp>
        <p:nvSpPr>
          <p:cNvPr id="29" name="TextBox 28"/>
          <p:cNvSpPr txBox="1"/>
          <p:nvPr/>
        </p:nvSpPr>
        <p:spPr>
          <a:xfrm>
            <a:off x="6312000" y="3708000"/>
            <a:ext cx="2377680" cy="684000"/>
          </a:xfrm>
          <a:prstGeom prst="rect">
            <a:avLst/>
          </a:prstGeom>
          <a:noFill/>
        </p:spPr>
        <p:txBody>
          <a:bodyPr wrap="square">
            <a:spAutoFit/>
          </a:bodyPr>
          <a:lstStyle/>
          <a:p>
            <a:pPr algn="l"/>
            <a:r>
              <a:rPr sz="919" b="0" i="0">
                <a:solidFill>
                  <a:srgbClr val="C9D6EA"/>
                </a:solidFill>
                <a:latin typeface="Outfit"/>
              </a:rPr>
              <a:t>▸ Scraped &amp; parsed the missing 2015-2025 records</a:t>
            </a:r>
          </a:p>
        </p:txBody>
      </p:sp>
      <p:sp>
        <p:nvSpPr>
          <p:cNvPr id="30" name="TextBox 29"/>
          <p:cNvSpPr txBox="1"/>
          <p:nvPr/>
        </p:nvSpPr>
        <p:spPr>
          <a:xfrm>
            <a:off x="6312000" y="4464000"/>
            <a:ext cx="2377680" cy="684000"/>
          </a:xfrm>
          <a:prstGeom prst="rect">
            <a:avLst/>
          </a:prstGeom>
          <a:noFill/>
        </p:spPr>
        <p:txBody>
          <a:bodyPr wrap="square">
            <a:spAutoFit/>
          </a:bodyPr>
          <a:lstStyle/>
          <a:p>
            <a:pPr algn="l"/>
            <a:r>
              <a:rPr sz="919" b="0" i="0">
                <a:solidFill>
                  <a:srgbClr val="C9D6EA"/>
                </a:solidFill>
                <a:latin typeface="Outfit"/>
              </a:rPr>
              <a:t>▸ Proved long-term stability holds on real data</a:t>
            </a:r>
          </a:p>
        </p:txBody>
      </p:sp>
      <p:sp>
        <p:nvSpPr>
          <p:cNvPr id="31" name="Rectangle 30"/>
          <p:cNvSpPr/>
          <p:nvPr/>
        </p:nvSpPr>
        <p:spPr>
          <a:xfrm>
            <a:off x="8977680" y="1296000"/>
            <a:ext cx="2665680" cy="4140000"/>
          </a:xfrm>
          <a:prstGeom prst="rect">
            <a:avLst/>
          </a:prstGeom>
          <a:solidFill>
            <a:srgbClr val="0F2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977680" y="1296000"/>
            <a:ext cx="2665680" cy="72000"/>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121680" y="1440000"/>
            <a:ext cx="2377680" cy="216000"/>
          </a:xfrm>
          <a:prstGeom prst="rect">
            <a:avLst/>
          </a:prstGeom>
          <a:noFill/>
        </p:spPr>
        <p:txBody>
          <a:bodyPr wrap="square">
            <a:spAutoFit/>
          </a:bodyPr>
          <a:lstStyle/>
          <a:p>
            <a:pPr algn="l"/>
            <a:r>
              <a:rPr sz="1300" b="1" i="0">
                <a:solidFill>
                  <a:srgbClr val="22C55E"/>
                </a:solidFill>
                <a:latin typeface="Outfit"/>
              </a:rPr>
              <a:t>FINAL REVIEW</a:t>
            </a:r>
          </a:p>
        </p:txBody>
      </p:sp>
      <p:sp>
        <p:nvSpPr>
          <p:cNvPr id="34" name="TextBox 33"/>
          <p:cNvSpPr txBox="1"/>
          <p:nvPr/>
        </p:nvSpPr>
        <p:spPr>
          <a:xfrm>
            <a:off x="9121680" y="1692000"/>
            <a:ext cx="2377680" cy="360000"/>
          </a:xfrm>
          <a:prstGeom prst="rect">
            <a:avLst/>
          </a:prstGeom>
          <a:noFill/>
        </p:spPr>
        <p:txBody>
          <a:bodyPr wrap="square">
            <a:spAutoFit/>
          </a:bodyPr>
          <a:lstStyle/>
          <a:p>
            <a:pPr algn="l"/>
            <a:r>
              <a:rPr sz="1000" b="1" i="0">
                <a:solidFill>
                  <a:srgbClr val="FFFFFF"/>
                </a:solidFill>
                <a:latin typeface="Outfit"/>
              </a:rPr>
              <a:t>Unification &amp; Production</a:t>
            </a:r>
          </a:p>
        </p:txBody>
      </p:sp>
      <p:sp>
        <p:nvSpPr>
          <p:cNvPr id="35" name="Rectangle 34"/>
          <p:cNvSpPr/>
          <p:nvPr/>
        </p:nvSpPr>
        <p:spPr>
          <a:xfrm>
            <a:off x="9121680" y="2088000"/>
            <a:ext cx="2377680" cy="18000"/>
          </a:xfrm>
          <a:prstGeom prst="rect">
            <a:avLst/>
          </a:prstGeom>
          <a:solidFill>
            <a:srgbClr val="1E35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121680" y="2196000"/>
            <a:ext cx="2377680" cy="684000"/>
          </a:xfrm>
          <a:prstGeom prst="rect">
            <a:avLst/>
          </a:prstGeom>
          <a:noFill/>
        </p:spPr>
        <p:txBody>
          <a:bodyPr wrap="square">
            <a:spAutoFit/>
          </a:bodyPr>
          <a:lstStyle/>
          <a:p>
            <a:pPr algn="l"/>
            <a:r>
              <a:rPr sz="919" b="0" i="0">
                <a:solidFill>
                  <a:srgbClr val="C9D6EA"/>
                </a:solidFill>
                <a:latin typeface="Outfit"/>
              </a:rPr>
              <a:t>▸ Integrated 1901-2026 into every screen</a:t>
            </a:r>
          </a:p>
        </p:txBody>
      </p:sp>
      <p:sp>
        <p:nvSpPr>
          <p:cNvPr id="37" name="TextBox 36"/>
          <p:cNvSpPr txBox="1"/>
          <p:nvPr/>
        </p:nvSpPr>
        <p:spPr>
          <a:xfrm>
            <a:off x="9121680" y="2952000"/>
            <a:ext cx="2377680" cy="684000"/>
          </a:xfrm>
          <a:prstGeom prst="rect">
            <a:avLst/>
          </a:prstGeom>
          <a:noFill/>
        </p:spPr>
        <p:txBody>
          <a:bodyPr wrap="square">
            <a:spAutoFit/>
          </a:bodyPr>
          <a:lstStyle/>
          <a:p>
            <a:pPr algn="l"/>
            <a:r>
              <a:rPr sz="919" b="0" i="0">
                <a:solidFill>
                  <a:srgbClr val="C9D6EA"/>
                </a:solidFill>
                <a:latin typeface="Outfit"/>
              </a:rPr>
              <a:t>▸ Passed all 9 automated data safety checks</a:t>
            </a:r>
          </a:p>
        </p:txBody>
      </p:sp>
      <p:sp>
        <p:nvSpPr>
          <p:cNvPr id="38" name="TextBox 37"/>
          <p:cNvSpPr txBox="1"/>
          <p:nvPr/>
        </p:nvSpPr>
        <p:spPr>
          <a:xfrm>
            <a:off x="9121680" y="3708000"/>
            <a:ext cx="2377680" cy="684000"/>
          </a:xfrm>
          <a:prstGeom prst="rect">
            <a:avLst/>
          </a:prstGeom>
          <a:noFill/>
        </p:spPr>
        <p:txBody>
          <a:bodyPr wrap="square">
            <a:spAutoFit/>
          </a:bodyPr>
          <a:lstStyle/>
          <a:p>
            <a:pPr algn="l"/>
            <a:r>
              <a:rPr sz="919" b="0" i="0">
                <a:solidFill>
                  <a:srgbClr val="C9D6EA"/>
                </a:solidFill>
                <a:latin typeface="Outfit"/>
              </a:rPr>
              <a:t>▸ Deployed live to the cloud (Streamlit &amp; Vercel)</a:t>
            </a:r>
          </a:p>
        </p:txBody>
      </p:sp>
      <p:sp>
        <p:nvSpPr>
          <p:cNvPr id="39" name="TextBox 38"/>
          <p:cNvSpPr txBox="1"/>
          <p:nvPr/>
        </p:nvSpPr>
        <p:spPr>
          <a:xfrm>
            <a:off x="9121680" y="4464000"/>
            <a:ext cx="2377680" cy="684000"/>
          </a:xfrm>
          <a:prstGeom prst="rect">
            <a:avLst/>
          </a:prstGeom>
          <a:noFill/>
        </p:spPr>
        <p:txBody>
          <a:bodyPr wrap="square">
            <a:spAutoFit/>
          </a:bodyPr>
          <a:lstStyle/>
          <a:p>
            <a:pPr algn="l"/>
            <a:r>
              <a:rPr sz="919" b="0" i="0">
                <a:solidFill>
                  <a:srgbClr val="C9D6EA"/>
                </a:solidFill>
                <a:latin typeface="Outfit"/>
              </a:rPr>
              <a:t>▸ Created a simple, robust final defense</a:t>
            </a:r>
          </a:p>
        </p:txBody>
      </p:sp>
      <p:sp>
        <p:nvSpPr>
          <p:cNvPr id="40" name="Rectangle 39"/>
          <p:cNvSpPr/>
          <p:nvPr/>
        </p:nvSpPr>
        <p:spPr>
          <a:xfrm>
            <a:off x="0" y="6570000"/>
            <a:ext cx="12192000" cy="288000"/>
          </a:xfrm>
          <a:prstGeom prst="rect">
            <a:avLst/>
          </a:prstGeom>
          <a:solidFill>
            <a:srgbClr val="0F2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48640" y="6598800"/>
            <a:ext cx="5760000" cy="216000"/>
          </a:xfrm>
          <a:prstGeom prst="rect">
            <a:avLst/>
          </a:prstGeom>
          <a:noFill/>
        </p:spPr>
        <p:txBody>
          <a:bodyPr wrap="square">
            <a:spAutoFit/>
          </a:bodyPr>
          <a:lstStyle/>
          <a:p>
            <a:pPr algn="l"/>
            <a:r>
              <a:rPr sz="750" b="0" i="0">
                <a:solidFill>
                  <a:srgbClr val="C9D6EA"/>
                </a:solidFill>
                <a:latin typeface="Outfit"/>
              </a:rPr>
              <a:t>VARSA  ·  Final Project Review &amp; Defense  ·  Probability &amp; Statistics (BAMAT207)</a:t>
            </a:r>
          </a:p>
        </p:txBody>
      </p:sp>
      <p:sp>
        <p:nvSpPr>
          <p:cNvPr id="42" name="TextBox 41"/>
          <p:cNvSpPr txBox="1"/>
          <p:nvPr/>
        </p:nvSpPr>
        <p:spPr>
          <a:xfrm>
            <a:off x="10932000" y="6598800"/>
            <a:ext cx="1080000" cy="216000"/>
          </a:xfrm>
          <a:prstGeom prst="rect">
            <a:avLst/>
          </a:prstGeom>
          <a:noFill/>
        </p:spPr>
        <p:txBody>
          <a:bodyPr wrap="square">
            <a:spAutoFit/>
          </a:bodyPr>
          <a:lstStyle/>
          <a:p>
            <a:pPr algn="r"/>
            <a:r>
              <a:rPr sz="750" b="0" i="0">
                <a:solidFill>
                  <a:srgbClr val="C9D6EA"/>
                </a:solidFill>
                <a:latin typeface="Outfit"/>
              </a:rPr>
              <a:t>3 / 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B1428"/>
        </a:solidFill>
        <a:effectLst/>
      </p:bgPr>
    </p:bg>
    <p:spTree>
      <p:nvGrpSpPr>
        <p:cNvPr id="1" name=""/>
        <p:cNvGrpSpPr/>
        <p:nvPr/>
      </p:nvGrpSpPr>
      <p:grpSpPr/>
      <p:sp>
        <p:nvSpPr>
          <p:cNvPr id="2" name="TextBox 1"/>
          <p:cNvSpPr txBox="1"/>
          <p:nvPr/>
        </p:nvSpPr>
        <p:spPr>
          <a:xfrm>
            <a:off x="548640" y="244800"/>
            <a:ext cx="11094720" cy="827999"/>
          </a:xfrm>
          <a:prstGeom prst="rect">
            <a:avLst/>
          </a:prstGeom>
          <a:noFill/>
        </p:spPr>
        <p:txBody>
          <a:bodyPr wrap="square" tIns="0" bIns="0" lIns="0" rIns="0">
            <a:spAutoFit/>
          </a:bodyPr>
          <a:lstStyle/>
          <a:p>
            <a:pPr>
              <a:spcAft>
                <a:spcPts val="700"/>
              </a:spcAft>
            </a:pPr>
            <a:r>
              <a:rPr sz="800" b="1">
                <a:solidFill>
                  <a:srgbClr val="E0A526"/>
                </a:solidFill>
                <a:latin typeface="Outfit"/>
              </a:rPr>
              <a:t>02  ·  RECENT PROGRESS</a:t>
            </a:r>
          </a:p>
          <a:p>
            <a:pPr>
              <a:spcBef>
                <a:spcPts val="400"/>
              </a:spcBef>
            </a:pPr>
            <a:r>
              <a:rPr sz="1800" b="1">
                <a:solidFill>
                  <a:srgbClr val="FFFFFF"/>
                </a:solidFill>
                <a:latin typeface="Outfit"/>
              </a:rPr>
              <a:t>What We Built and Polished for the Final Review</a:t>
            </a:r>
          </a:p>
          <a:p>
            <a:pPr>
              <a:spcBef>
                <a:spcPts val="300"/>
              </a:spcBef>
            </a:pPr>
            <a:r>
              <a:rPr sz="900" i="1">
                <a:solidFill>
                  <a:srgbClr val="C9D6EA"/>
                </a:solidFill>
                <a:latin typeface="Outfit"/>
              </a:rPr>
              <a:t>The big upgrades that brought everything together into a polished capstone.</a:t>
            </a:r>
          </a:p>
        </p:txBody>
      </p:sp>
      <p:sp>
        <p:nvSpPr>
          <p:cNvPr id="3" name="Rectangle 2"/>
          <p:cNvSpPr/>
          <p:nvPr/>
        </p:nvSpPr>
        <p:spPr>
          <a:xfrm>
            <a:off x="548640" y="1080000"/>
            <a:ext cx="11094720" cy="18000"/>
          </a:xfrm>
          <a:prstGeom prst="rect">
            <a:avLst/>
          </a:prstGeom>
          <a:solidFill>
            <a:srgbClr val="1E35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48640" y="1296000"/>
            <a:ext cx="5457360" cy="1728000"/>
          </a:xfrm>
          <a:prstGeom prst="rect">
            <a:avLst/>
          </a:prstGeom>
          <a:solidFill>
            <a:srgbClr val="0F2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296000"/>
            <a:ext cx="72000" cy="1728000"/>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28640" y="1421999"/>
            <a:ext cx="5133360" cy="288000"/>
          </a:xfrm>
          <a:prstGeom prst="rect">
            <a:avLst/>
          </a:prstGeom>
          <a:noFill/>
        </p:spPr>
        <p:txBody>
          <a:bodyPr wrap="square">
            <a:spAutoFit/>
          </a:bodyPr>
          <a:lstStyle/>
          <a:p>
            <a:pPr algn="l"/>
            <a:r>
              <a:rPr sz="1200" b="1" i="0">
                <a:solidFill>
                  <a:srgbClr val="FFFFFF"/>
                </a:solidFill>
                <a:latin typeface="Outfit"/>
              </a:rPr>
              <a:t>Modern Data in Every Single View</a:t>
            </a:r>
          </a:p>
        </p:txBody>
      </p:sp>
      <p:sp>
        <p:nvSpPr>
          <p:cNvPr id="7" name="TextBox 6"/>
          <p:cNvSpPr txBox="1"/>
          <p:nvPr/>
        </p:nvSpPr>
        <p:spPr>
          <a:xfrm>
            <a:off x="728640" y="1764000"/>
            <a:ext cx="5097360" cy="1152000"/>
          </a:xfrm>
          <a:prstGeom prst="rect">
            <a:avLst/>
          </a:prstGeom>
          <a:noFill/>
        </p:spPr>
        <p:txBody>
          <a:bodyPr wrap="square">
            <a:spAutoFit/>
          </a:bodyPr>
          <a:lstStyle/>
          <a:p>
            <a:pPr algn="l"/>
            <a:r>
              <a:rPr sz="980" b="0" i="0">
                <a:solidFill>
                  <a:srgbClr val="C9D6EA"/>
                </a:solidFill>
                <a:latin typeface="Outfit"/>
              </a:rPr>
              <a:t>Earlier, our recent 2015-2025 data sat in separate test scripts. Now, when you pick any state or slide the year timeline in our app, you seamlessly explore 1901 right through 2026 with clear color-coded badges.</a:t>
            </a:r>
          </a:p>
        </p:txBody>
      </p:sp>
      <p:sp>
        <p:nvSpPr>
          <p:cNvPr id="8" name="Rectangle 7"/>
          <p:cNvSpPr/>
          <p:nvPr/>
        </p:nvSpPr>
        <p:spPr>
          <a:xfrm>
            <a:off x="6186000" y="1296000"/>
            <a:ext cx="5457360" cy="1728000"/>
          </a:xfrm>
          <a:prstGeom prst="rect">
            <a:avLst/>
          </a:prstGeom>
          <a:solidFill>
            <a:srgbClr val="0F2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186000" y="1296000"/>
            <a:ext cx="72000" cy="172800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66000" y="1421999"/>
            <a:ext cx="5133360" cy="288000"/>
          </a:xfrm>
          <a:prstGeom prst="rect">
            <a:avLst/>
          </a:prstGeom>
          <a:noFill/>
        </p:spPr>
        <p:txBody>
          <a:bodyPr wrap="square">
            <a:spAutoFit/>
          </a:bodyPr>
          <a:lstStyle/>
          <a:p>
            <a:pPr algn="l"/>
            <a:r>
              <a:rPr sz="1200" b="1" i="0">
                <a:solidFill>
                  <a:srgbClr val="FFFFFF"/>
                </a:solidFill>
                <a:latin typeface="Outfit"/>
              </a:rPr>
              <a:t>Automated 'Zero-Hallucination' Test Suite</a:t>
            </a:r>
          </a:p>
        </p:txBody>
      </p:sp>
      <p:sp>
        <p:nvSpPr>
          <p:cNvPr id="11" name="TextBox 10"/>
          <p:cNvSpPr txBox="1"/>
          <p:nvPr/>
        </p:nvSpPr>
        <p:spPr>
          <a:xfrm>
            <a:off x="6366000" y="1764000"/>
            <a:ext cx="5097360" cy="1152000"/>
          </a:xfrm>
          <a:prstGeom prst="rect">
            <a:avLst/>
          </a:prstGeom>
          <a:noFill/>
        </p:spPr>
        <p:txBody>
          <a:bodyPr wrap="square">
            <a:spAutoFit/>
          </a:bodyPr>
          <a:lstStyle/>
          <a:p>
            <a:pPr algn="l"/>
            <a:r>
              <a:rPr sz="980" b="0" i="0">
                <a:solidFill>
                  <a:srgbClr val="C9D6EA"/>
                </a:solidFill>
                <a:latin typeface="Outfit"/>
              </a:rPr>
              <a:t>We wrote an automated test script with 9 safety checks (T1–T9). It re-verifies every single math calculation and departure percentage to prove that zero records are fabricated or mislabeled.</a:t>
            </a:r>
          </a:p>
        </p:txBody>
      </p:sp>
      <p:sp>
        <p:nvSpPr>
          <p:cNvPr id="12" name="Rectangle 11"/>
          <p:cNvSpPr/>
          <p:nvPr/>
        </p:nvSpPr>
        <p:spPr>
          <a:xfrm>
            <a:off x="548640" y="3204000"/>
            <a:ext cx="5457360" cy="1728000"/>
          </a:xfrm>
          <a:prstGeom prst="rect">
            <a:avLst/>
          </a:prstGeom>
          <a:solidFill>
            <a:srgbClr val="0F2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204000"/>
            <a:ext cx="72000" cy="1728000"/>
          </a:xfrm>
          <a:prstGeom prst="rect">
            <a:avLst/>
          </a:prstGeom>
          <a:solidFill>
            <a:srgbClr val="E0A5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28640" y="3329999"/>
            <a:ext cx="5133360" cy="288000"/>
          </a:xfrm>
          <a:prstGeom prst="rect">
            <a:avLst/>
          </a:prstGeom>
          <a:noFill/>
        </p:spPr>
        <p:txBody>
          <a:bodyPr wrap="square">
            <a:spAutoFit/>
          </a:bodyPr>
          <a:lstStyle/>
          <a:p>
            <a:pPr algn="l"/>
            <a:r>
              <a:rPr sz="1200" b="1" i="0">
                <a:solidFill>
                  <a:srgbClr val="FFFFFF"/>
                </a:solidFill>
                <a:latin typeface="Outfit"/>
              </a:rPr>
              <a:t>Live Web Deployments (Zero Setup Required)</a:t>
            </a:r>
          </a:p>
        </p:txBody>
      </p:sp>
      <p:sp>
        <p:nvSpPr>
          <p:cNvPr id="15" name="TextBox 14"/>
          <p:cNvSpPr txBox="1"/>
          <p:nvPr/>
        </p:nvSpPr>
        <p:spPr>
          <a:xfrm>
            <a:off x="728640" y="3672000"/>
            <a:ext cx="5097360" cy="1152000"/>
          </a:xfrm>
          <a:prstGeom prst="rect">
            <a:avLst/>
          </a:prstGeom>
          <a:noFill/>
        </p:spPr>
        <p:txBody>
          <a:bodyPr wrap="square">
            <a:spAutoFit/>
          </a:bodyPr>
          <a:lstStyle/>
          <a:p>
            <a:pPr algn="l"/>
            <a:r>
              <a:rPr sz="980" b="0" i="0">
                <a:solidFill>
                  <a:srgbClr val="C9D6EA"/>
                </a:solidFill>
                <a:latin typeface="Outfit"/>
              </a:rPr>
              <a:t>Our teacher or classmates can open our project on any phone, tablet, or laptop right now. The analytical app runs on Streamlit Cloud, and our interactive 3D map runs on Vercel with zero installation.</a:t>
            </a:r>
          </a:p>
        </p:txBody>
      </p:sp>
      <p:sp>
        <p:nvSpPr>
          <p:cNvPr id="16" name="Rectangle 15"/>
          <p:cNvSpPr/>
          <p:nvPr/>
        </p:nvSpPr>
        <p:spPr>
          <a:xfrm>
            <a:off x="6186000" y="3204000"/>
            <a:ext cx="5457360" cy="1728000"/>
          </a:xfrm>
          <a:prstGeom prst="rect">
            <a:avLst/>
          </a:prstGeom>
          <a:solidFill>
            <a:srgbClr val="0F2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86000" y="3204000"/>
            <a:ext cx="72000" cy="1728000"/>
          </a:xfrm>
          <a:prstGeom prst="rect">
            <a:avLst/>
          </a:prstGeom>
          <a:solidFill>
            <a:srgbClr val="F87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66000" y="3329999"/>
            <a:ext cx="5133360" cy="288000"/>
          </a:xfrm>
          <a:prstGeom prst="rect">
            <a:avLst/>
          </a:prstGeom>
          <a:noFill/>
        </p:spPr>
        <p:txBody>
          <a:bodyPr wrap="square">
            <a:spAutoFit/>
          </a:bodyPr>
          <a:lstStyle/>
          <a:p>
            <a:pPr algn="l"/>
            <a:r>
              <a:rPr sz="1200" b="1" i="0">
                <a:solidFill>
                  <a:srgbClr val="FFFFFF"/>
                </a:solidFill>
                <a:latin typeface="Outfit"/>
              </a:rPr>
              <a:t>Responsible Data Handling (No Silent Errors)</a:t>
            </a:r>
          </a:p>
        </p:txBody>
      </p:sp>
      <p:sp>
        <p:nvSpPr>
          <p:cNvPr id="19" name="TextBox 18"/>
          <p:cNvSpPr txBox="1"/>
          <p:nvPr/>
        </p:nvSpPr>
        <p:spPr>
          <a:xfrm>
            <a:off x="6366000" y="3672000"/>
            <a:ext cx="5097360" cy="1152000"/>
          </a:xfrm>
          <a:prstGeom prst="rect">
            <a:avLst/>
          </a:prstGeom>
          <a:noFill/>
        </p:spPr>
        <p:txBody>
          <a:bodyPr wrap="square">
            <a:spAutoFit/>
          </a:bodyPr>
          <a:lstStyle/>
          <a:p>
            <a:pPr algn="l"/>
            <a:r>
              <a:rPr sz="980" b="0" i="0">
                <a:solidFill>
                  <a:srgbClr val="C9D6EA"/>
                </a:solidFill>
                <a:latin typeface="Outfit"/>
              </a:rPr>
              <a:t>When official IMD 2020 tables had broken text scanning in their PDF report, we did not guess or fake numbers. We built an automatic gate that rejected the broken year and flagged it transparently.</a:t>
            </a:r>
          </a:p>
        </p:txBody>
      </p:sp>
      <p:sp>
        <p:nvSpPr>
          <p:cNvPr id="20" name="Rectangle 19"/>
          <p:cNvSpPr/>
          <p:nvPr/>
        </p:nvSpPr>
        <p:spPr>
          <a:xfrm>
            <a:off x="0" y="6570000"/>
            <a:ext cx="12192000" cy="288000"/>
          </a:xfrm>
          <a:prstGeom prst="rect">
            <a:avLst/>
          </a:prstGeom>
          <a:solidFill>
            <a:srgbClr val="0F2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48640" y="6598800"/>
            <a:ext cx="5760000" cy="216000"/>
          </a:xfrm>
          <a:prstGeom prst="rect">
            <a:avLst/>
          </a:prstGeom>
          <a:noFill/>
        </p:spPr>
        <p:txBody>
          <a:bodyPr wrap="square">
            <a:spAutoFit/>
          </a:bodyPr>
          <a:lstStyle/>
          <a:p>
            <a:pPr algn="l"/>
            <a:r>
              <a:rPr sz="750" b="0" i="0">
                <a:solidFill>
                  <a:srgbClr val="C9D6EA"/>
                </a:solidFill>
                <a:latin typeface="Outfit"/>
              </a:rPr>
              <a:t>VARSA  ·  Final Project Review &amp; Defense  ·  Probability &amp; Statistics (BAMAT207)</a:t>
            </a:r>
          </a:p>
        </p:txBody>
      </p:sp>
      <p:sp>
        <p:nvSpPr>
          <p:cNvPr id="22" name="TextBox 21"/>
          <p:cNvSpPr txBox="1"/>
          <p:nvPr/>
        </p:nvSpPr>
        <p:spPr>
          <a:xfrm>
            <a:off x="10932000" y="6598800"/>
            <a:ext cx="1080000" cy="216000"/>
          </a:xfrm>
          <a:prstGeom prst="rect">
            <a:avLst/>
          </a:prstGeom>
          <a:noFill/>
        </p:spPr>
        <p:txBody>
          <a:bodyPr wrap="square">
            <a:spAutoFit/>
          </a:bodyPr>
          <a:lstStyle/>
          <a:p>
            <a:pPr algn="r"/>
            <a:r>
              <a:rPr sz="750" b="0" i="0">
                <a:solidFill>
                  <a:srgbClr val="C9D6EA"/>
                </a:solidFill>
                <a:latin typeface="Outfit"/>
              </a:rPr>
              <a:t>4 / 20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B1428"/>
        </a:solidFill>
        <a:effectLst/>
      </p:bgPr>
    </p:bg>
    <p:spTree>
      <p:nvGrpSpPr>
        <p:cNvPr id="1" name=""/>
        <p:cNvGrpSpPr/>
        <p:nvPr/>
      </p:nvGrpSpPr>
      <p:grpSpPr/>
      <p:sp>
        <p:nvSpPr>
          <p:cNvPr id="2" name="TextBox 1"/>
          <p:cNvSpPr txBox="1"/>
          <p:nvPr/>
        </p:nvSpPr>
        <p:spPr>
          <a:xfrm>
            <a:off x="548640" y="244800"/>
            <a:ext cx="11094720" cy="827999"/>
          </a:xfrm>
          <a:prstGeom prst="rect">
            <a:avLst/>
          </a:prstGeom>
          <a:noFill/>
        </p:spPr>
        <p:txBody>
          <a:bodyPr wrap="square" tIns="0" bIns="0" lIns="0" rIns="0">
            <a:spAutoFit/>
          </a:bodyPr>
          <a:lstStyle/>
          <a:p>
            <a:pPr>
              <a:spcAft>
                <a:spcPts val="700"/>
              </a:spcAft>
            </a:pPr>
            <a:r>
              <a:rPr sz="800" b="1">
                <a:solidFill>
                  <a:srgbClr val="E0A526"/>
                </a:solidFill>
                <a:latin typeface="Outfit"/>
              </a:rPr>
              <a:t>03  ·  DATA LAYERS</a:t>
            </a:r>
          </a:p>
          <a:p>
            <a:pPr>
              <a:spcBef>
                <a:spcPts val="400"/>
              </a:spcBef>
            </a:pPr>
            <a:r>
              <a:rPr sz="1800" b="1">
                <a:solidFill>
                  <a:srgbClr val="FFFFFF"/>
                </a:solidFill>
                <a:latin typeface="Outfit"/>
              </a:rPr>
              <a:t>How Our 126 Years of Data Is Organized</a:t>
            </a:r>
          </a:p>
          <a:p>
            <a:pPr>
              <a:spcBef>
                <a:spcPts val="300"/>
              </a:spcBef>
            </a:pPr>
            <a:r>
              <a:rPr sz="900" i="1">
                <a:solidFill>
                  <a:srgbClr val="C9D6EA"/>
                </a:solidFill>
                <a:latin typeface="Outfit"/>
              </a:rPr>
              <a:t>Combining colonial records, modern government publications, and live monsoon updates.</a:t>
            </a:r>
          </a:p>
        </p:txBody>
      </p:sp>
      <p:sp>
        <p:nvSpPr>
          <p:cNvPr id="3" name="Rectangle 2"/>
          <p:cNvSpPr/>
          <p:nvPr/>
        </p:nvSpPr>
        <p:spPr>
          <a:xfrm>
            <a:off x="548640" y="1080000"/>
            <a:ext cx="11094720" cy="18000"/>
          </a:xfrm>
          <a:prstGeom prst="rect">
            <a:avLst/>
          </a:prstGeom>
          <a:solidFill>
            <a:srgbClr val="1E35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48640" y="1296000"/>
            <a:ext cx="3602240" cy="4140000"/>
          </a:xfrm>
          <a:prstGeom prst="rect">
            <a:avLst/>
          </a:prstGeom>
          <a:solidFill>
            <a:srgbClr val="0F2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296000"/>
            <a:ext cx="3602240" cy="7200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92640" y="1440000"/>
            <a:ext cx="3314240" cy="216000"/>
          </a:xfrm>
          <a:prstGeom prst="rect">
            <a:avLst/>
          </a:prstGeom>
          <a:noFill/>
        </p:spPr>
        <p:txBody>
          <a:bodyPr wrap="square">
            <a:spAutoFit/>
          </a:bodyPr>
          <a:lstStyle/>
          <a:p>
            <a:pPr algn="l"/>
            <a:r>
              <a:rPr sz="1200" b="1" i="0">
                <a:solidFill>
                  <a:srgbClr val="FFFFFF"/>
                </a:solidFill>
                <a:latin typeface="Outfit"/>
              </a:rPr>
              <a:t>Layer 1: The Historical Record</a:t>
            </a:r>
          </a:p>
        </p:txBody>
      </p:sp>
      <p:sp>
        <p:nvSpPr>
          <p:cNvPr id="7" name="TextBox 6"/>
          <p:cNvSpPr txBox="1"/>
          <p:nvPr/>
        </p:nvSpPr>
        <p:spPr>
          <a:xfrm>
            <a:off x="692640" y="1656000"/>
            <a:ext cx="3314240" cy="180000"/>
          </a:xfrm>
          <a:prstGeom prst="rect">
            <a:avLst/>
          </a:prstGeom>
          <a:noFill/>
        </p:spPr>
        <p:txBody>
          <a:bodyPr wrap="square">
            <a:spAutoFit/>
          </a:bodyPr>
          <a:lstStyle/>
          <a:p>
            <a:pPr algn="l"/>
            <a:r>
              <a:rPr sz="1000" b="1" i="0">
                <a:solidFill>
                  <a:srgbClr val="38BDF8"/>
                </a:solidFill>
                <a:latin typeface="Outfit"/>
              </a:rPr>
              <a:t>1901–2015 (115 Years)</a:t>
            </a:r>
          </a:p>
        </p:txBody>
      </p:sp>
      <p:sp>
        <p:nvSpPr>
          <p:cNvPr id="8" name="TextBox 7"/>
          <p:cNvSpPr txBox="1"/>
          <p:nvPr/>
        </p:nvSpPr>
        <p:spPr>
          <a:xfrm>
            <a:off x="692640" y="1836000"/>
            <a:ext cx="3314240" cy="180000"/>
          </a:xfrm>
          <a:prstGeom prst="rect">
            <a:avLst/>
          </a:prstGeom>
          <a:noFill/>
        </p:spPr>
        <p:txBody>
          <a:bodyPr wrap="square">
            <a:spAutoFit/>
          </a:bodyPr>
          <a:lstStyle/>
          <a:p>
            <a:pPr algn="l"/>
            <a:r>
              <a:rPr sz="800" b="0" i="1">
                <a:solidFill>
                  <a:srgbClr val="C9D6EA"/>
                </a:solidFill>
                <a:latin typeface="Outfit"/>
              </a:rPr>
              <a:t>A century of meteorological records</a:t>
            </a:r>
          </a:p>
        </p:txBody>
      </p:sp>
      <p:sp>
        <p:nvSpPr>
          <p:cNvPr id="9" name="Rectangle 8"/>
          <p:cNvSpPr/>
          <p:nvPr/>
        </p:nvSpPr>
        <p:spPr>
          <a:xfrm>
            <a:off x="692640" y="2088000"/>
            <a:ext cx="3314240" cy="18000"/>
          </a:xfrm>
          <a:prstGeom prst="rect">
            <a:avLst/>
          </a:prstGeom>
          <a:solidFill>
            <a:srgbClr val="1E35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92640" y="2196000"/>
            <a:ext cx="3314240" cy="3060000"/>
          </a:xfrm>
          <a:prstGeom prst="rect">
            <a:avLst/>
          </a:prstGeom>
          <a:noFill/>
        </p:spPr>
        <p:txBody>
          <a:bodyPr wrap="square">
            <a:spAutoFit/>
          </a:bodyPr>
          <a:lstStyle/>
          <a:p>
            <a:pPr algn="l"/>
            <a:r>
              <a:rPr sz="950" b="0" i="0">
                <a:solidFill>
                  <a:srgbClr val="C9D6EA"/>
                </a:solidFill>
                <a:latin typeface="Outfit"/>
              </a:rPr>
              <a:t>• 20,700 data points across 36 subdivisions
• Provides the baseline 'normal' rainfall for each state
• Allows us to study multi-decade climate cycles
• Cleaned, standardized, and 100% complete</a:t>
            </a:r>
          </a:p>
        </p:txBody>
      </p:sp>
      <p:sp>
        <p:nvSpPr>
          <p:cNvPr id="11" name="Rectangle 10"/>
          <p:cNvSpPr/>
          <p:nvPr/>
        </p:nvSpPr>
        <p:spPr>
          <a:xfrm>
            <a:off x="4294880" y="1296000"/>
            <a:ext cx="3602240" cy="4140000"/>
          </a:xfrm>
          <a:prstGeom prst="rect">
            <a:avLst/>
          </a:prstGeom>
          <a:solidFill>
            <a:srgbClr val="0F2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294880" y="1296000"/>
            <a:ext cx="3602240" cy="72000"/>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38880" y="1440000"/>
            <a:ext cx="3314240" cy="216000"/>
          </a:xfrm>
          <a:prstGeom prst="rect">
            <a:avLst/>
          </a:prstGeom>
          <a:noFill/>
        </p:spPr>
        <p:txBody>
          <a:bodyPr wrap="square">
            <a:spAutoFit/>
          </a:bodyPr>
          <a:lstStyle/>
          <a:p>
            <a:pPr algn="l"/>
            <a:r>
              <a:rPr sz="1200" b="1" i="0">
                <a:solidFill>
                  <a:srgbClr val="FFFFFF"/>
                </a:solidFill>
                <a:latin typeface="Outfit"/>
              </a:rPr>
              <a:t>Layer 2: The Modern Decade</a:t>
            </a:r>
          </a:p>
        </p:txBody>
      </p:sp>
      <p:sp>
        <p:nvSpPr>
          <p:cNvPr id="14" name="TextBox 13"/>
          <p:cNvSpPr txBox="1"/>
          <p:nvPr/>
        </p:nvSpPr>
        <p:spPr>
          <a:xfrm>
            <a:off x="4438880" y="1656000"/>
            <a:ext cx="3314240" cy="180000"/>
          </a:xfrm>
          <a:prstGeom prst="rect">
            <a:avLst/>
          </a:prstGeom>
          <a:noFill/>
        </p:spPr>
        <p:txBody>
          <a:bodyPr wrap="square">
            <a:spAutoFit/>
          </a:bodyPr>
          <a:lstStyle/>
          <a:p>
            <a:pPr algn="l"/>
            <a:r>
              <a:rPr sz="1000" b="1" i="0">
                <a:solidFill>
                  <a:srgbClr val="22C55E"/>
                </a:solidFill>
                <a:latin typeface="Outfit"/>
              </a:rPr>
              <a:t>2015–2025 (10 Validated Years)</a:t>
            </a:r>
          </a:p>
        </p:txBody>
      </p:sp>
      <p:sp>
        <p:nvSpPr>
          <p:cNvPr id="15" name="TextBox 14"/>
          <p:cNvSpPr txBox="1"/>
          <p:nvPr/>
        </p:nvSpPr>
        <p:spPr>
          <a:xfrm>
            <a:off x="4438880" y="1836000"/>
            <a:ext cx="3314240" cy="180000"/>
          </a:xfrm>
          <a:prstGeom prst="rect">
            <a:avLst/>
          </a:prstGeom>
          <a:noFill/>
        </p:spPr>
        <p:txBody>
          <a:bodyPr wrap="square">
            <a:spAutoFit/>
          </a:bodyPr>
          <a:lstStyle/>
          <a:p>
            <a:pPr algn="l"/>
            <a:r>
              <a:rPr sz="800" b="0" i="1">
                <a:solidFill>
                  <a:srgbClr val="C9D6EA"/>
                </a:solidFill>
                <a:latin typeface="Outfit"/>
              </a:rPr>
              <a:t>Recovered from IMD Climate Reports</a:t>
            </a:r>
          </a:p>
        </p:txBody>
      </p:sp>
      <p:sp>
        <p:nvSpPr>
          <p:cNvPr id="16" name="Rectangle 15"/>
          <p:cNvSpPr/>
          <p:nvPr/>
        </p:nvSpPr>
        <p:spPr>
          <a:xfrm>
            <a:off x="4438880" y="2088000"/>
            <a:ext cx="3314240" cy="18000"/>
          </a:xfrm>
          <a:prstGeom prst="rect">
            <a:avLst/>
          </a:prstGeom>
          <a:solidFill>
            <a:srgbClr val="1E35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438880" y="2196000"/>
            <a:ext cx="3314240" cy="3060000"/>
          </a:xfrm>
          <a:prstGeom prst="rect">
            <a:avLst/>
          </a:prstGeom>
          <a:noFill/>
        </p:spPr>
        <p:txBody>
          <a:bodyPr wrap="square">
            <a:spAutoFit/>
          </a:bodyPr>
          <a:lstStyle/>
          <a:p>
            <a:pPr algn="l"/>
            <a:r>
              <a:rPr sz="950" b="0" i="0">
                <a:solidFill>
                  <a:srgbClr val="C9D6EA"/>
                </a:solidFill>
                <a:latin typeface="Outfit"/>
              </a:rPr>
              <a:t>• Extracted from official Annual Climate Summaries
• 1,800 validated data points across 3 distinct PDF formats
• Every cell double-checked against printed IMD departures
• Gives us an up-to-date picture of recent weather</a:t>
            </a:r>
          </a:p>
        </p:txBody>
      </p:sp>
      <p:sp>
        <p:nvSpPr>
          <p:cNvPr id="18" name="Rectangle 17"/>
          <p:cNvSpPr/>
          <p:nvPr/>
        </p:nvSpPr>
        <p:spPr>
          <a:xfrm>
            <a:off x="8041120" y="1296000"/>
            <a:ext cx="3602240" cy="4140000"/>
          </a:xfrm>
          <a:prstGeom prst="rect">
            <a:avLst/>
          </a:prstGeom>
          <a:solidFill>
            <a:srgbClr val="0F2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041120" y="1296000"/>
            <a:ext cx="3602240" cy="72000"/>
          </a:xfrm>
          <a:prstGeom prst="rect">
            <a:avLst/>
          </a:prstGeom>
          <a:solidFill>
            <a:srgbClr val="E0A5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185120" y="1440000"/>
            <a:ext cx="3314240" cy="216000"/>
          </a:xfrm>
          <a:prstGeom prst="rect">
            <a:avLst/>
          </a:prstGeom>
          <a:noFill/>
        </p:spPr>
        <p:txBody>
          <a:bodyPr wrap="square">
            <a:spAutoFit/>
          </a:bodyPr>
          <a:lstStyle/>
          <a:p>
            <a:pPr algn="l"/>
            <a:r>
              <a:rPr sz="1200" b="1" i="0">
                <a:solidFill>
                  <a:srgbClr val="FFFFFF"/>
                </a:solidFill>
                <a:latin typeface="Outfit"/>
              </a:rPr>
              <a:t>Layer 3: Live All-India Monsoon</a:t>
            </a:r>
          </a:p>
        </p:txBody>
      </p:sp>
      <p:sp>
        <p:nvSpPr>
          <p:cNvPr id="21" name="TextBox 20"/>
          <p:cNvSpPr txBox="1"/>
          <p:nvPr/>
        </p:nvSpPr>
        <p:spPr>
          <a:xfrm>
            <a:off x="8185120" y="1656000"/>
            <a:ext cx="3314240" cy="180000"/>
          </a:xfrm>
          <a:prstGeom prst="rect">
            <a:avLst/>
          </a:prstGeom>
          <a:noFill/>
        </p:spPr>
        <p:txBody>
          <a:bodyPr wrap="square">
            <a:spAutoFit/>
          </a:bodyPr>
          <a:lstStyle/>
          <a:p>
            <a:pPr algn="l"/>
            <a:r>
              <a:rPr sz="1000" b="1" i="0">
                <a:solidFill>
                  <a:srgbClr val="E0A526"/>
                </a:solidFill>
                <a:latin typeface="Outfit"/>
              </a:rPr>
              <a:t>1901–2026 (Live Current Season)</a:t>
            </a:r>
          </a:p>
        </p:txBody>
      </p:sp>
      <p:sp>
        <p:nvSpPr>
          <p:cNvPr id="22" name="TextBox 21"/>
          <p:cNvSpPr txBox="1"/>
          <p:nvPr/>
        </p:nvSpPr>
        <p:spPr>
          <a:xfrm>
            <a:off x="8185120" y="1836000"/>
            <a:ext cx="3314240" cy="180000"/>
          </a:xfrm>
          <a:prstGeom prst="rect">
            <a:avLst/>
          </a:prstGeom>
          <a:noFill/>
        </p:spPr>
        <p:txBody>
          <a:bodyPr wrap="square">
            <a:spAutoFit/>
          </a:bodyPr>
          <a:lstStyle/>
          <a:p>
            <a:pPr algn="l"/>
            <a:r>
              <a:rPr sz="800" b="0" i="1">
                <a:solidFill>
                  <a:srgbClr val="C9D6EA"/>
                </a:solidFill>
                <a:latin typeface="Outfit"/>
              </a:rPr>
              <a:t>National series updated to present day</a:t>
            </a:r>
          </a:p>
        </p:txBody>
      </p:sp>
      <p:sp>
        <p:nvSpPr>
          <p:cNvPr id="23" name="Rectangle 22"/>
          <p:cNvSpPr/>
          <p:nvPr/>
        </p:nvSpPr>
        <p:spPr>
          <a:xfrm>
            <a:off x="8185120" y="2088000"/>
            <a:ext cx="3314240" cy="18000"/>
          </a:xfrm>
          <a:prstGeom prst="rect">
            <a:avLst/>
          </a:prstGeom>
          <a:solidFill>
            <a:srgbClr val="1E35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185120" y="2196000"/>
            <a:ext cx="3314240" cy="3060000"/>
          </a:xfrm>
          <a:prstGeom prst="rect">
            <a:avLst/>
          </a:prstGeom>
          <a:noFill/>
        </p:spPr>
        <p:txBody>
          <a:bodyPr wrap="square">
            <a:spAutoFit/>
          </a:bodyPr>
          <a:lstStyle/>
          <a:p>
            <a:pPr algn="l"/>
            <a:r>
              <a:rPr sz="950" b="0" i="0">
                <a:solidFill>
                  <a:srgbClr val="C9D6EA"/>
                </a:solidFill>
                <a:latin typeface="Outfit"/>
              </a:rPr>
              <a:t>• Official CMPG long-term national rainfall series
• Includes the live 2026 monsoon (759.4 mm, -12.6%)
• Kept strictly provisional so incomplete years don't distort
• Connects past history directly to today's news</a:t>
            </a:r>
          </a:p>
        </p:txBody>
      </p:sp>
      <p:sp>
        <p:nvSpPr>
          <p:cNvPr id="25" name="Rectangle 24"/>
          <p:cNvSpPr/>
          <p:nvPr/>
        </p:nvSpPr>
        <p:spPr>
          <a:xfrm>
            <a:off x="0" y="6570000"/>
            <a:ext cx="12192000" cy="288000"/>
          </a:xfrm>
          <a:prstGeom prst="rect">
            <a:avLst/>
          </a:prstGeom>
          <a:solidFill>
            <a:srgbClr val="0F2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48640" y="6598800"/>
            <a:ext cx="5760000" cy="216000"/>
          </a:xfrm>
          <a:prstGeom prst="rect">
            <a:avLst/>
          </a:prstGeom>
          <a:noFill/>
        </p:spPr>
        <p:txBody>
          <a:bodyPr wrap="square">
            <a:spAutoFit/>
          </a:bodyPr>
          <a:lstStyle/>
          <a:p>
            <a:pPr algn="l"/>
            <a:r>
              <a:rPr sz="750" b="0" i="0">
                <a:solidFill>
                  <a:srgbClr val="C9D6EA"/>
                </a:solidFill>
                <a:latin typeface="Outfit"/>
              </a:rPr>
              <a:t>VARSA  ·  Final Project Review &amp; Defense  ·  Probability &amp; Statistics (BAMAT207)</a:t>
            </a:r>
          </a:p>
        </p:txBody>
      </p:sp>
      <p:sp>
        <p:nvSpPr>
          <p:cNvPr id="27" name="TextBox 26"/>
          <p:cNvSpPr txBox="1"/>
          <p:nvPr/>
        </p:nvSpPr>
        <p:spPr>
          <a:xfrm>
            <a:off x="10932000" y="6598800"/>
            <a:ext cx="1080000" cy="216000"/>
          </a:xfrm>
          <a:prstGeom prst="rect">
            <a:avLst/>
          </a:prstGeom>
          <a:noFill/>
        </p:spPr>
        <p:txBody>
          <a:bodyPr wrap="square">
            <a:spAutoFit/>
          </a:bodyPr>
          <a:lstStyle/>
          <a:p>
            <a:pPr algn="r"/>
            <a:r>
              <a:rPr sz="750" b="0" i="0">
                <a:solidFill>
                  <a:srgbClr val="C9D6EA"/>
                </a:solidFill>
                <a:latin typeface="Outfit"/>
              </a:rPr>
              <a:t>5 / 20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B1428"/>
        </a:solidFill>
        <a:effectLst/>
      </p:bgPr>
    </p:bg>
    <p:spTree>
      <p:nvGrpSpPr>
        <p:cNvPr id="1" name=""/>
        <p:cNvGrpSpPr/>
        <p:nvPr/>
      </p:nvGrpSpPr>
      <p:grpSpPr/>
      <p:sp>
        <p:nvSpPr>
          <p:cNvPr id="2" name="TextBox 1"/>
          <p:cNvSpPr txBox="1"/>
          <p:nvPr/>
        </p:nvSpPr>
        <p:spPr>
          <a:xfrm>
            <a:off x="548640" y="244800"/>
            <a:ext cx="11094720" cy="827999"/>
          </a:xfrm>
          <a:prstGeom prst="rect">
            <a:avLst/>
          </a:prstGeom>
          <a:noFill/>
        </p:spPr>
        <p:txBody>
          <a:bodyPr wrap="square" tIns="0" bIns="0" lIns="0" rIns="0">
            <a:spAutoFit/>
          </a:bodyPr>
          <a:lstStyle/>
          <a:p>
            <a:pPr>
              <a:spcAft>
                <a:spcPts val="700"/>
              </a:spcAft>
            </a:pPr>
            <a:r>
              <a:rPr sz="800" b="1">
                <a:solidFill>
                  <a:srgbClr val="E0A526"/>
                </a:solidFill>
                <a:latin typeface="Outfit"/>
              </a:rPr>
              <a:t>04  ·  TRUST &amp; QUALITY</a:t>
            </a:r>
          </a:p>
          <a:p>
            <a:pPr>
              <a:spcBef>
                <a:spcPts val="400"/>
              </a:spcBef>
            </a:pPr>
            <a:r>
              <a:rPr sz="1800" b="1">
                <a:solidFill>
                  <a:srgbClr val="FFFFFF"/>
                </a:solidFill>
                <a:latin typeface="Outfit"/>
              </a:rPr>
              <a:t>How We Ensured Every Number Is 100% Genuine</a:t>
            </a:r>
          </a:p>
          <a:p>
            <a:pPr>
              <a:spcBef>
                <a:spcPts val="300"/>
              </a:spcBef>
            </a:pPr>
            <a:r>
              <a:rPr sz="900" i="1">
                <a:solidFill>
                  <a:srgbClr val="C9D6EA"/>
                </a:solidFill>
                <a:latin typeface="Outfit"/>
              </a:rPr>
              <a:t>We wrote an automated test script that runs 9 safety checks before any graph is drawn.</a:t>
            </a:r>
          </a:p>
        </p:txBody>
      </p:sp>
      <p:sp>
        <p:nvSpPr>
          <p:cNvPr id="3" name="Rectangle 2"/>
          <p:cNvSpPr/>
          <p:nvPr/>
        </p:nvSpPr>
        <p:spPr>
          <a:xfrm>
            <a:off x="548640" y="1080000"/>
            <a:ext cx="11094720" cy="18000"/>
          </a:xfrm>
          <a:prstGeom prst="rect">
            <a:avLst/>
          </a:prstGeom>
          <a:solidFill>
            <a:srgbClr val="1E35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48640" y="1296000"/>
            <a:ext cx="3602240" cy="1152000"/>
          </a:xfrm>
          <a:prstGeom prst="rect">
            <a:avLst/>
          </a:prstGeom>
          <a:solidFill>
            <a:srgbClr val="0F2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296000"/>
            <a:ext cx="64800" cy="1152000"/>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92640" y="1386000"/>
            <a:ext cx="3350241" cy="216000"/>
          </a:xfrm>
          <a:prstGeom prst="rect">
            <a:avLst/>
          </a:prstGeom>
          <a:noFill/>
        </p:spPr>
        <p:txBody>
          <a:bodyPr wrap="square">
            <a:spAutoFit/>
          </a:bodyPr>
          <a:lstStyle/>
          <a:p>
            <a:pPr algn="l"/>
            <a:r>
              <a:rPr sz="1050" b="1" i="0">
                <a:solidFill>
                  <a:srgbClr val="FFFFFF"/>
                </a:solidFill>
                <a:latin typeface="Outfit"/>
              </a:rPr>
              <a:t>✓ 1. All 36 Regions Accounted For</a:t>
            </a:r>
          </a:p>
        </p:txBody>
      </p:sp>
      <p:sp>
        <p:nvSpPr>
          <p:cNvPr id="7" name="TextBox 6"/>
          <p:cNvSpPr txBox="1"/>
          <p:nvPr/>
        </p:nvSpPr>
        <p:spPr>
          <a:xfrm>
            <a:off x="692640" y="1638000"/>
            <a:ext cx="3350241" cy="720000"/>
          </a:xfrm>
          <a:prstGeom prst="rect">
            <a:avLst/>
          </a:prstGeom>
          <a:noFill/>
        </p:spPr>
        <p:txBody>
          <a:bodyPr wrap="square">
            <a:spAutoFit/>
          </a:bodyPr>
          <a:lstStyle/>
          <a:p>
            <a:pPr algn="l"/>
            <a:r>
              <a:rPr sz="900" b="0" i="0">
                <a:solidFill>
                  <a:srgbClr val="C9D6EA"/>
                </a:solidFill>
                <a:latin typeface="Outfit"/>
              </a:rPr>
              <a:t>Verified that every single official region from Kashmir to Kerala is present without omission.</a:t>
            </a:r>
          </a:p>
        </p:txBody>
      </p:sp>
      <p:sp>
        <p:nvSpPr>
          <p:cNvPr id="8" name="Rectangle 7"/>
          <p:cNvSpPr/>
          <p:nvPr/>
        </p:nvSpPr>
        <p:spPr>
          <a:xfrm>
            <a:off x="4294880" y="1296000"/>
            <a:ext cx="3602240" cy="1152000"/>
          </a:xfrm>
          <a:prstGeom prst="rect">
            <a:avLst/>
          </a:prstGeom>
          <a:solidFill>
            <a:srgbClr val="0F2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294880" y="1296000"/>
            <a:ext cx="64800" cy="1152000"/>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438880" y="1386000"/>
            <a:ext cx="3350241" cy="216000"/>
          </a:xfrm>
          <a:prstGeom prst="rect">
            <a:avLst/>
          </a:prstGeom>
          <a:noFill/>
        </p:spPr>
        <p:txBody>
          <a:bodyPr wrap="square">
            <a:spAutoFit/>
          </a:bodyPr>
          <a:lstStyle/>
          <a:p>
            <a:pPr algn="l"/>
            <a:r>
              <a:rPr sz="1050" b="1" i="0">
                <a:solidFill>
                  <a:srgbClr val="FFFFFF"/>
                </a:solidFill>
                <a:latin typeface="Outfit"/>
              </a:rPr>
              <a:t>✓ 2. Double-Checked the Math</a:t>
            </a:r>
          </a:p>
        </p:txBody>
      </p:sp>
      <p:sp>
        <p:nvSpPr>
          <p:cNvPr id="11" name="TextBox 10"/>
          <p:cNvSpPr txBox="1"/>
          <p:nvPr/>
        </p:nvSpPr>
        <p:spPr>
          <a:xfrm>
            <a:off x="4438880" y="1638000"/>
            <a:ext cx="3350241" cy="720000"/>
          </a:xfrm>
          <a:prstGeom prst="rect">
            <a:avLst/>
          </a:prstGeom>
          <a:noFill/>
        </p:spPr>
        <p:txBody>
          <a:bodyPr wrap="square">
            <a:spAutoFit/>
          </a:bodyPr>
          <a:lstStyle/>
          <a:p>
            <a:pPr algn="l"/>
            <a:r>
              <a:rPr sz="900" b="0" i="0">
                <a:solidFill>
                  <a:srgbClr val="C9D6EA"/>
                </a:solidFill>
                <a:latin typeface="Outfit"/>
              </a:rPr>
              <a:t>Checked that (Actual Rain / Normal Rain - 1) matches IMD's official departure percentage on all 1,800 cells.</a:t>
            </a:r>
          </a:p>
        </p:txBody>
      </p:sp>
      <p:sp>
        <p:nvSpPr>
          <p:cNvPr id="12" name="Rectangle 11"/>
          <p:cNvSpPr/>
          <p:nvPr/>
        </p:nvSpPr>
        <p:spPr>
          <a:xfrm>
            <a:off x="8041120" y="1296000"/>
            <a:ext cx="3602240" cy="1152000"/>
          </a:xfrm>
          <a:prstGeom prst="rect">
            <a:avLst/>
          </a:prstGeom>
          <a:solidFill>
            <a:srgbClr val="0F2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041120" y="1296000"/>
            <a:ext cx="64800" cy="1152000"/>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185120" y="1386000"/>
            <a:ext cx="3350241" cy="216000"/>
          </a:xfrm>
          <a:prstGeom prst="rect">
            <a:avLst/>
          </a:prstGeom>
          <a:noFill/>
        </p:spPr>
        <p:txBody>
          <a:bodyPr wrap="square">
            <a:spAutoFit/>
          </a:bodyPr>
          <a:lstStyle/>
          <a:p>
            <a:pPr algn="l"/>
            <a:r>
              <a:rPr sz="1050" b="1" i="0">
                <a:solidFill>
                  <a:srgbClr val="FFFFFF"/>
                </a:solidFill>
                <a:latin typeface="Outfit"/>
              </a:rPr>
              <a:t>✓ 3. Clear Labeling on Every Row</a:t>
            </a:r>
          </a:p>
        </p:txBody>
      </p:sp>
      <p:sp>
        <p:nvSpPr>
          <p:cNvPr id="15" name="TextBox 14"/>
          <p:cNvSpPr txBox="1"/>
          <p:nvPr/>
        </p:nvSpPr>
        <p:spPr>
          <a:xfrm>
            <a:off x="8185120" y="1638000"/>
            <a:ext cx="3350241" cy="720000"/>
          </a:xfrm>
          <a:prstGeom prst="rect">
            <a:avLst/>
          </a:prstGeom>
          <a:noFill/>
        </p:spPr>
        <p:txBody>
          <a:bodyPr wrap="square">
            <a:spAutoFit/>
          </a:bodyPr>
          <a:lstStyle/>
          <a:p>
            <a:pPr algn="l"/>
            <a:r>
              <a:rPr sz="900" b="0" i="0">
                <a:solidFill>
                  <a:srgbClr val="C9D6EA"/>
                </a:solidFill>
                <a:latin typeface="Outfit"/>
              </a:rPr>
              <a:t>Every single row tells the user whether it came from the historical archive or the newly parsed modern decade.</a:t>
            </a:r>
          </a:p>
        </p:txBody>
      </p:sp>
      <p:sp>
        <p:nvSpPr>
          <p:cNvPr id="16" name="Rectangle 15"/>
          <p:cNvSpPr/>
          <p:nvPr/>
        </p:nvSpPr>
        <p:spPr>
          <a:xfrm>
            <a:off x="548640" y="2592000"/>
            <a:ext cx="3602240" cy="1152000"/>
          </a:xfrm>
          <a:prstGeom prst="rect">
            <a:avLst/>
          </a:prstGeom>
          <a:solidFill>
            <a:srgbClr val="0F2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2592000"/>
            <a:ext cx="64800" cy="1152000"/>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92640" y="2682000"/>
            <a:ext cx="3350241" cy="216000"/>
          </a:xfrm>
          <a:prstGeom prst="rect">
            <a:avLst/>
          </a:prstGeom>
          <a:noFill/>
        </p:spPr>
        <p:txBody>
          <a:bodyPr wrap="square">
            <a:spAutoFit/>
          </a:bodyPr>
          <a:lstStyle/>
          <a:p>
            <a:pPr algn="l"/>
            <a:r>
              <a:rPr sz="1050" b="1" i="0">
                <a:solidFill>
                  <a:srgbClr val="FFFFFF"/>
                </a:solidFill>
                <a:latin typeface="Outfit"/>
              </a:rPr>
              <a:t>✓ 4. Winter Definitions Handled Fairly</a:t>
            </a:r>
          </a:p>
        </p:txBody>
      </p:sp>
      <p:sp>
        <p:nvSpPr>
          <p:cNvPr id="19" name="TextBox 18"/>
          <p:cNvSpPr txBox="1"/>
          <p:nvPr/>
        </p:nvSpPr>
        <p:spPr>
          <a:xfrm>
            <a:off x="692640" y="2934000"/>
            <a:ext cx="3350241" cy="720000"/>
          </a:xfrm>
          <a:prstGeom prst="rect">
            <a:avLst/>
          </a:prstGeom>
          <a:noFill/>
        </p:spPr>
        <p:txBody>
          <a:bodyPr wrap="square">
            <a:spAutoFit/>
          </a:bodyPr>
          <a:lstStyle/>
          <a:p>
            <a:pPr algn="l"/>
            <a:r>
              <a:rPr sz="900" b="0" i="0">
                <a:solidFill>
                  <a:srgbClr val="C9D6EA"/>
                </a:solidFill>
                <a:latin typeface="Outfit"/>
              </a:rPr>
              <a:t>IMD redefined Winter in modern tables (Jan-Feb vs Dec-Feb). We flag this so seasons aren't mixed improperly.</a:t>
            </a:r>
          </a:p>
        </p:txBody>
      </p:sp>
      <p:sp>
        <p:nvSpPr>
          <p:cNvPr id="20" name="Rectangle 19"/>
          <p:cNvSpPr/>
          <p:nvPr/>
        </p:nvSpPr>
        <p:spPr>
          <a:xfrm>
            <a:off x="4294880" y="2592000"/>
            <a:ext cx="3602240" cy="1152000"/>
          </a:xfrm>
          <a:prstGeom prst="rect">
            <a:avLst/>
          </a:prstGeom>
          <a:solidFill>
            <a:srgbClr val="0F2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294880" y="2592000"/>
            <a:ext cx="64800" cy="1152000"/>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438880" y="2682000"/>
            <a:ext cx="3350241" cy="216000"/>
          </a:xfrm>
          <a:prstGeom prst="rect">
            <a:avLst/>
          </a:prstGeom>
          <a:noFill/>
        </p:spPr>
        <p:txBody>
          <a:bodyPr wrap="square">
            <a:spAutoFit/>
          </a:bodyPr>
          <a:lstStyle/>
          <a:p>
            <a:pPr algn="l"/>
            <a:r>
              <a:rPr sz="1050" b="1" i="0">
                <a:solidFill>
                  <a:srgbClr val="FFFFFF"/>
                </a:solidFill>
                <a:latin typeface="Outfit"/>
              </a:rPr>
              <a:t>✓ 5. 125-Year Timeline Kept Intact</a:t>
            </a:r>
          </a:p>
        </p:txBody>
      </p:sp>
      <p:sp>
        <p:nvSpPr>
          <p:cNvPr id="23" name="TextBox 22"/>
          <p:cNvSpPr txBox="1"/>
          <p:nvPr/>
        </p:nvSpPr>
        <p:spPr>
          <a:xfrm>
            <a:off x="4438880" y="2934000"/>
            <a:ext cx="3350241" cy="720000"/>
          </a:xfrm>
          <a:prstGeom prst="rect">
            <a:avLst/>
          </a:prstGeom>
          <a:noFill/>
        </p:spPr>
        <p:txBody>
          <a:bodyPr wrap="square">
            <a:spAutoFit/>
          </a:bodyPr>
          <a:lstStyle/>
          <a:p>
            <a:pPr algn="l"/>
            <a:r>
              <a:rPr sz="900" b="0" i="0">
                <a:solidFill>
                  <a:srgbClr val="C9D6EA"/>
                </a:solidFill>
                <a:latin typeface="Outfit"/>
              </a:rPr>
              <a:t>Verified continuous annual data from 1901 to 2025 without a single missing year in the national record.</a:t>
            </a:r>
          </a:p>
        </p:txBody>
      </p:sp>
      <p:sp>
        <p:nvSpPr>
          <p:cNvPr id="24" name="Rectangle 23"/>
          <p:cNvSpPr/>
          <p:nvPr/>
        </p:nvSpPr>
        <p:spPr>
          <a:xfrm>
            <a:off x="8041120" y="2592000"/>
            <a:ext cx="3602240" cy="1152000"/>
          </a:xfrm>
          <a:prstGeom prst="rect">
            <a:avLst/>
          </a:prstGeom>
          <a:solidFill>
            <a:srgbClr val="0F2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041120" y="2592000"/>
            <a:ext cx="64800" cy="1152000"/>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185120" y="2682000"/>
            <a:ext cx="3350241" cy="216000"/>
          </a:xfrm>
          <a:prstGeom prst="rect">
            <a:avLst/>
          </a:prstGeom>
          <a:noFill/>
        </p:spPr>
        <p:txBody>
          <a:bodyPr wrap="square">
            <a:spAutoFit/>
          </a:bodyPr>
          <a:lstStyle/>
          <a:p>
            <a:pPr algn="l"/>
            <a:r>
              <a:rPr sz="1050" b="1" i="0">
                <a:solidFill>
                  <a:srgbClr val="FFFFFF"/>
                </a:solidFill>
                <a:latin typeface="Outfit"/>
              </a:rPr>
              <a:t>✓ 6. Incomplete Years Never Mixed In</a:t>
            </a:r>
          </a:p>
        </p:txBody>
      </p:sp>
      <p:sp>
        <p:nvSpPr>
          <p:cNvPr id="27" name="TextBox 26"/>
          <p:cNvSpPr txBox="1"/>
          <p:nvPr/>
        </p:nvSpPr>
        <p:spPr>
          <a:xfrm>
            <a:off x="8185120" y="2934000"/>
            <a:ext cx="3350241" cy="720000"/>
          </a:xfrm>
          <a:prstGeom prst="rect">
            <a:avLst/>
          </a:prstGeom>
          <a:noFill/>
        </p:spPr>
        <p:txBody>
          <a:bodyPr wrap="square">
            <a:spAutoFit/>
          </a:bodyPr>
          <a:lstStyle/>
          <a:p>
            <a:pPr algn="l"/>
            <a:r>
              <a:rPr sz="900" b="0" i="0">
                <a:solidFill>
                  <a:srgbClr val="C9D6EA"/>
                </a:solidFill>
                <a:latin typeface="Outfit"/>
              </a:rPr>
              <a:t>Because 2026 is still underway, its monsoon rain is kept separate and not counted as a full year total.</a:t>
            </a:r>
          </a:p>
        </p:txBody>
      </p:sp>
      <p:sp>
        <p:nvSpPr>
          <p:cNvPr id="28" name="Rectangle 27"/>
          <p:cNvSpPr/>
          <p:nvPr/>
        </p:nvSpPr>
        <p:spPr>
          <a:xfrm>
            <a:off x="548640" y="3888000"/>
            <a:ext cx="3602240" cy="1152000"/>
          </a:xfrm>
          <a:prstGeom prst="rect">
            <a:avLst/>
          </a:prstGeom>
          <a:solidFill>
            <a:srgbClr val="0F2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48640" y="3888000"/>
            <a:ext cx="64800" cy="1152000"/>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92640" y="3978000"/>
            <a:ext cx="3350241" cy="216000"/>
          </a:xfrm>
          <a:prstGeom prst="rect">
            <a:avLst/>
          </a:prstGeom>
          <a:noFill/>
        </p:spPr>
        <p:txBody>
          <a:bodyPr wrap="square">
            <a:spAutoFit/>
          </a:bodyPr>
          <a:lstStyle/>
          <a:p>
            <a:pPr algn="l"/>
            <a:r>
              <a:rPr sz="1050" b="1" i="0">
                <a:solidFill>
                  <a:srgbClr val="FFFFFF"/>
                </a:solidFill>
                <a:latin typeface="Outfit"/>
              </a:rPr>
              <a:t>✓ 7. 3D Web Map Numbers Matched</a:t>
            </a:r>
          </a:p>
        </p:txBody>
      </p:sp>
      <p:sp>
        <p:nvSpPr>
          <p:cNvPr id="31" name="TextBox 30"/>
          <p:cNvSpPr txBox="1"/>
          <p:nvPr/>
        </p:nvSpPr>
        <p:spPr>
          <a:xfrm>
            <a:off x="692640" y="4230000"/>
            <a:ext cx="3350241" cy="720000"/>
          </a:xfrm>
          <a:prstGeom prst="rect">
            <a:avLst/>
          </a:prstGeom>
          <a:noFill/>
        </p:spPr>
        <p:txBody>
          <a:bodyPr wrap="square">
            <a:spAutoFit/>
          </a:bodyPr>
          <a:lstStyle/>
          <a:p>
            <a:pPr algn="l"/>
            <a:r>
              <a:rPr sz="900" b="0" i="0">
                <a:solidFill>
                  <a:srgbClr val="C9D6EA"/>
                </a:solidFill>
                <a:latin typeface="Outfit"/>
              </a:rPr>
              <a:t>Guaranteed that the numbers rendered on the 3D globe match our statistical analysis exactly.</a:t>
            </a:r>
          </a:p>
        </p:txBody>
      </p:sp>
      <p:sp>
        <p:nvSpPr>
          <p:cNvPr id="32" name="Rectangle 31"/>
          <p:cNvSpPr/>
          <p:nvPr/>
        </p:nvSpPr>
        <p:spPr>
          <a:xfrm>
            <a:off x="4294880" y="3888000"/>
            <a:ext cx="3602240" cy="1152000"/>
          </a:xfrm>
          <a:prstGeom prst="rect">
            <a:avLst/>
          </a:prstGeom>
          <a:solidFill>
            <a:srgbClr val="0F2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4294880" y="3888000"/>
            <a:ext cx="64800" cy="1152000"/>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438880" y="3978000"/>
            <a:ext cx="3350241" cy="216000"/>
          </a:xfrm>
          <a:prstGeom prst="rect">
            <a:avLst/>
          </a:prstGeom>
          <a:noFill/>
        </p:spPr>
        <p:txBody>
          <a:bodyPr wrap="square">
            <a:spAutoFit/>
          </a:bodyPr>
          <a:lstStyle/>
          <a:p>
            <a:pPr algn="l"/>
            <a:r>
              <a:rPr sz="1050" b="1" i="0">
                <a:solidFill>
                  <a:srgbClr val="FFFFFF"/>
                </a:solidFill>
                <a:latin typeface="Outfit"/>
              </a:rPr>
              <a:t>✓ 8. National Trends Confirmed</a:t>
            </a:r>
          </a:p>
        </p:txBody>
      </p:sp>
      <p:sp>
        <p:nvSpPr>
          <p:cNvPr id="35" name="TextBox 34"/>
          <p:cNvSpPr txBox="1"/>
          <p:nvPr/>
        </p:nvSpPr>
        <p:spPr>
          <a:xfrm>
            <a:off x="4438880" y="4230000"/>
            <a:ext cx="3350241" cy="720000"/>
          </a:xfrm>
          <a:prstGeom prst="rect">
            <a:avLst/>
          </a:prstGeom>
          <a:noFill/>
        </p:spPr>
        <p:txBody>
          <a:bodyPr wrap="square">
            <a:spAutoFit/>
          </a:bodyPr>
          <a:lstStyle/>
          <a:p>
            <a:pPr algn="l"/>
            <a:r>
              <a:rPr sz="900" b="0" i="0">
                <a:solidFill>
                  <a:srgbClr val="C9D6EA"/>
                </a:solidFill>
                <a:latin typeface="Outfit"/>
              </a:rPr>
              <a:t>Verified that historical charts and modern trend lines connect smoothly without sudden artificial jumps.</a:t>
            </a:r>
          </a:p>
        </p:txBody>
      </p:sp>
      <p:sp>
        <p:nvSpPr>
          <p:cNvPr id="36" name="Rectangle 35"/>
          <p:cNvSpPr/>
          <p:nvPr/>
        </p:nvSpPr>
        <p:spPr>
          <a:xfrm>
            <a:off x="8041120" y="3888000"/>
            <a:ext cx="3602240" cy="1152000"/>
          </a:xfrm>
          <a:prstGeom prst="rect">
            <a:avLst/>
          </a:prstGeom>
          <a:solidFill>
            <a:srgbClr val="0F2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8041120" y="3888000"/>
            <a:ext cx="64800" cy="1152000"/>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185120" y="3978000"/>
            <a:ext cx="3350241" cy="216000"/>
          </a:xfrm>
          <a:prstGeom prst="rect">
            <a:avLst/>
          </a:prstGeom>
          <a:noFill/>
        </p:spPr>
        <p:txBody>
          <a:bodyPr wrap="square">
            <a:spAutoFit/>
          </a:bodyPr>
          <a:lstStyle/>
          <a:p>
            <a:pPr algn="l"/>
            <a:r>
              <a:rPr sz="1050" b="1" i="0">
                <a:solidFill>
                  <a:srgbClr val="FFFFFF"/>
                </a:solidFill>
                <a:latin typeface="Outfit"/>
              </a:rPr>
              <a:t>✓ 9. Zero Fabricated Rows</a:t>
            </a:r>
          </a:p>
        </p:txBody>
      </p:sp>
      <p:sp>
        <p:nvSpPr>
          <p:cNvPr id="39" name="TextBox 38"/>
          <p:cNvSpPr txBox="1"/>
          <p:nvPr/>
        </p:nvSpPr>
        <p:spPr>
          <a:xfrm>
            <a:off x="8185120" y="4230000"/>
            <a:ext cx="3350241" cy="720000"/>
          </a:xfrm>
          <a:prstGeom prst="rect">
            <a:avLst/>
          </a:prstGeom>
          <a:noFill/>
        </p:spPr>
        <p:txBody>
          <a:bodyPr wrap="square">
            <a:spAutoFit/>
          </a:bodyPr>
          <a:lstStyle/>
          <a:p>
            <a:pPr algn="l"/>
            <a:r>
              <a:rPr sz="900" b="0" i="0">
                <a:solidFill>
                  <a:srgbClr val="C9D6EA"/>
                </a:solidFill>
                <a:latin typeface="Outfit"/>
              </a:rPr>
              <a:t>Checked that total row counts match the exact number of published government tables. No fake data.</a:t>
            </a:r>
          </a:p>
        </p:txBody>
      </p:sp>
      <p:sp>
        <p:nvSpPr>
          <p:cNvPr id="40" name="TextBox 39"/>
          <p:cNvSpPr txBox="1"/>
          <p:nvPr/>
        </p:nvSpPr>
        <p:spPr>
          <a:xfrm>
            <a:off x="548640" y="5472000"/>
            <a:ext cx="11094720" cy="216000"/>
          </a:xfrm>
          <a:prstGeom prst="rect">
            <a:avLst/>
          </a:prstGeom>
          <a:noFill/>
        </p:spPr>
        <p:txBody>
          <a:bodyPr wrap="square">
            <a:spAutoFit/>
          </a:bodyPr>
          <a:lstStyle/>
          <a:p>
            <a:pPr algn="l"/>
            <a:r>
              <a:rPr sz="1000" b="1" i="0">
                <a:solidFill>
                  <a:srgbClr val="E0A526"/>
                </a:solidFill>
                <a:latin typeface="Outfit"/>
              </a:rPr>
              <a:t>Talking Point: 'We don't ask you to trust our word — any evaluator can run our test script in 2 seconds to verify every claim.'</a:t>
            </a:r>
          </a:p>
        </p:txBody>
      </p:sp>
      <p:sp>
        <p:nvSpPr>
          <p:cNvPr id="41" name="Rectangle 40"/>
          <p:cNvSpPr/>
          <p:nvPr/>
        </p:nvSpPr>
        <p:spPr>
          <a:xfrm>
            <a:off x="0" y="6570000"/>
            <a:ext cx="12192000" cy="288000"/>
          </a:xfrm>
          <a:prstGeom prst="rect">
            <a:avLst/>
          </a:prstGeom>
          <a:solidFill>
            <a:srgbClr val="0F2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48640" y="6598800"/>
            <a:ext cx="5760000" cy="216000"/>
          </a:xfrm>
          <a:prstGeom prst="rect">
            <a:avLst/>
          </a:prstGeom>
          <a:noFill/>
        </p:spPr>
        <p:txBody>
          <a:bodyPr wrap="square">
            <a:spAutoFit/>
          </a:bodyPr>
          <a:lstStyle/>
          <a:p>
            <a:pPr algn="l"/>
            <a:r>
              <a:rPr sz="750" b="0" i="0">
                <a:solidFill>
                  <a:srgbClr val="C9D6EA"/>
                </a:solidFill>
                <a:latin typeface="Outfit"/>
              </a:rPr>
              <a:t>VARSA  ·  Final Project Review &amp; Defense  ·  Probability &amp; Statistics (BAMAT207)</a:t>
            </a:r>
          </a:p>
        </p:txBody>
      </p:sp>
      <p:sp>
        <p:nvSpPr>
          <p:cNvPr id="43" name="TextBox 42"/>
          <p:cNvSpPr txBox="1"/>
          <p:nvPr/>
        </p:nvSpPr>
        <p:spPr>
          <a:xfrm>
            <a:off x="10932000" y="6598800"/>
            <a:ext cx="1080000" cy="216000"/>
          </a:xfrm>
          <a:prstGeom prst="rect">
            <a:avLst/>
          </a:prstGeom>
          <a:noFill/>
        </p:spPr>
        <p:txBody>
          <a:bodyPr wrap="square">
            <a:spAutoFit/>
          </a:bodyPr>
          <a:lstStyle/>
          <a:p>
            <a:pPr algn="r"/>
            <a:r>
              <a:rPr sz="750" b="0" i="0">
                <a:solidFill>
                  <a:srgbClr val="C9D6EA"/>
                </a:solidFill>
                <a:latin typeface="Outfit"/>
              </a:rPr>
              <a:t>6 / 20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B1428"/>
        </a:solidFill>
        <a:effectLst/>
      </p:bgPr>
    </p:bg>
    <p:spTree>
      <p:nvGrpSpPr>
        <p:cNvPr id="1" name=""/>
        <p:cNvGrpSpPr/>
        <p:nvPr/>
      </p:nvGrpSpPr>
      <p:grpSpPr/>
      <p:sp>
        <p:nvSpPr>
          <p:cNvPr id="2" name="TextBox 1"/>
          <p:cNvSpPr txBox="1"/>
          <p:nvPr/>
        </p:nvSpPr>
        <p:spPr>
          <a:xfrm>
            <a:off x="548640" y="244800"/>
            <a:ext cx="11094720" cy="827999"/>
          </a:xfrm>
          <a:prstGeom prst="rect">
            <a:avLst/>
          </a:prstGeom>
          <a:noFill/>
        </p:spPr>
        <p:txBody>
          <a:bodyPr wrap="square" tIns="0" bIns="0" lIns="0" rIns="0">
            <a:spAutoFit/>
          </a:bodyPr>
          <a:lstStyle/>
          <a:p>
            <a:pPr>
              <a:spcAft>
                <a:spcPts val="700"/>
              </a:spcAft>
            </a:pPr>
            <a:r>
              <a:rPr sz="800" b="1">
                <a:solidFill>
                  <a:srgbClr val="E0A526"/>
                </a:solidFill>
                <a:latin typeface="Outfit"/>
              </a:rPr>
              <a:t>05  ·  THE SIX DISCOVERIES</a:t>
            </a:r>
          </a:p>
          <a:p>
            <a:pPr>
              <a:spcBef>
                <a:spcPts val="400"/>
              </a:spcBef>
            </a:pPr>
            <a:r>
              <a:rPr sz="1800" b="1">
                <a:solidFill>
                  <a:srgbClr val="FFFFFF"/>
                </a:solidFill>
                <a:latin typeface="Outfit"/>
              </a:rPr>
              <a:t>Six Common Beliefs vs What the Data Proves</a:t>
            </a:r>
          </a:p>
          <a:p>
            <a:pPr>
              <a:spcBef>
                <a:spcPts val="300"/>
              </a:spcBef>
            </a:pPr>
            <a:r>
              <a:rPr sz="900" i="1">
                <a:solidFill>
                  <a:srgbClr val="C9D6EA"/>
                </a:solidFill>
                <a:latin typeface="Outfit"/>
              </a:rPr>
              <a:t>The core conclusions of our project, presented in simple, plain English.</a:t>
            </a:r>
          </a:p>
        </p:txBody>
      </p:sp>
      <p:sp>
        <p:nvSpPr>
          <p:cNvPr id="3" name="Rectangle 2"/>
          <p:cNvSpPr/>
          <p:nvPr/>
        </p:nvSpPr>
        <p:spPr>
          <a:xfrm>
            <a:off x="548640" y="1080000"/>
            <a:ext cx="11094720" cy="18000"/>
          </a:xfrm>
          <a:prstGeom prst="rect">
            <a:avLst/>
          </a:prstGeom>
          <a:solidFill>
            <a:srgbClr val="1E35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48640" y="1260000"/>
            <a:ext cx="11094720" cy="540000"/>
          </a:xfrm>
          <a:prstGeom prst="rect">
            <a:avLst/>
          </a:prstGeom>
          <a:solidFill>
            <a:srgbClr val="0F2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260000"/>
            <a:ext cx="64800" cy="54000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28640" y="1368000"/>
            <a:ext cx="432000" cy="324000"/>
          </a:xfrm>
          <a:prstGeom prst="rect">
            <a:avLst/>
          </a:prstGeom>
          <a:noFill/>
        </p:spPr>
        <p:txBody>
          <a:bodyPr wrap="square">
            <a:spAutoFit/>
          </a:bodyPr>
          <a:lstStyle/>
          <a:p>
            <a:pPr algn="l"/>
            <a:r>
              <a:rPr sz="1600" b="1" i="0">
                <a:solidFill>
                  <a:srgbClr val="38BDF8"/>
                </a:solidFill>
                <a:latin typeface="Outfit"/>
              </a:rPr>
              <a:t>1</a:t>
            </a:r>
          </a:p>
        </p:txBody>
      </p:sp>
      <p:sp>
        <p:nvSpPr>
          <p:cNvPr id="7" name="TextBox 6"/>
          <p:cNvSpPr txBox="1"/>
          <p:nvPr/>
        </p:nvSpPr>
        <p:spPr>
          <a:xfrm>
            <a:off x="1196640" y="1314000"/>
            <a:ext cx="7200000" cy="251999"/>
          </a:xfrm>
          <a:prstGeom prst="rect">
            <a:avLst/>
          </a:prstGeom>
          <a:noFill/>
        </p:spPr>
        <p:txBody>
          <a:bodyPr wrap="square">
            <a:spAutoFit/>
          </a:bodyPr>
          <a:lstStyle/>
          <a:p>
            <a:pPr algn="l"/>
            <a:r>
              <a:rPr sz="1200" b="1" i="0">
                <a:solidFill>
                  <a:srgbClr val="FFFFFF"/>
                </a:solidFill>
                <a:latin typeface="Outfit"/>
              </a:rPr>
              <a:t>The 4-Month Floodgate</a:t>
            </a:r>
          </a:p>
        </p:txBody>
      </p:sp>
      <p:sp>
        <p:nvSpPr>
          <p:cNvPr id="8" name="TextBox 7"/>
          <p:cNvSpPr txBox="1"/>
          <p:nvPr/>
        </p:nvSpPr>
        <p:spPr>
          <a:xfrm>
            <a:off x="1196640" y="1548000"/>
            <a:ext cx="10260000" cy="216000"/>
          </a:xfrm>
          <a:prstGeom prst="rect">
            <a:avLst/>
          </a:prstGeom>
          <a:noFill/>
        </p:spPr>
        <p:txBody>
          <a:bodyPr wrap="square">
            <a:spAutoFit/>
          </a:bodyPr>
          <a:lstStyle/>
          <a:p>
            <a:pPr algn="l"/>
            <a:r>
              <a:rPr sz="919" b="0" i="0">
                <a:solidFill>
                  <a:srgbClr val="C9D6EA"/>
                </a:solidFill>
                <a:latin typeface="Outfit"/>
              </a:rPr>
              <a:t>Belief: Rain is spread through the year. Fact: 74% falls in just 120 days of monsoon across every corner of India.</a:t>
            </a:r>
          </a:p>
        </p:txBody>
      </p:sp>
      <p:sp>
        <p:nvSpPr>
          <p:cNvPr id="9" name="Rectangle 8"/>
          <p:cNvSpPr/>
          <p:nvPr/>
        </p:nvSpPr>
        <p:spPr>
          <a:xfrm>
            <a:off x="548640" y="1908000"/>
            <a:ext cx="11094720" cy="540000"/>
          </a:xfrm>
          <a:prstGeom prst="rect">
            <a:avLst/>
          </a:prstGeom>
          <a:solidFill>
            <a:srgbClr val="0F2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908000"/>
            <a:ext cx="64800" cy="540000"/>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28640" y="2016000"/>
            <a:ext cx="432000" cy="324000"/>
          </a:xfrm>
          <a:prstGeom prst="rect">
            <a:avLst/>
          </a:prstGeom>
          <a:noFill/>
        </p:spPr>
        <p:txBody>
          <a:bodyPr wrap="square">
            <a:spAutoFit/>
          </a:bodyPr>
          <a:lstStyle/>
          <a:p>
            <a:pPr algn="l"/>
            <a:r>
              <a:rPr sz="1600" b="1" i="0">
                <a:solidFill>
                  <a:srgbClr val="22C55E"/>
                </a:solidFill>
                <a:latin typeface="Outfit"/>
              </a:rPr>
              <a:t>2</a:t>
            </a:r>
          </a:p>
        </p:txBody>
      </p:sp>
      <p:sp>
        <p:nvSpPr>
          <p:cNvPr id="12" name="TextBox 11"/>
          <p:cNvSpPr txBox="1"/>
          <p:nvPr/>
        </p:nvSpPr>
        <p:spPr>
          <a:xfrm>
            <a:off x="1196640" y="1962000"/>
            <a:ext cx="7200000" cy="251999"/>
          </a:xfrm>
          <a:prstGeom prst="rect">
            <a:avLst/>
          </a:prstGeom>
          <a:noFill/>
        </p:spPr>
        <p:txBody>
          <a:bodyPr wrap="square">
            <a:spAutoFit/>
          </a:bodyPr>
          <a:lstStyle/>
          <a:p>
            <a:pPr algn="l"/>
            <a:r>
              <a:rPr sz="1200" b="1" i="0">
                <a:solidFill>
                  <a:srgbClr val="FFFFFF"/>
                </a:solidFill>
                <a:latin typeface="Outfit"/>
              </a:rPr>
              <a:t>Two Completely Different Indias</a:t>
            </a:r>
          </a:p>
        </p:txBody>
      </p:sp>
      <p:sp>
        <p:nvSpPr>
          <p:cNvPr id="13" name="TextBox 12"/>
          <p:cNvSpPr txBox="1"/>
          <p:nvPr/>
        </p:nvSpPr>
        <p:spPr>
          <a:xfrm>
            <a:off x="1196640" y="2196000"/>
            <a:ext cx="10260000" cy="216000"/>
          </a:xfrm>
          <a:prstGeom prst="rect">
            <a:avLst/>
          </a:prstGeom>
          <a:noFill/>
        </p:spPr>
        <p:txBody>
          <a:bodyPr wrap="square">
            <a:spAutoFit/>
          </a:bodyPr>
          <a:lstStyle/>
          <a:p>
            <a:pPr algn="l"/>
            <a:r>
              <a:rPr sz="919" b="0" i="0">
                <a:solidFill>
                  <a:srgbClr val="C9D6EA"/>
                </a:solidFill>
                <a:latin typeface="Outfit"/>
              </a:rPr>
              <a:t>Belief: India has a single average rainfall. Fact: Geography causes a 24× difference from desert (148 mm) to coast (3,500 mm).</a:t>
            </a:r>
          </a:p>
        </p:txBody>
      </p:sp>
      <p:sp>
        <p:nvSpPr>
          <p:cNvPr id="14" name="Rectangle 13"/>
          <p:cNvSpPr/>
          <p:nvPr/>
        </p:nvSpPr>
        <p:spPr>
          <a:xfrm>
            <a:off x="548640" y="2556000"/>
            <a:ext cx="11094720" cy="540000"/>
          </a:xfrm>
          <a:prstGeom prst="rect">
            <a:avLst/>
          </a:prstGeom>
          <a:solidFill>
            <a:srgbClr val="0F2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556000"/>
            <a:ext cx="64800" cy="540000"/>
          </a:xfrm>
          <a:prstGeom prst="rect">
            <a:avLst/>
          </a:prstGeom>
          <a:solidFill>
            <a:srgbClr val="E0A5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8640" y="2664000"/>
            <a:ext cx="432000" cy="324000"/>
          </a:xfrm>
          <a:prstGeom prst="rect">
            <a:avLst/>
          </a:prstGeom>
          <a:noFill/>
        </p:spPr>
        <p:txBody>
          <a:bodyPr wrap="square">
            <a:spAutoFit/>
          </a:bodyPr>
          <a:lstStyle/>
          <a:p>
            <a:pPr algn="l"/>
            <a:r>
              <a:rPr sz="1600" b="1" i="0">
                <a:solidFill>
                  <a:srgbClr val="E0A526"/>
                </a:solidFill>
                <a:latin typeface="Outfit"/>
              </a:rPr>
              <a:t>3</a:t>
            </a:r>
          </a:p>
        </p:txBody>
      </p:sp>
      <p:sp>
        <p:nvSpPr>
          <p:cNvPr id="17" name="TextBox 16"/>
          <p:cNvSpPr txBox="1"/>
          <p:nvPr/>
        </p:nvSpPr>
        <p:spPr>
          <a:xfrm>
            <a:off x="1196640" y="2610000"/>
            <a:ext cx="7200000" cy="251999"/>
          </a:xfrm>
          <a:prstGeom prst="rect">
            <a:avLst/>
          </a:prstGeom>
          <a:noFill/>
        </p:spPr>
        <p:txBody>
          <a:bodyPr wrap="square">
            <a:spAutoFit/>
          </a:bodyPr>
          <a:lstStyle/>
          <a:p>
            <a:pPr algn="l"/>
            <a:r>
              <a:rPr sz="1200" b="1" i="0">
                <a:solidFill>
                  <a:srgbClr val="FFFFFF"/>
                </a:solidFill>
                <a:latin typeface="Outfit"/>
              </a:rPr>
              <a:t>The Trap of the 'Normal Curve'</a:t>
            </a:r>
          </a:p>
        </p:txBody>
      </p:sp>
      <p:sp>
        <p:nvSpPr>
          <p:cNvPr id="18" name="TextBox 17"/>
          <p:cNvSpPr txBox="1"/>
          <p:nvPr/>
        </p:nvSpPr>
        <p:spPr>
          <a:xfrm>
            <a:off x="1196640" y="2844000"/>
            <a:ext cx="10260000" cy="216000"/>
          </a:xfrm>
          <a:prstGeom prst="rect">
            <a:avLst/>
          </a:prstGeom>
          <a:noFill/>
        </p:spPr>
        <p:txBody>
          <a:bodyPr wrap="square">
            <a:spAutoFit/>
          </a:bodyPr>
          <a:lstStyle/>
          <a:p>
            <a:pPr algn="l"/>
            <a:r>
              <a:rPr sz="919" b="0" i="0">
                <a:solidFill>
                  <a:srgbClr val="C9D6EA"/>
                </a:solidFill>
                <a:latin typeface="Outfit"/>
              </a:rPr>
              <a:t>Belief: Textbook bell curves fit all rainfall. Fact: India has extreme rain-shadows; forcing a bell curve gives wrong probabilities.</a:t>
            </a:r>
          </a:p>
        </p:txBody>
      </p:sp>
      <p:sp>
        <p:nvSpPr>
          <p:cNvPr id="19" name="Rectangle 18"/>
          <p:cNvSpPr/>
          <p:nvPr/>
        </p:nvSpPr>
        <p:spPr>
          <a:xfrm>
            <a:off x="548640" y="3204000"/>
            <a:ext cx="11094720" cy="540000"/>
          </a:xfrm>
          <a:prstGeom prst="rect">
            <a:avLst/>
          </a:prstGeom>
          <a:solidFill>
            <a:srgbClr val="0F2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3204000"/>
            <a:ext cx="64800" cy="540000"/>
          </a:xfrm>
          <a:prstGeom prst="rect">
            <a:avLst/>
          </a:prstGeom>
          <a:solidFill>
            <a:srgbClr val="F87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28640" y="3312000"/>
            <a:ext cx="432000" cy="324000"/>
          </a:xfrm>
          <a:prstGeom prst="rect">
            <a:avLst/>
          </a:prstGeom>
          <a:noFill/>
        </p:spPr>
        <p:txBody>
          <a:bodyPr wrap="square">
            <a:spAutoFit/>
          </a:bodyPr>
          <a:lstStyle/>
          <a:p>
            <a:pPr algn="l"/>
            <a:r>
              <a:rPr sz="1600" b="1" i="0">
                <a:solidFill>
                  <a:srgbClr val="F87171"/>
                </a:solidFill>
                <a:latin typeface="Outfit"/>
              </a:rPr>
              <a:t>4</a:t>
            </a:r>
          </a:p>
        </p:txBody>
      </p:sp>
      <p:sp>
        <p:nvSpPr>
          <p:cNvPr id="22" name="TextBox 21"/>
          <p:cNvSpPr txBox="1"/>
          <p:nvPr/>
        </p:nvSpPr>
        <p:spPr>
          <a:xfrm>
            <a:off x="1196640" y="3258000"/>
            <a:ext cx="7200000" cy="251999"/>
          </a:xfrm>
          <a:prstGeom prst="rect">
            <a:avLst/>
          </a:prstGeom>
          <a:noFill/>
        </p:spPr>
        <p:txBody>
          <a:bodyPr wrap="square">
            <a:spAutoFit/>
          </a:bodyPr>
          <a:lstStyle/>
          <a:p>
            <a:pPr algn="l"/>
            <a:r>
              <a:rPr sz="1200" b="1" i="0">
                <a:solidFill>
                  <a:srgbClr val="FFFFFF"/>
                </a:solidFill>
                <a:latin typeface="Outfit"/>
              </a:rPr>
              <a:t>Is India Drying Up? Myth Busted</a:t>
            </a:r>
          </a:p>
        </p:txBody>
      </p:sp>
      <p:sp>
        <p:nvSpPr>
          <p:cNvPr id="23" name="TextBox 22"/>
          <p:cNvSpPr txBox="1"/>
          <p:nvPr/>
        </p:nvSpPr>
        <p:spPr>
          <a:xfrm>
            <a:off x="1196640" y="3492000"/>
            <a:ext cx="10260000" cy="216000"/>
          </a:xfrm>
          <a:prstGeom prst="rect">
            <a:avLst/>
          </a:prstGeom>
          <a:noFill/>
        </p:spPr>
        <p:txBody>
          <a:bodyPr wrap="square">
            <a:spAutoFit/>
          </a:bodyPr>
          <a:lstStyle/>
          <a:p>
            <a:pPr algn="l"/>
            <a:r>
              <a:rPr sz="919" b="0" i="0">
                <a:solidFill>
                  <a:srgbClr val="C9D6EA"/>
                </a:solidFill>
                <a:latin typeface="Outfit"/>
              </a:rPr>
              <a:t>Belief: Climate change is making total rain disappear. Fact: 125 years show zero secular drying trend (-18 mm/century, p=0.50).</a:t>
            </a:r>
          </a:p>
        </p:txBody>
      </p:sp>
      <p:sp>
        <p:nvSpPr>
          <p:cNvPr id="24" name="Rectangle 23"/>
          <p:cNvSpPr/>
          <p:nvPr/>
        </p:nvSpPr>
        <p:spPr>
          <a:xfrm>
            <a:off x="548640" y="3852000"/>
            <a:ext cx="11094720" cy="540000"/>
          </a:xfrm>
          <a:prstGeom prst="rect">
            <a:avLst/>
          </a:prstGeom>
          <a:solidFill>
            <a:srgbClr val="0F2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852000"/>
            <a:ext cx="64800" cy="54000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28640" y="3960000"/>
            <a:ext cx="432000" cy="324000"/>
          </a:xfrm>
          <a:prstGeom prst="rect">
            <a:avLst/>
          </a:prstGeom>
          <a:noFill/>
        </p:spPr>
        <p:txBody>
          <a:bodyPr wrap="square">
            <a:spAutoFit/>
          </a:bodyPr>
          <a:lstStyle/>
          <a:p>
            <a:pPr algn="l"/>
            <a:r>
              <a:rPr sz="1600" b="1" i="0">
                <a:solidFill>
                  <a:srgbClr val="38BDF8"/>
                </a:solidFill>
                <a:latin typeface="Outfit"/>
              </a:rPr>
              <a:t>5</a:t>
            </a:r>
          </a:p>
        </p:txBody>
      </p:sp>
      <p:sp>
        <p:nvSpPr>
          <p:cNvPr id="27" name="TextBox 26"/>
          <p:cNvSpPr txBox="1"/>
          <p:nvPr/>
        </p:nvSpPr>
        <p:spPr>
          <a:xfrm>
            <a:off x="1196640" y="3906000"/>
            <a:ext cx="7200000" cy="251999"/>
          </a:xfrm>
          <a:prstGeom prst="rect">
            <a:avLst/>
          </a:prstGeom>
          <a:noFill/>
        </p:spPr>
        <p:txBody>
          <a:bodyPr wrap="square">
            <a:spAutoFit/>
          </a:bodyPr>
          <a:lstStyle/>
          <a:p>
            <a:pPr algn="l"/>
            <a:r>
              <a:rPr sz="1200" b="1" i="0">
                <a:solidFill>
                  <a:srgbClr val="FFFFFF"/>
                </a:solidFill>
                <a:latin typeface="Outfit"/>
              </a:rPr>
              <a:t>Drought Is Always Local</a:t>
            </a:r>
          </a:p>
        </p:txBody>
      </p:sp>
      <p:sp>
        <p:nvSpPr>
          <p:cNvPr id="28" name="TextBox 27"/>
          <p:cNvSpPr txBox="1"/>
          <p:nvPr/>
        </p:nvSpPr>
        <p:spPr>
          <a:xfrm>
            <a:off x="1196640" y="4140000"/>
            <a:ext cx="10260000" cy="216000"/>
          </a:xfrm>
          <a:prstGeom prst="rect">
            <a:avLst/>
          </a:prstGeom>
          <a:noFill/>
        </p:spPr>
        <p:txBody>
          <a:bodyPr wrap="square">
            <a:spAutoFit/>
          </a:bodyPr>
          <a:lstStyle/>
          <a:p>
            <a:pPr algn="l"/>
            <a:r>
              <a:rPr sz="919" b="0" i="0">
                <a:solidFill>
                  <a:srgbClr val="C9D6EA"/>
                </a:solidFill>
                <a:latin typeface="Outfit"/>
              </a:rPr>
              <a:t>Belief: A bad monsoon ruins the entire country. Fact: Severe drought never hits all of India at once; it strikes specific dry regions.</a:t>
            </a:r>
          </a:p>
        </p:txBody>
      </p:sp>
      <p:sp>
        <p:nvSpPr>
          <p:cNvPr id="29" name="Rectangle 28"/>
          <p:cNvSpPr/>
          <p:nvPr/>
        </p:nvSpPr>
        <p:spPr>
          <a:xfrm>
            <a:off x="548640" y="4500000"/>
            <a:ext cx="11094720" cy="540000"/>
          </a:xfrm>
          <a:prstGeom prst="rect">
            <a:avLst/>
          </a:prstGeom>
          <a:solidFill>
            <a:srgbClr val="0F2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500000"/>
            <a:ext cx="64800" cy="540000"/>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28640" y="4608000"/>
            <a:ext cx="432000" cy="324000"/>
          </a:xfrm>
          <a:prstGeom prst="rect">
            <a:avLst/>
          </a:prstGeom>
          <a:noFill/>
        </p:spPr>
        <p:txBody>
          <a:bodyPr wrap="square">
            <a:spAutoFit/>
          </a:bodyPr>
          <a:lstStyle/>
          <a:p>
            <a:pPr algn="l"/>
            <a:r>
              <a:rPr sz="1600" b="1" i="0">
                <a:solidFill>
                  <a:srgbClr val="22C55E"/>
                </a:solidFill>
                <a:latin typeface="Outfit"/>
              </a:rPr>
              <a:t>6</a:t>
            </a:r>
          </a:p>
        </p:txBody>
      </p:sp>
      <p:sp>
        <p:nvSpPr>
          <p:cNvPr id="32" name="TextBox 31"/>
          <p:cNvSpPr txBox="1"/>
          <p:nvPr/>
        </p:nvSpPr>
        <p:spPr>
          <a:xfrm>
            <a:off x="1196640" y="4554000"/>
            <a:ext cx="7200000" cy="251999"/>
          </a:xfrm>
          <a:prstGeom prst="rect">
            <a:avLst/>
          </a:prstGeom>
          <a:noFill/>
        </p:spPr>
        <p:txBody>
          <a:bodyPr wrap="square">
            <a:spAutoFit/>
          </a:bodyPr>
          <a:lstStyle/>
          <a:p>
            <a:pPr algn="l"/>
            <a:r>
              <a:rPr sz="1200" b="1" i="0">
                <a:solidFill>
                  <a:srgbClr val="FFFFFF"/>
                </a:solidFill>
                <a:latin typeface="Outfit"/>
              </a:rPr>
              <a:t>Storm Clouds Don't Respect Borders</a:t>
            </a:r>
          </a:p>
        </p:txBody>
      </p:sp>
      <p:sp>
        <p:nvSpPr>
          <p:cNvPr id="33" name="TextBox 32"/>
          <p:cNvSpPr txBox="1"/>
          <p:nvPr/>
        </p:nvSpPr>
        <p:spPr>
          <a:xfrm>
            <a:off x="1196640" y="4788000"/>
            <a:ext cx="10260000" cy="216000"/>
          </a:xfrm>
          <a:prstGeom prst="rect">
            <a:avLst/>
          </a:prstGeom>
          <a:noFill/>
        </p:spPr>
        <p:txBody>
          <a:bodyPr wrap="square">
            <a:spAutoFit/>
          </a:bodyPr>
          <a:lstStyle/>
          <a:p>
            <a:pPr algn="l"/>
            <a:r>
              <a:rPr sz="919" b="0" i="0">
                <a:solidFill>
                  <a:srgbClr val="C9D6EA"/>
                </a:solidFill>
                <a:latin typeface="Outfit"/>
              </a:rPr>
              <a:t>Belief: Neighboring states have separate weather. Fact: 65% of regions share monsoon patterns; weather is a shared system.</a:t>
            </a:r>
          </a:p>
        </p:txBody>
      </p:sp>
      <p:sp>
        <p:nvSpPr>
          <p:cNvPr id="34" name="TextBox 33"/>
          <p:cNvSpPr txBox="1"/>
          <p:nvPr/>
        </p:nvSpPr>
        <p:spPr>
          <a:xfrm>
            <a:off x="548640" y="5400000"/>
            <a:ext cx="11094720" cy="216000"/>
          </a:xfrm>
          <a:prstGeom prst="rect">
            <a:avLst/>
          </a:prstGeom>
          <a:noFill/>
        </p:spPr>
        <p:txBody>
          <a:bodyPr wrap="square">
            <a:spAutoFit/>
          </a:bodyPr>
          <a:lstStyle/>
          <a:p>
            <a:pPr algn="l"/>
            <a:r>
              <a:rPr sz="1000" b="0" i="1">
                <a:solidFill>
                  <a:srgbClr val="C9D6EA"/>
                </a:solidFill>
                <a:latin typeface="Outfit"/>
              </a:rPr>
              <a:t>Let's look at each of these six discoveries with its actual graph from our research.</a:t>
            </a:r>
          </a:p>
        </p:txBody>
      </p:sp>
      <p:sp>
        <p:nvSpPr>
          <p:cNvPr id="35" name="Rectangle 34"/>
          <p:cNvSpPr/>
          <p:nvPr/>
        </p:nvSpPr>
        <p:spPr>
          <a:xfrm>
            <a:off x="0" y="6570000"/>
            <a:ext cx="12192000" cy="288000"/>
          </a:xfrm>
          <a:prstGeom prst="rect">
            <a:avLst/>
          </a:prstGeom>
          <a:solidFill>
            <a:srgbClr val="0F2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48640" y="6598800"/>
            <a:ext cx="5760000" cy="216000"/>
          </a:xfrm>
          <a:prstGeom prst="rect">
            <a:avLst/>
          </a:prstGeom>
          <a:noFill/>
        </p:spPr>
        <p:txBody>
          <a:bodyPr wrap="square">
            <a:spAutoFit/>
          </a:bodyPr>
          <a:lstStyle/>
          <a:p>
            <a:pPr algn="l"/>
            <a:r>
              <a:rPr sz="750" b="0" i="0">
                <a:solidFill>
                  <a:srgbClr val="C9D6EA"/>
                </a:solidFill>
                <a:latin typeface="Outfit"/>
              </a:rPr>
              <a:t>VARSA  ·  Final Project Review &amp; Defense  ·  Probability &amp; Statistics (BAMAT207)</a:t>
            </a:r>
          </a:p>
        </p:txBody>
      </p:sp>
      <p:sp>
        <p:nvSpPr>
          <p:cNvPr id="37" name="TextBox 36"/>
          <p:cNvSpPr txBox="1"/>
          <p:nvPr/>
        </p:nvSpPr>
        <p:spPr>
          <a:xfrm>
            <a:off x="10932000" y="6598800"/>
            <a:ext cx="1080000" cy="216000"/>
          </a:xfrm>
          <a:prstGeom prst="rect">
            <a:avLst/>
          </a:prstGeom>
          <a:noFill/>
        </p:spPr>
        <p:txBody>
          <a:bodyPr wrap="square">
            <a:spAutoFit/>
          </a:bodyPr>
          <a:lstStyle/>
          <a:p>
            <a:pPr algn="r"/>
            <a:r>
              <a:rPr sz="750" b="0" i="0">
                <a:solidFill>
                  <a:srgbClr val="C9D6EA"/>
                </a:solidFill>
                <a:latin typeface="Outfit"/>
              </a:rPr>
              <a:t>7 / 20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B1428"/>
        </a:solidFill>
        <a:effectLst/>
      </p:bgPr>
    </p:bg>
    <p:spTree>
      <p:nvGrpSpPr>
        <p:cNvPr id="1" name=""/>
        <p:cNvGrpSpPr/>
        <p:nvPr/>
      </p:nvGrpSpPr>
      <p:grpSpPr/>
      <p:sp>
        <p:nvSpPr>
          <p:cNvPr id="2" name="TextBox 1"/>
          <p:cNvSpPr txBox="1"/>
          <p:nvPr/>
        </p:nvSpPr>
        <p:spPr>
          <a:xfrm>
            <a:off x="548640" y="244800"/>
            <a:ext cx="11094720" cy="827999"/>
          </a:xfrm>
          <a:prstGeom prst="rect">
            <a:avLst/>
          </a:prstGeom>
          <a:noFill/>
        </p:spPr>
        <p:txBody>
          <a:bodyPr wrap="square" tIns="0" bIns="0" lIns="0" rIns="0">
            <a:spAutoFit/>
          </a:bodyPr>
          <a:lstStyle/>
          <a:p>
            <a:pPr>
              <a:spcAft>
                <a:spcPts val="700"/>
              </a:spcAft>
            </a:pPr>
            <a:r>
              <a:rPr sz="800" b="1">
                <a:solidFill>
                  <a:srgbClr val="E0A526"/>
                </a:solidFill>
                <a:latin typeface="Outfit"/>
              </a:rPr>
              <a:t>05  ·  FINDING 1: SEASONALITY</a:t>
            </a:r>
          </a:p>
          <a:p>
            <a:pPr>
              <a:spcBef>
                <a:spcPts val="400"/>
              </a:spcBef>
            </a:pPr>
            <a:r>
              <a:rPr sz="1700" b="1">
                <a:solidFill>
                  <a:srgbClr val="FFFFFF"/>
                </a:solidFill>
                <a:latin typeface="Outfit"/>
              </a:rPr>
              <a:t>The 4-Month Floodgate: 74% of All Rain Falls in Just 120 Days</a:t>
            </a:r>
          </a:p>
          <a:p>
            <a:pPr>
              <a:spcBef>
                <a:spcPts val="300"/>
              </a:spcBef>
            </a:pPr>
            <a:r>
              <a:rPr sz="900" i="1">
                <a:solidFill>
                  <a:srgbClr val="C9D6EA"/>
                </a:solidFill>
                <a:latin typeface="Outfit"/>
              </a:rPr>
              <a:t>Layman translation: India does not have 'rainy days spread out' — it has one giant monsoon window.</a:t>
            </a:r>
          </a:p>
        </p:txBody>
      </p:sp>
      <p:sp>
        <p:nvSpPr>
          <p:cNvPr id="3" name="Rectangle 2"/>
          <p:cNvSpPr/>
          <p:nvPr/>
        </p:nvSpPr>
        <p:spPr>
          <a:xfrm>
            <a:off x="548640" y="1080000"/>
            <a:ext cx="11094720" cy="18000"/>
          </a:xfrm>
          <a:prstGeom prst="rect">
            <a:avLst/>
          </a:prstGeom>
          <a:solidFill>
            <a:srgbClr val="1E35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ig1_seasonality.png"/>
          <p:cNvPicPr>
            <a:picLocks noChangeAspect="1"/>
          </p:cNvPicPr>
          <p:nvPr/>
        </p:nvPicPr>
        <p:blipFill>
          <a:blip r:embed="rId2"/>
          <a:stretch>
            <a:fillRect/>
          </a:stretch>
        </p:blipFill>
        <p:spPr>
          <a:xfrm>
            <a:off x="2586000" y="1188000"/>
            <a:ext cx="7020000" cy="3118770"/>
          </a:xfrm>
          <a:prstGeom prst="rect">
            <a:avLst/>
          </a:prstGeom>
        </p:spPr>
      </p:pic>
      <p:sp>
        <p:nvSpPr>
          <p:cNvPr id="5" name="Rectangle 4"/>
          <p:cNvSpPr/>
          <p:nvPr/>
        </p:nvSpPr>
        <p:spPr>
          <a:xfrm>
            <a:off x="548640" y="4968000"/>
            <a:ext cx="3614240" cy="1296000"/>
          </a:xfrm>
          <a:prstGeom prst="rect">
            <a:avLst/>
          </a:prstGeom>
          <a:solidFill>
            <a:srgbClr val="0F2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74639" y="5047200"/>
            <a:ext cx="3434240" cy="432000"/>
          </a:xfrm>
          <a:prstGeom prst="rect">
            <a:avLst/>
          </a:prstGeom>
          <a:noFill/>
        </p:spPr>
        <p:txBody>
          <a:bodyPr wrap="square">
            <a:spAutoFit/>
          </a:bodyPr>
          <a:lstStyle/>
          <a:p>
            <a:pPr algn="l"/>
            <a:r>
              <a:rPr sz="1800" b="1" i="0">
                <a:solidFill>
                  <a:srgbClr val="FFFFFF"/>
                </a:solidFill>
                <a:latin typeface="Outfit"/>
              </a:rPr>
              <a:t>73.7%</a:t>
            </a:r>
          </a:p>
        </p:txBody>
      </p:sp>
      <p:sp>
        <p:nvSpPr>
          <p:cNvPr id="7" name="TextBox 6"/>
          <p:cNvSpPr txBox="1"/>
          <p:nvPr/>
        </p:nvSpPr>
        <p:spPr>
          <a:xfrm>
            <a:off x="674639" y="5490000"/>
            <a:ext cx="3434240" cy="198000"/>
          </a:xfrm>
          <a:prstGeom prst="rect">
            <a:avLst/>
          </a:prstGeom>
          <a:noFill/>
        </p:spPr>
        <p:txBody>
          <a:bodyPr wrap="square">
            <a:spAutoFit/>
          </a:bodyPr>
          <a:lstStyle/>
          <a:p>
            <a:pPr algn="l"/>
            <a:r>
              <a:rPr sz="850" b="1" i="0">
                <a:solidFill>
                  <a:srgbClr val="E0A526"/>
                </a:solidFill>
                <a:latin typeface="Outfit"/>
              </a:rPr>
              <a:t>Monsoon Share</a:t>
            </a:r>
          </a:p>
        </p:txBody>
      </p:sp>
      <p:sp>
        <p:nvSpPr>
          <p:cNvPr id="8" name="TextBox 7"/>
          <p:cNvSpPr txBox="1"/>
          <p:nvPr/>
        </p:nvSpPr>
        <p:spPr>
          <a:xfrm>
            <a:off x="674639" y="5705999"/>
            <a:ext cx="3434240" cy="540000"/>
          </a:xfrm>
          <a:prstGeom prst="rect">
            <a:avLst/>
          </a:prstGeom>
          <a:noFill/>
        </p:spPr>
        <p:txBody>
          <a:bodyPr wrap="square">
            <a:spAutoFit/>
          </a:bodyPr>
          <a:lstStyle/>
          <a:p>
            <a:pPr algn="l"/>
            <a:r>
              <a:rPr sz="750" b="0" i="0">
                <a:solidFill>
                  <a:srgbClr val="C9D6EA"/>
                </a:solidFill>
                <a:latin typeface="Outfit"/>
              </a:rPr>
              <a:t>882 mm out of 1,197 mm total arrives Jun–Sep</a:t>
            </a:r>
          </a:p>
        </p:txBody>
      </p:sp>
      <p:sp>
        <p:nvSpPr>
          <p:cNvPr id="9" name="Rectangle 8"/>
          <p:cNvSpPr/>
          <p:nvPr/>
        </p:nvSpPr>
        <p:spPr>
          <a:xfrm>
            <a:off x="4288879" y="4968000"/>
            <a:ext cx="3614240" cy="1296000"/>
          </a:xfrm>
          <a:prstGeom prst="rect">
            <a:avLst/>
          </a:prstGeom>
          <a:solidFill>
            <a:srgbClr val="0F2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414878" y="5047200"/>
            <a:ext cx="3434240" cy="432000"/>
          </a:xfrm>
          <a:prstGeom prst="rect">
            <a:avLst/>
          </a:prstGeom>
          <a:noFill/>
        </p:spPr>
        <p:txBody>
          <a:bodyPr wrap="square">
            <a:spAutoFit/>
          </a:bodyPr>
          <a:lstStyle/>
          <a:p>
            <a:pPr algn="l"/>
            <a:r>
              <a:rPr sz="1800" b="1" i="0">
                <a:solidFill>
                  <a:srgbClr val="38BDF8"/>
                </a:solidFill>
                <a:latin typeface="Outfit"/>
              </a:rPr>
              <a:t>68–80%</a:t>
            </a:r>
          </a:p>
        </p:txBody>
      </p:sp>
      <p:sp>
        <p:nvSpPr>
          <p:cNvPr id="11" name="TextBox 10"/>
          <p:cNvSpPr txBox="1"/>
          <p:nvPr/>
        </p:nvSpPr>
        <p:spPr>
          <a:xfrm>
            <a:off x="4414878" y="5490000"/>
            <a:ext cx="3434240" cy="198000"/>
          </a:xfrm>
          <a:prstGeom prst="rect">
            <a:avLst/>
          </a:prstGeom>
          <a:noFill/>
        </p:spPr>
        <p:txBody>
          <a:bodyPr wrap="square">
            <a:spAutoFit/>
          </a:bodyPr>
          <a:lstStyle/>
          <a:p>
            <a:pPr algn="l"/>
            <a:r>
              <a:rPr sz="850" b="1" i="0">
                <a:solidFill>
                  <a:srgbClr val="E0A526"/>
                </a:solidFill>
                <a:latin typeface="Outfit"/>
              </a:rPr>
              <a:t>Every Region</a:t>
            </a:r>
          </a:p>
        </p:txBody>
      </p:sp>
      <p:sp>
        <p:nvSpPr>
          <p:cNvPr id="12" name="TextBox 11"/>
          <p:cNvSpPr txBox="1"/>
          <p:nvPr/>
        </p:nvSpPr>
        <p:spPr>
          <a:xfrm>
            <a:off x="4414878" y="5705999"/>
            <a:ext cx="3434240" cy="540000"/>
          </a:xfrm>
          <a:prstGeom prst="rect">
            <a:avLst/>
          </a:prstGeom>
          <a:noFill/>
        </p:spPr>
        <p:txBody>
          <a:bodyPr wrap="square">
            <a:spAutoFit/>
          </a:bodyPr>
          <a:lstStyle/>
          <a:p>
            <a:pPr algn="l"/>
            <a:r>
              <a:rPr sz="750" b="0" i="0">
                <a:solidFill>
                  <a:srgbClr val="C9D6EA"/>
                </a:solidFill>
                <a:latin typeface="Outfit"/>
              </a:rPr>
              <a:t>Even dry states receive over two-thirds in these 4 months</a:t>
            </a:r>
          </a:p>
        </p:txBody>
      </p:sp>
      <p:sp>
        <p:nvSpPr>
          <p:cNvPr id="13" name="Rectangle 12"/>
          <p:cNvSpPr/>
          <p:nvPr/>
        </p:nvSpPr>
        <p:spPr>
          <a:xfrm>
            <a:off x="8029118" y="4968000"/>
            <a:ext cx="3614240" cy="1296000"/>
          </a:xfrm>
          <a:prstGeom prst="rect">
            <a:avLst/>
          </a:prstGeom>
          <a:solidFill>
            <a:srgbClr val="0F2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155117" y="5047200"/>
            <a:ext cx="3434240" cy="432000"/>
          </a:xfrm>
          <a:prstGeom prst="rect">
            <a:avLst/>
          </a:prstGeom>
          <a:noFill/>
        </p:spPr>
        <p:txBody>
          <a:bodyPr wrap="square">
            <a:spAutoFit/>
          </a:bodyPr>
          <a:lstStyle/>
          <a:p>
            <a:pPr algn="l"/>
            <a:r>
              <a:rPr sz="1800" b="1" i="0">
                <a:solidFill>
                  <a:srgbClr val="22C55E"/>
                </a:solidFill>
                <a:latin typeface="Outfit"/>
              </a:rPr>
              <a:t>51% Variance</a:t>
            </a:r>
          </a:p>
        </p:txBody>
      </p:sp>
      <p:sp>
        <p:nvSpPr>
          <p:cNvPr id="15" name="TextBox 14"/>
          <p:cNvSpPr txBox="1"/>
          <p:nvPr/>
        </p:nvSpPr>
        <p:spPr>
          <a:xfrm>
            <a:off x="8155117" y="5490000"/>
            <a:ext cx="3434240" cy="198000"/>
          </a:xfrm>
          <a:prstGeom prst="rect">
            <a:avLst/>
          </a:prstGeom>
          <a:noFill/>
        </p:spPr>
        <p:txBody>
          <a:bodyPr wrap="square">
            <a:spAutoFit/>
          </a:bodyPr>
          <a:lstStyle/>
          <a:p>
            <a:pPr algn="l"/>
            <a:r>
              <a:rPr sz="850" b="1" i="0">
                <a:solidFill>
                  <a:srgbClr val="E0A526"/>
                </a:solidFill>
                <a:latin typeface="Outfit"/>
              </a:rPr>
              <a:t>Season Explains It</a:t>
            </a:r>
          </a:p>
        </p:txBody>
      </p:sp>
      <p:sp>
        <p:nvSpPr>
          <p:cNvPr id="16" name="TextBox 15"/>
          <p:cNvSpPr txBox="1"/>
          <p:nvPr/>
        </p:nvSpPr>
        <p:spPr>
          <a:xfrm>
            <a:off x="8155117" y="5705999"/>
            <a:ext cx="3434240" cy="540000"/>
          </a:xfrm>
          <a:prstGeom prst="rect">
            <a:avLst/>
          </a:prstGeom>
          <a:noFill/>
        </p:spPr>
        <p:txBody>
          <a:bodyPr wrap="square">
            <a:spAutoFit/>
          </a:bodyPr>
          <a:lstStyle/>
          <a:p>
            <a:pPr algn="l"/>
            <a:r>
              <a:rPr sz="750" b="0" i="0">
                <a:solidFill>
                  <a:srgbClr val="C9D6EA"/>
                </a:solidFill>
                <a:latin typeface="Outfit"/>
              </a:rPr>
              <a:t>Season alone dictates half the rainfall variation in India</a:t>
            </a:r>
          </a:p>
        </p:txBody>
      </p:sp>
      <p:sp>
        <p:nvSpPr>
          <p:cNvPr id="17" name="TextBox 16"/>
          <p:cNvSpPr txBox="1"/>
          <p:nvPr/>
        </p:nvSpPr>
        <p:spPr>
          <a:xfrm>
            <a:off x="548640" y="6336000"/>
            <a:ext cx="11094720" cy="216000"/>
          </a:xfrm>
          <a:prstGeom prst="rect">
            <a:avLst/>
          </a:prstGeom>
          <a:noFill/>
        </p:spPr>
        <p:txBody>
          <a:bodyPr wrap="square">
            <a:spAutoFit/>
          </a:bodyPr>
          <a:lstStyle/>
          <a:p>
            <a:pPr algn="l"/>
            <a:r>
              <a:rPr sz="900" b="0" i="1">
                <a:solidFill>
                  <a:srgbClr val="C9D6EA"/>
                </a:solidFill>
                <a:latin typeface="Outfit"/>
              </a:rPr>
              <a:t>Talking Point: 'No matter which state you live in, India survives on a 120-day window. Water storage must capture 4 months of rain to last 12.'</a:t>
            </a:r>
          </a:p>
        </p:txBody>
      </p:sp>
      <p:sp>
        <p:nvSpPr>
          <p:cNvPr id="18" name="Rectangle 17"/>
          <p:cNvSpPr/>
          <p:nvPr/>
        </p:nvSpPr>
        <p:spPr>
          <a:xfrm>
            <a:off x="0" y="6570000"/>
            <a:ext cx="12192000" cy="288000"/>
          </a:xfrm>
          <a:prstGeom prst="rect">
            <a:avLst/>
          </a:prstGeom>
          <a:solidFill>
            <a:srgbClr val="0F2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6598800"/>
            <a:ext cx="5760000" cy="216000"/>
          </a:xfrm>
          <a:prstGeom prst="rect">
            <a:avLst/>
          </a:prstGeom>
          <a:noFill/>
        </p:spPr>
        <p:txBody>
          <a:bodyPr wrap="square">
            <a:spAutoFit/>
          </a:bodyPr>
          <a:lstStyle/>
          <a:p>
            <a:pPr algn="l"/>
            <a:r>
              <a:rPr sz="750" b="0" i="0">
                <a:solidFill>
                  <a:srgbClr val="C9D6EA"/>
                </a:solidFill>
                <a:latin typeface="Outfit"/>
              </a:rPr>
              <a:t>VARSA  ·  Final Project Review &amp; Defense  ·  Probability &amp; Statistics (BAMAT207)</a:t>
            </a:r>
          </a:p>
        </p:txBody>
      </p:sp>
      <p:sp>
        <p:nvSpPr>
          <p:cNvPr id="20" name="TextBox 19"/>
          <p:cNvSpPr txBox="1"/>
          <p:nvPr/>
        </p:nvSpPr>
        <p:spPr>
          <a:xfrm>
            <a:off x="10932000" y="6598800"/>
            <a:ext cx="1080000" cy="216000"/>
          </a:xfrm>
          <a:prstGeom prst="rect">
            <a:avLst/>
          </a:prstGeom>
          <a:noFill/>
        </p:spPr>
        <p:txBody>
          <a:bodyPr wrap="square">
            <a:spAutoFit/>
          </a:bodyPr>
          <a:lstStyle/>
          <a:p>
            <a:pPr algn="r"/>
            <a:r>
              <a:rPr sz="750" b="0" i="0">
                <a:solidFill>
                  <a:srgbClr val="C9D6EA"/>
                </a:solidFill>
                <a:latin typeface="Outfit"/>
              </a:rPr>
              <a:t>8 / 20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B1428"/>
        </a:solidFill>
        <a:effectLst/>
      </p:bgPr>
    </p:bg>
    <p:spTree>
      <p:nvGrpSpPr>
        <p:cNvPr id="1" name=""/>
        <p:cNvGrpSpPr/>
        <p:nvPr/>
      </p:nvGrpSpPr>
      <p:grpSpPr/>
      <p:sp>
        <p:nvSpPr>
          <p:cNvPr id="2" name="TextBox 1"/>
          <p:cNvSpPr txBox="1"/>
          <p:nvPr/>
        </p:nvSpPr>
        <p:spPr>
          <a:xfrm>
            <a:off x="548640" y="244800"/>
            <a:ext cx="11094720" cy="827999"/>
          </a:xfrm>
          <a:prstGeom prst="rect">
            <a:avLst/>
          </a:prstGeom>
          <a:noFill/>
        </p:spPr>
        <p:txBody>
          <a:bodyPr wrap="square" tIns="0" bIns="0" lIns="0" rIns="0">
            <a:spAutoFit/>
          </a:bodyPr>
          <a:lstStyle/>
          <a:p>
            <a:pPr>
              <a:spcAft>
                <a:spcPts val="700"/>
              </a:spcAft>
            </a:pPr>
            <a:r>
              <a:rPr sz="800" b="1">
                <a:solidFill>
                  <a:srgbClr val="E0A526"/>
                </a:solidFill>
                <a:latin typeface="Outfit"/>
              </a:rPr>
              <a:t>05  ·  FINDING 2: REGIONAL DIVERSITY</a:t>
            </a:r>
          </a:p>
          <a:p>
            <a:pPr>
              <a:spcBef>
                <a:spcPts val="400"/>
              </a:spcBef>
            </a:pPr>
            <a:r>
              <a:rPr sz="1700" b="1">
                <a:solidFill>
                  <a:srgbClr val="FFFFFF"/>
                </a:solidFill>
                <a:latin typeface="Outfit"/>
              </a:rPr>
              <a:t>Two Different Indias: A 24× Difference Between Desert and Coast</a:t>
            </a:r>
          </a:p>
          <a:p>
            <a:pPr>
              <a:spcBef>
                <a:spcPts val="300"/>
              </a:spcBef>
            </a:pPr>
            <a:r>
              <a:rPr sz="900" i="1">
                <a:solidFill>
                  <a:srgbClr val="C9D6EA"/>
                </a:solidFill>
                <a:latin typeface="Outfit"/>
              </a:rPr>
              <a:t>Layman translation: An average of 1,200 mm means nothing when one state gets a desert and another gets a deluge.</a:t>
            </a:r>
          </a:p>
        </p:txBody>
      </p:sp>
      <p:sp>
        <p:nvSpPr>
          <p:cNvPr id="3" name="Rectangle 2"/>
          <p:cNvSpPr/>
          <p:nvPr/>
        </p:nvSpPr>
        <p:spPr>
          <a:xfrm>
            <a:off x="548640" y="1080000"/>
            <a:ext cx="11094720" cy="18000"/>
          </a:xfrm>
          <a:prstGeom prst="rect">
            <a:avLst/>
          </a:prstGeom>
          <a:solidFill>
            <a:srgbClr val="1E35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ig2_regional_variability.png"/>
          <p:cNvPicPr>
            <a:picLocks noChangeAspect="1"/>
          </p:cNvPicPr>
          <p:nvPr/>
        </p:nvPicPr>
        <p:blipFill>
          <a:blip r:embed="rId2"/>
          <a:stretch>
            <a:fillRect/>
          </a:stretch>
        </p:blipFill>
        <p:spPr>
          <a:xfrm>
            <a:off x="2766000" y="1188000"/>
            <a:ext cx="6660000" cy="3261912"/>
          </a:xfrm>
          <a:prstGeom prst="rect">
            <a:avLst/>
          </a:prstGeom>
        </p:spPr>
      </p:pic>
      <p:sp>
        <p:nvSpPr>
          <p:cNvPr id="5" name="Rectangle 4"/>
          <p:cNvSpPr/>
          <p:nvPr/>
        </p:nvSpPr>
        <p:spPr>
          <a:xfrm>
            <a:off x="548640" y="4968000"/>
            <a:ext cx="2679180" cy="1296000"/>
          </a:xfrm>
          <a:prstGeom prst="rect">
            <a:avLst/>
          </a:prstGeom>
          <a:solidFill>
            <a:srgbClr val="0F2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74639" y="5047200"/>
            <a:ext cx="2499180" cy="432000"/>
          </a:xfrm>
          <a:prstGeom prst="rect">
            <a:avLst/>
          </a:prstGeom>
          <a:noFill/>
        </p:spPr>
        <p:txBody>
          <a:bodyPr wrap="square">
            <a:spAutoFit/>
          </a:bodyPr>
          <a:lstStyle/>
          <a:p>
            <a:pPr algn="l"/>
            <a:r>
              <a:rPr sz="1800" b="1" i="0">
                <a:solidFill>
                  <a:srgbClr val="FFFFFF"/>
                </a:solidFill>
                <a:latin typeface="Outfit"/>
              </a:rPr>
              <a:t>24× Range</a:t>
            </a:r>
          </a:p>
        </p:txBody>
      </p:sp>
      <p:sp>
        <p:nvSpPr>
          <p:cNvPr id="7" name="TextBox 6"/>
          <p:cNvSpPr txBox="1"/>
          <p:nvPr/>
        </p:nvSpPr>
        <p:spPr>
          <a:xfrm>
            <a:off x="674639" y="5490000"/>
            <a:ext cx="2499180" cy="198000"/>
          </a:xfrm>
          <a:prstGeom prst="rect">
            <a:avLst/>
          </a:prstGeom>
          <a:noFill/>
        </p:spPr>
        <p:txBody>
          <a:bodyPr wrap="square">
            <a:spAutoFit/>
          </a:bodyPr>
          <a:lstStyle/>
          <a:p>
            <a:pPr algn="l"/>
            <a:r>
              <a:rPr sz="850" b="1" i="0">
                <a:solidFill>
                  <a:srgbClr val="E0A526"/>
                </a:solidFill>
                <a:latin typeface="Outfit"/>
              </a:rPr>
              <a:t>Rainfall Gap</a:t>
            </a:r>
          </a:p>
        </p:txBody>
      </p:sp>
      <p:sp>
        <p:nvSpPr>
          <p:cNvPr id="8" name="TextBox 7"/>
          <p:cNvSpPr txBox="1"/>
          <p:nvPr/>
        </p:nvSpPr>
        <p:spPr>
          <a:xfrm>
            <a:off x="674639" y="5705999"/>
            <a:ext cx="2499180" cy="540000"/>
          </a:xfrm>
          <a:prstGeom prst="rect">
            <a:avLst/>
          </a:prstGeom>
          <a:noFill/>
        </p:spPr>
        <p:txBody>
          <a:bodyPr wrap="square">
            <a:spAutoFit/>
          </a:bodyPr>
          <a:lstStyle/>
          <a:p>
            <a:pPr algn="l"/>
            <a:r>
              <a:rPr sz="750" b="0" i="0">
                <a:solidFill>
                  <a:srgbClr val="C9D6EA"/>
                </a:solidFill>
                <a:latin typeface="Outfit"/>
              </a:rPr>
              <a:t>Ladakh gets 148 mm while Konkan &amp; Goa gets 3,511 mm</a:t>
            </a:r>
          </a:p>
        </p:txBody>
      </p:sp>
      <p:sp>
        <p:nvSpPr>
          <p:cNvPr id="9" name="Rectangle 8"/>
          <p:cNvSpPr/>
          <p:nvPr/>
        </p:nvSpPr>
        <p:spPr>
          <a:xfrm>
            <a:off x="3353819" y="4968000"/>
            <a:ext cx="2679180" cy="1296000"/>
          </a:xfrm>
          <a:prstGeom prst="rect">
            <a:avLst/>
          </a:prstGeom>
          <a:solidFill>
            <a:srgbClr val="0F2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479818" y="5047200"/>
            <a:ext cx="2499180" cy="432000"/>
          </a:xfrm>
          <a:prstGeom prst="rect">
            <a:avLst/>
          </a:prstGeom>
          <a:noFill/>
        </p:spPr>
        <p:txBody>
          <a:bodyPr wrap="square">
            <a:spAutoFit/>
          </a:bodyPr>
          <a:lstStyle/>
          <a:p>
            <a:pPr algn="l"/>
            <a:r>
              <a:rPr sz="1600" b="1" i="0">
                <a:solidFill>
                  <a:srgbClr val="38BDF8"/>
                </a:solidFill>
                <a:latin typeface="Outfit"/>
              </a:rPr>
              <a:t>CV: 14% vs 70%</a:t>
            </a:r>
          </a:p>
        </p:txBody>
      </p:sp>
      <p:sp>
        <p:nvSpPr>
          <p:cNvPr id="11" name="TextBox 10"/>
          <p:cNvSpPr txBox="1"/>
          <p:nvPr/>
        </p:nvSpPr>
        <p:spPr>
          <a:xfrm>
            <a:off x="3479818" y="5490000"/>
            <a:ext cx="2499180" cy="198000"/>
          </a:xfrm>
          <a:prstGeom prst="rect">
            <a:avLst/>
          </a:prstGeom>
          <a:noFill/>
        </p:spPr>
        <p:txBody>
          <a:bodyPr wrap="square">
            <a:spAutoFit/>
          </a:bodyPr>
          <a:lstStyle/>
          <a:p>
            <a:pPr algn="l"/>
            <a:r>
              <a:rPr sz="850" b="1" i="0">
                <a:solidFill>
                  <a:srgbClr val="E0A526"/>
                </a:solidFill>
                <a:latin typeface="Outfit"/>
              </a:rPr>
              <a:t>Reliability Gap</a:t>
            </a:r>
          </a:p>
        </p:txBody>
      </p:sp>
      <p:sp>
        <p:nvSpPr>
          <p:cNvPr id="12" name="TextBox 11"/>
          <p:cNvSpPr txBox="1"/>
          <p:nvPr/>
        </p:nvSpPr>
        <p:spPr>
          <a:xfrm>
            <a:off x="3479818" y="5705999"/>
            <a:ext cx="2499180" cy="540000"/>
          </a:xfrm>
          <a:prstGeom prst="rect">
            <a:avLst/>
          </a:prstGeom>
          <a:noFill/>
        </p:spPr>
        <p:txBody>
          <a:bodyPr wrap="square">
            <a:spAutoFit/>
          </a:bodyPr>
          <a:lstStyle/>
          <a:p>
            <a:pPr algn="l"/>
            <a:r>
              <a:rPr sz="750" b="0" i="0">
                <a:solidFill>
                  <a:srgbClr val="C9D6EA"/>
                </a:solidFill>
                <a:latin typeface="Outfit"/>
              </a:rPr>
              <a:t>Kerala is steady year-to-year; Ladakh is totally erratic</a:t>
            </a:r>
          </a:p>
        </p:txBody>
      </p:sp>
      <p:sp>
        <p:nvSpPr>
          <p:cNvPr id="13" name="Rectangle 12"/>
          <p:cNvSpPr/>
          <p:nvPr/>
        </p:nvSpPr>
        <p:spPr>
          <a:xfrm>
            <a:off x="6158998" y="4968000"/>
            <a:ext cx="2679180" cy="1296000"/>
          </a:xfrm>
          <a:prstGeom prst="rect">
            <a:avLst/>
          </a:prstGeom>
          <a:solidFill>
            <a:srgbClr val="0F2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84997" y="5047200"/>
            <a:ext cx="2499180" cy="432000"/>
          </a:xfrm>
          <a:prstGeom prst="rect">
            <a:avLst/>
          </a:prstGeom>
          <a:noFill/>
        </p:spPr>
        <p:txBody>
          <a:bodyPr wrap="square">
            <a:spAutoFit/>
          </a:bodyPr>
          <a:lstStyle/>
          <a:p>
            <a:pPr algn="l"/>
            <a:r>
              <a:rPr sz="1800" b="1" i="0">
                <a:solidFill>
                  <a:srgbClr val="22C55E"/>
                </a:solidFill>
                <a:latin typeface="Outfit"/>
              </a:rPr>
              <a:t>86% Variance</a:t>
            </a:r>
          </a:p>
        </p:txBody>
      </p:sp>
      <p:sp>
        <p:nvSpPr>
          <p:cNvPr id="15" name="TextBox 14"/>
          <p:cNvSpPr txBox="1"/>
          <p:nvPr/>
        </p:nvSpPr>
        <p:spPr>
          <a:xfrm>
            <a:off x="6284997" y="5490000"/>
            <a:ext cx="2499180" cy="198000"/>
          </a:xfrm>
          <a:prstGeom prst="rect">
            <a:avLst/>
          </a:prstGeom>
          <a:noFill/>
        </p:spPr>
        <p:txBody>
          <a:bodyPr wrap="square">
            <a:spAutoFit/>
          </a:bodyPr>
          <a:lstStyle/>
          <a:p>
            <a:pPr algn="l"/>
            <a:r>
              <a:rPr sz="850" b="1" i="0">
                <a:solidFill>
                  <a:srgbClr val="E0A526"/>
                </a:solidFill>
                <a:latin typeface="Outfit"/>
              </a:rPr>
              <a:t>Geography Is King</a:t>
            </a:r>
          </a:p>
        </p:txBody>
      </p:sp>
      <p:sp>
        <p:nvSpPr>
          <p:cNvPr id="16" name="TextBox 15"/>
          <p:cNvSpPr txBox="1"/>
          <p:nvPr/>
        </p:nvSpPr>
        <p:spPr>
          <a:xfrm>
            <a:off x="6284997" y="5705999"/>
            <a:ext cx="2499180" cy="540000"/>
          </a:xfrm>
          <a:prstGeom prst="rect">
            <a:avLst/>
          </a:prstGeom>
          <a:noFill/>
        </p:spPr>
        <p:txBody>
          <a:bodyPr wrap="square">
            <a:spAutoFit/>
          </a:bodyPr>
          <a:lstStyle/>
          <a:p>
            <a:pPr algn="l"/>
            <a:r>
              <a:rPr sz="750" b="0" i="0">
                <a:solidFill>
                  <a:srgbClr val="C9D6EA"/>
                </a:solidFill>
                <a:latin typeface="Outfit"/>
              </a:rPr>
              <a:t>Location explains 86% of rainfall differences across India</a:t>
            </a:r>
          </a:p>
        </p:txBody>
      </p:sp>
      <p:sp>
        <p:nvSpPr>
          <p:cNvPr id="17" name="Rectangle 16"/>
          <p:cNvSpPr/>
          <p:nvPr/>
        </p:nvSpPr>
        <p:spPr>
          <a:xfrm>
            <a:off x="8964177" y="4968000"/>
            <a:ext cx="2679180" cy="1296000"/>
          </a:xfrm>
          <a:prstGeom prst="rect">
            <a:avLst/>
          </a:prstGeom>
          <a:solidFill>
            <a:srgbClr val="0F2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090176" y="5047200"/>
            <a:ext cx="2499180" cy="432000"/>
          </a:xfrm>
          <a:prstGeom prst="rect">
            <a:avLst/>
          </a:prstGeom>
          <a:noFill/>
        </p:spPr>
        <p:txBody>
          <a:bodyPr wrap="square">
            <a:spAutoFit/>
          </a:bodyPr>
          <a:lstStyle/>
          <a:p>
            <a:pPr algn="l"/>
            <a:r>
              <a:rPr sz="1600" b="1" i="0">
                <a:solidFill>
                  <a:srgbClr val="E0A526"/>
                </a:solidFill>
                <a:latin typeface="Outfit"/>
              </a:rPr>
              <a:t>Unequal Spread</a:t>
            </a:r>
          </a:p>
        </p:txBody>
      </p:sp>
      <p:sp>
        <p:nvSpPr>
          <p:cNvPr id="19" name="TextBox 18"/>
          <p:cNvSpPr txBox="1"/>
          <p:nvPr/>
        </p:nvSpPr>
        <p:spPr>
          <a:xfrm>
            <a:off x="9090176" y="5490000"/>
            <a:ext cx="2499180" cy="198000"/>
          </a:xfrm>
          <a:prstGeom prst="rect">
            <a:avLst/>
          </a:prstGeom>
          <a:noFill/>
        </p:spPr>
        <p:txBody>
          <a:bodyPr wrap="square">
            <a:spAutoFit/>
          </a:bodyPr>
          <a:lstStyle/>
          <a:p>
            <a:pPr algn="l"/>
            <a:r>
              <a:rPr sz="850" b="1" i="0">
                <a:solidFill>
                  <a:srgbClr val="E0A526"/>
                </a:solidFill>
                <a:latin typeface="Outfit"/>
              </a:rPr>
              <a:t>Welch ANOVA Test</a:t>
            </a:r>
          </a:p>
        </p:txBody>
      </p:sp>
      <p:sp>
        <p:nvSpPr>
          <p:cNvPr id="20" name="TextBox 19"/>
          <p:cNvSpPr txBox="1"/>
          <p:nvPr/>
        </p:nvSpPr>
        <p:spPr>
          <a:xfrm>
            <a:off x="9090176" y="5705999"/>
            <a:ext cx="2499180" cy="540000"/>
          </a:xfrm>
          <a:prstGeom prst="rect">
            <a:avLst/>
          </a:prstGeom>
          <a:noFill/>
        </p:spPr>
        <p:txBody>
          <a:bodyPr wrap="square">
            <a:spAutoFit/>
          </a:bodyPr>
          <a:lstStyle/>
          <a:p>
            <a:pPr algn="l"/>
            <a:r>
              <a:rPr sz="750" b="0" i="0">
                <a:solidFill>
                  <a:srgbClr val="C9D6EA"/>
                </a:solidFill>
                <a:latin typeface="Outfit"/>
              </a:rPr>
              <a:t>Standard textbook tests fail because states have unequal variance</a:t>
            </a:r>
          </a:p>
        </p:txBody>
      </p:sp>
      <p:sp>
        <p:nvSpPr>
          <p:cNvPr id="21" name="TextBox 20"/>
          <p:cNvSpPr txBox="1"/>
          <p:nvPr/>
        </p:nvSpPr>
        <p:spPr>
          <a:xfrm>
            <a:off x="548640" y="6336000"/>
            <a:ext cx="11094720" cy="216000"/>
          </a:xfrm>
          <a:prstGeom prst="rect">
            <a:avLst/>
          </a:prstGeom>
          <a:noFill/>
        </p:spPr>
        <p:txBody>
          <a:bodyPr wrap="square">
            <a:spAutoFit/>
          </a:bodyPr>
          <a:lstStyle/>
          <a:p>
            <a:pPr algn="l"/>
            <a:r>
              <a:rPr sz="900" b="0" i="1">
                <a:solidFill>
                  <a:srgbClr val="C9D6EA"/>
                </a:solidFill>
                <a:latin typeface="Outfit"/>
              </a:rPr>
              <a:t>Talking Point: 'Saying India averages 1,200 mm is like saying a person with their head in an oven and feet in an ice bucket is comfortable.'</a:t>
            </a:r>
          </a:p>
        </p:txBody>
      </p:sp>
      <p:sp>
        <p:nvSpPr>
          <p:cNvPr id="22" name="Rectangle 21"/>
          <p:cNvSpPr/>
          <p:nvPr/>
        </p:nvSpPr>
        <p:spPr>
          <a:xfrm>
            <a:off x="0" y="6570000"/>
            <a:ext cx="12192000" cy="288000"/>
          </a:xfrm>
          <a:prstGeom prst="rect">
            <a:avLst/>
          </a:prstGeom>
          <a:solidFill>
            <a:srgbClr val="0F2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48640" y="6598800"/>
            <a:ext cx="5760000" cy="216000"/>
          </a:xfrm>
          <a:prstGeom prst="rect">
            <a:avLst/>
          </a:prstGeom>
          <a:noFill/>
        </p:spPr>
        <p:txBody>
          <a:bodyPr wrap="square">
            <a:spAutoFit/>
          </a:bodyPr>
          <a:lstStyle/>
          <a:p>
            <a:pPr algn="l"/>
            <a:r>
              <a:rPr sz="750" b="0" i="0">
                <a:solidFill>
                  <a:srgbClr val="C9D6EA"/>
                </a:solidFill>
                <a:latin typeface="Outfit"/>
              </a:rPr>
              <a:t>VARSA  ·  Final Project Review &amp; Defense  ·  Probability &amp; Statistics (BAMAT207)</a:t>
            </a:r>
          </a:p>
        </p:txBody>
      </p:sp>
      <p:sp>
        <p:nvSpPr>
          <p:cNvPr id="24" name="TextBox 23"/>
          <p:cNvSpPr txBox="1"/>
          <p:nvPr/>
        </p:nvSpPr>
        <p:spPr>
          <a:xfrm>
            <a:off x="10932000" y="6598800"/>
            <a:ext cx="1080000" cy="216000"/>
          </a:xfrm>
          <a:prstGeom prst="rect">
            <a:avLst/>
          </a:prstGeom>
          <a:noFill/>
        </p:spPr>
        <p:txBody>
          <a:bodyPr wrap="square">
            <a:spAutoFit/>
          </a:bodyPr>
          <a:lstStyle/>
          <a:p>
            <a:pPr algn="r"/>
            <a:r>
              <a:rPr sz="750" b="0" i="0">
                <a:solidFill>
                  <a:srgbClr val="C9D6EA"/>
                </a:solidFill>
                <a:latin typeface="Outfit"/>
              </a:rPr>
              <a:t>9 / 20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B1428"/>
        </a:solidFill>
        <a:effectLst/>
      </p:bgPr>
    </p:bg>
    <p:spTree>
      <p:nvGrpSpPr>
        <p:cNvPr id="1" name=""/>
        <p:cNvGrpSpPr/>
        <p:nvPr/>
      </p:nvGrpSpPr>
      <p:grpSpPr/>
      <p:sp>
        <p:nvSpPr>
          <p:cNvPr id="2" name="TextBox 1"/>
          <p:cNvSpPr txBox="1"/>
          <p:nvPr/>
        </p:nvSpPr>
        <p:spPr>
          <a:xfrm>
            <a:off x="548640" y="244800"/>
            <a:ext cx="11094720" cy="827999"/>
          </a:xfrm>
          <a:prstGeom prst="rect">
            <a:avLst/>
          </a:prstGeom>
          <a:noFill/>
        </p:spPr>
        <p:txBody>
          <a:bodyPr wrap="square" tIns="0" bIns="0" lIns="0" rIns="0">
            <a:spAutoFit/>
          </a:bodyPr>
          <a:lstStyle/>
          <a:p>
            <a:pPr>
              <a:spcAft>
                <a:spcPts val="700"/>
              </a:spcAft>
            </a:pPr>
            <a:r>
              <a:rPr sz="800" b="1">
                <a:solidFill>
                  <a:srgbClr val="E0A526"/>
                </a:solidFill>
                <a:latin typeface="Outfit"/>
              </a:rPr>
              <a:t>05  ·  FINDING 3: DISTRIBUTION FITTING</a:t>
            </a:r>
          </a:p>
          <a:p>
            <a:pPr>
              <a:spcBef>
                <a:spcPts val="400"/>
              </a:spcBef>
            </a:pPr>
            <a:r>
              <a:rPr sz="1700" b="1">
                <a:solidFill>
                  <a:srgbClr val="FFFFFF"/>
                </a:solidFill>
                <a:latin typeface="Outfit"/>
              </a:rPr>
              <a:t>The Bell Curve Trap: Why a Single 'Normal' Curve Misleads</a:t>
            </a:r>
          </a:p>
          <a:p>
            <a:pPr>
              <a:spcBef>
                <a:spcPts val="300"/>
              </a:spcBef>
            </a:pPr>
            <a:r>
              <a:rPr sz="900" i="1">
                <a:solidFill>
                  <a:srgbClr val="C9D6EA"/>
                </a:solidFill>
                <a:latin typeface="Outfit"/>
              </a:rPr>
              <a:t>Layman translation: India has too many dry regions and extreme wet spots to force into a single symmetric curve.</a:t>
            </a:r>
          </a:p>
        </p:txBody>
      </p:sp>
      <p:sp>
        <p:nvSpPr>
          <p:cNvPr id="3" name="Rectangle 2"/>
          <p:cNvSpPr/>
          <p:nvPr/>
        </p:nvSpPr>
        <p:spPr>
          <a:xfrm>
            <a:off x="548640" y="1080000"/>
            <a:ext cx="11094720" cy="18000"/>
          </a:xfrm>
          <a:prstGeom prst="rect">
            <a:avLst/>
          </a:prstGeom>
          <a:solidFill>
            <a:srgbClr val="1E35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ig4_distribution_fits.png"/>
          <p:cNvPicPr>
            <a:picLocks noChangeAspect="1"/>
          </p:cNvPicPr>
          <p:nvPr/>
        </p:nvPicPr>
        <p:blipFill>
          <a:blip r:embed="rId2"/>
          <a:stretch>
            <a:fillRect/>
          </a:stretch>
        </p:blipFill>
        <p:spPr>
          <a:xfrm>
            <a:off x="2586000" y="1188000"/>
            <a:ext cx="7020000" cy="3118770"/>
          </a:xfrm>
          <a:prstGeom prst="rect">
            <a:avLst/>
          </a:prstGeom>
        </p:spPr>
      </p:pic>
      <p:sp>
        <p:nvSpPr>
          <p:cNvPr id="5" name="Rectangle 4"/>
          <p:cNvSpPr/>
          <p:nvPr/>
        </p:nvSpPr>
        <p:spPr>
          <a:xfrm>
            <a:off x="548640" y="4968000"/>
            <a:ext cx="3614240" cy="1296000"/>
          </a:xfrm>
          <a:prstGeom prst="rect">
            <a:avLst/>
          </a:prstGeom>
          <a:solidFill>
            <a:srgbClr val="0F2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74639" y="5047200"/>
            <a:ext cx="3434240" cy="432000"/>
          </a:xfrm>
          <a:prstGeom prst="rect">
            <a:avLst/>
          </a:prstGeom>
          <a:noFill/>
        </p:spPr>
        <p:txBody>
          <a:bodyPr wrap="square">
            <a:spAutoFit/>
          </a:bodyPr>
          <a:lstStyle/>
          <a:p>
            <a:pPr algn="l"/>
            <a:r>
              <a:rPr sz="1600" b="1" i="0">
                <a:solidFill>
                  <a:srgbClr val="F87171"/>
                </a:solidFill>
                <a:latin typeface="Outfit"/>
              </a:rPr>
              <a:t>Bell Curve Fails</a:t>
            </a:r>
          </a:p>
        </p:txBody>
      </p:sp>
      <p:sp>
        <p:nvSpPr>
          <p:cNvPr id="7" name="TextBox 6"/>
          <p:cNvSpPr txBox="1"/>
          <p:nvPr/>
        </p:nvSpPr>
        <p:spPr>
          <a:xfrm>
            <a:off x="674639" y="5490000"/>
            <a:ext cx="3434240" cy="198000"/>
          </a:xfrm>
          <a:prstGeom prst="rect">
            <a:avLst/>
          </a:prstGeom>
          <a:noFill/>
        </p:spPr>
        <p:txBody>
          <a:bodyPr wrap="square">
            <a:spAutoFit/>
          </a:bodyPr>
          <a:lstStyle/>
          <a:p>
            <a:pPr algn="l"/>
            <a:r>
              <a:rPr sz="850" b="1" i="0">
                <a:solidFill>
                  <a:srgbClr val="E0A526"/>
                </a:solidFill>
                <a:latin typeface="Outfit"/>
              </a:rPr>
              <a:t>Normal Rejected</a:t>
            </a:r>
          </a:p>
        </p:txBody>
      </p:sp>
      <p:sp>
        <p:nvSpPr>
          <p:cNvPr id="8" name="TextBox 7"/>
          <p:cNvSpPr txBox="1"/>
          <p:nvPr/>
        </p:nvSpPr>
        <p:spPr>
          <a:xfrm>
            <a:off x="674639" y="5705999"/>
            <a:ext cx="3434240" cy="540000"/>
          </a:xfrm>
          <a:prstGeom prst="rect">
            <a:avLst/>
          </a:prstGeom>
          <a:noFill/>
        </p:spPr>
        <p:txBody>
          <a:bodyPr wrap="square">
            <a:spAutoFit/>
          </a:bodyPr>
          <a:lstStyle/>
          <a:p>
            <a:pPr algn="l"/>
            <a:r>
              <a:rPr sz="750" b="0" i="0">
                <a:solidFill>
                  <a:srgbClr val="C9D6EA"/>
                </a:solidFill>
                <a:latin typeface="Outfit"/>
              </a:rPr>
              <a:t>A simple symmetric bell curve fails the data decisively (p ≈ 10⁻⁵⁵)</a:t>
            </a:r>
          </a:p>
        </p:txBody>
      </p:sp>
      <p:sp>
        <p:nvSpPr>
          <p:cNvPr id="9" name="Rectangle 8"/>
          <p:cNvSpPr/>
          <p:nvPr/>
        </p:nvSpPr>
        <p:spPr>
          <a:xfrm>
            <a:off x="4288879" y="4968000"/>
            <a:ext cx="3614240" cy="1296000"/>
          </a:xfrm>
          <a:prstGeom prst="rect">
            <a:avLst/>
          </a:prstGeom>
          <a:solidFill>
            <a:srgbClr val="0F2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414878" y="5047200"/>
            <a:ext cx="3434240" cy="432000"/>
          </a:xfrm>
          <a:prstGeom prst="rect">
            <a:avLst/>
          </a:prstGeom>
          <a:noFill/>
        </p:spPr>
        <p:txBody>
          <a:bodyPr wrap="square">
            <a:spAutoFit/>
          </a:bodyPr>
          <a:lstStyle/>
          <a:p>
            <a:pPr algn="l"/>
            <a:r>
              <a:rPr sz="1600" b="1" i="0">
                <a:solidFill>
                  <a:srgbClr val="22C55E"/>
                </a:solidFill>
                <a:latin typeface="Outfit"/>
              </a:rPr>
              <a:t>Lognormal Wins</a:t>
            </a:r>
          </a:p>
        </p:txBody>
      </p:sp>
      <p:sp>
        <p:nvSpPr>
          <p:cNvPr id="11" name="TextBox 10"/>
          <p:cNvSpPr txBox="1"/>
          <p:nvPr/>
        </p:nvSpPr>
        <p:spPr>
          <a:xfrm>
            <a:off x="4414878" y="5490000"/>
            <a:ext cx="3434240" cy="198000"/>
          </a:xfrm>
          <a:prstGeom prst="rect">
            <a:avLst/>
          </a:prstGeom>
          <a:noFill/>
        </p:spPr>
        <p:txBody>
          <a:bodyPr wrap="square">
            <a:spAutoFit/>
          </a:bodyPr>
          <a:lstStyle/>
          <a:p>
            <a:pPr algn="l"/>
            <a:r>
              <a:rPr sz="850" b="1" i="0">
                <a:solidFill>
                  <a:srgbClr val="E0A526"/>
                </a:solidFill>
                <a:latin typeface="Outfit"/>
              </a:rPr>
              <a:t>Best Heavy-Tail Fit</a:t>
            </a:r>
          </a:p>
        </p:txBody>
      </p:sp>
      <p:sp>
        <p:nvSpPr>
          <p:cNvPr id="12" name="TextBox 11"/>
          <p:cNvSpPr txBox="1"/>
          <p:nvPr/>
        </p:nvSpPr>
        <p:spPr>
          <a:xfrm>
            <a:off x="4414878" y="5705999"/>
            <a:ext cx="3434240" cy="540000"/>
          </a:xfrm>
          <a:prstGeom prst="rect">
            <a:avLst/>
          </a:prstGeom>
          <a:noFill/>
        </p:spPr>
        <p:txBody>
          <a:bodyPr wrap="square">
            <a:spAutoFit/>
          </a:bodyPr>
          <a:lstStyle/>
          <a:p>
            <a:pPr algn="l"/>
            <a:r>
              <a:rPr sz="750" b="0" i="0">
                <a:solidFill>
                  <a:srgbClr val="C9D6EA"/>
                </a:solidFill>
                <a:latin typeface="Outfit"/>
              </a:rPr>
              <a:t>Lognormal &amp; Gamma curves accurately capture rare heavy-rain years</a:t>
            </a:r>
          </a:p>
        </p:txBody>
      </p:sp>
      <p:sp>
        <p:nvSpPr>
          <p:cNvPr id="13" name="Rectangle 12"/>
          <p:cNvSpPr/>
          <p:nvPr/>
        </p:nvSpPr>
        <p:spPr>
          <a:xfrm>
            <a:off x="8029118" y="4968000"/>
            <a:ext cx="3614240" cy="1296000"/>
          </a:xfrm>
          <a:prstGeom prst="rect">
            <a:avLst/>
          </a:prstGeom>
          <a:solidFill>
            <a:srgbClr val="0F2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155117" y="5047200"/>
            <a:ext cx="3434240" cy="432000"/>
          </a:xfrm>
          <a:prstGeom prst="rect">
            <a:avLst/>
          </a:prstGeom>
          <a:noFill/>
        </p:spPr>
        <p:txBody>
          <a:bodyPr wrap="square">
            <a:spAutoFit/>
          </a:bodyPr>
          <a:lstStyle/>
          <a:p>
            <a:pPr algn="l"/>
            <a:r>
              <a:rPr sz="1600" b="1" i="0">
                <a:solidFill>
                  <a:srgbClr val="E0A526"/>
                </a:solidFill>
                <a:latin typeface="Outfit"/>
              </a:rPr>
              <a:t>States Are Normal</a:t>
            </a:r>
          </a:p>
        </p:txBody>
      </p:sp>
      <p:sp>
        <p:nvSpPr>
          <p:cNvPr id="15" name="TextBox 14"/>
          <p:cNvSpPr txBox="1"/>
          <p:nvPr/>
        </p:nvSpPr>
        <p:spPr>
          <a:xfrm>
            <a:off x="8155117" y="5490000"/>
            <a:ext cx="3434240" cy="198000"/>
          </a:xfrm>
          <a:prstGeom prst="rect">
            <a:avLst/>
          </a:prstGeom>
          <a:noFill/>
        </p:spPr>
        <p:txBody>
          <a:bodyPr wrap="square">
            <a:spAutoFit/>
          </a:bodyPr>
          <a:lstStyle/>
          <a:p>
            <a:pPr algn="l"/>
            <a:r>
              <a:rPr sz="850" b="1" i="0">
                <a:solidFill>
                  <a:srgbClr val="E0A526"/>
                </a:solidFill>
                <a:latin typeface="Outfit"/>
              </a:rPr>
              <a:t>Within Each Division</a:t>
            </a:r>
          </a:p>
        </p:txBody>
      </p:sp>
      <p:sp>
        <p:nvSpPr>
          <p:cNvPr id="16" name="TextBox 15"/>
          <p:cNvSpPr txBox="1"/>
          <p:nvPr/>
        </p:nvSpPr>
        <p:spPr>
          <a:xfrm>
            <a:off x="8155117" y="5705999"/>
            <a:ext cx="3434240" cy="540000"/>
          </a:xfrm>
          <a:prstGeom prst="rect">
            <a:avLst/>
          </a:prstGeom>
          <a:noFill/>
        </p:spPr>
        <p:txBody>
          <a:bodyPr wrap="square">
            <a:spAutoFit/>
          </a:bodyPr>
          <a:lstStyle/>
          <a:p>
            <a:pPr algn="l"/>
            <a:r>
              <a:rPr sz="750" b="0" i="0">
                <a:solidFill>
                  <a:srgbClr val="C9D6EA"/>
                </a:solidFill>
                <a:latin typeface="Outfit"/>
              </a:rPr>
              <a:t>Inside a single state, annual totals follow a normal curve</a:t>
            </a:r>
          </a:p>
        </p:txBody>
      </p:sp>
      <p:sp>
        <p:nvSpPr>
          <p:cNvPr id="17" name="TextBox 16"/>
          <p:cNvSpPr txBox="1"/>
          <p:nvPr/>
        </p:nvSpPr>
        <p:spPr>
          <a:xfrm>
            <a:off x="548640" y="6336000"/>
            <a:ext cx="11094720" cy="216000"/>
          </a:xfrm>
          <a:prstGeom prst="rect">
            <a:avLst/>
          </a:prstGeom>
          <a:noFill/>
        </p:spPr>
        <p:txBody>
          <a:bodyPr wrap="square">
            <a:spAutoFit/>
          </a:bodyPr>
          <a:lstStyle/>
          <a:p>
            <a:pPr algn="l"/>
            <a:r>
              <a:rPr sz="900" b="0" i="1">
                <a:solidFill>
                  <a:srgbClr val="C9D6EA"/>
                </a:solidFill>
                <a:latin typeface="Outfit"/>
              </a:rPr>
              <a:t>Talking Point: 'When pooling all of India, heavy monsoon surges stretch the curve to the right. We must use Lognormal models for national risk.'</a:t>
            </a:r>
          </a:p>
        </p:txBody>
      </p:sp>
      <p:sp>
        <p:nvSpPr>
          <p:cNvPr id="18" name="Rectangle 17"/>
          <p:cNvSpPr/>
          <p:nvPr/>
        </p:nvSpPr>
        <p:spPr>
          <a:xfrm>
            <a:off x="0" y="6570000"/>
            <a:ext cx="12192000" cy="288000"/>
          </a:xfrm>
          <a:prstGeom prst="rect">
            <a:avLst/>
          </a:prstGeom>
          <a:solidFill>
            <a:srgbClr val="0F2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6598800"/>
            <a:ext cx="5760000" cy="216000"/>
          </a:xfrm>
          <a:prstGeom prst="rect">
            <a:avLst/>
          </a:prstGeom>
          <a:noFill/>
        </p:spPr>
        <p:txBody>
          <a:bodyPr wrap="square">
            <a:spAutoFit/>
          </a:bodyPr>
          <a:lstStyle/>
          <a:p>
            <a:pPr algn="l"/>
            <a:r>
              <a:rPr sz="750" b="0" i="0">
                <a:solidFill>
                  <a:srgbClr val="C9D6EA"/>
                </a:solidFill>
                <a:latin typeface="Outfit"/>
              </a:rPr>
              <a:t>VARSA  ·  Final Project Review &amp; Defense  ·  Probability &amp; Statistics (BAMAT207)</a:t>
            </a:r>
          </a:p>
        </p:txBody>
      </p:sp>
      <p:sp>
        <p:nvSpPr>
          <p:cNvPr id="20" name="TextBox 19"/>
          <p:cNvSpPr txBox="1"/>
          <p:nvPr/>
        </p:nvSpPr>
        <p:spPr>
          <a:xfrm>
            <a:off x="10932000" y="6598800"/>
            <a:ext cx="1080000" cy="216000"/>
          </a:xfrm>
          <a:prstGeom prst="rect">
            <a:avLst/>
          </a:prstGeom>
          <a:noFill/>
        </p:spPr>
        <p:txBody>
          <a:bodyPr wrap="square">
            <a:spAutoFit/>
          </a:bodyPr>
          <a:lstStyle/>
          <a:p>
            <a:pPr algn="r"/>
            <a:r>
              <a:rPr sz="750" b="0" i="0">
                <a:solidFill>
                  <a:srgbClr val="C9D6EA"/>
                </a:solidFill>
                <a:latin typeface="Outfit"/>
              </a:rPr>
              <a:t>10 / 20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B1428"/>
        </a:solidFill>
        <a:effectLst/>
      </p:bgPr>
    </p:bg>
    <p:spTree>
      <p:nvGrpSpPr>
        <p:cNvPr id="1" name=""/>
        <p:cNvGrpSpPr/>
        <p:nvPr/>
      </p:nvGrpSpPr>
      <p:grpSpPr/>
      <p:sp>
        <p:nvSpPr>
          <p:cNvPr id="2" name="TextBox 1"/>
          <p:cNvSpPr txBox="1"/>
          <p:nvPr/>
        </p:nvSpPr>
        <p:spPr>
          <a:xfrm>
            <a:off x="548640" y="244800"/>
            <a:ext cx="11094720" cy="827999"/>
          </a:xfrm>
          <a:prstGeom prst="rect">
            <a:avLst/>
          </a:prstGeom>
          <a:noFill/>
        </p:spPr>
        <p:txBody>
          <a:bodyPr wrap="square" tIns="0" bIns="0" lIns="0" rIns="0">
            <a:spAutoFit/>
          </a:bodyPr>
          <a:lstStyle/>
          <a:p>
            <a:pPr>
              <a:spcAft>
                <a:spcPts val="700"/>
              </a:spcAft>
            </a:pPr>
            <a:r>
              <a:rPr sz="800" b="1">
                <a:solidFill>
                  <a:srgbClr val="E0A526"/>
                </a:solidFill>
                <a:latin typeface="Outfit"/>
              </a:rPr>
              <a:t>05  ·  FINDING 4: TRENDS BUSTED</a:t>
            </a:r>
          </a:p>
          <a:p>
            <a:pPr>
              <a:spcBef>
                <a:spcPts val="400"/>
              </a:spcBef>
            </a:pPr>
            <a:r>
              <a:rPr sz="1700" b="1">
                <a:solidFill>
                  <a:srgbClr val="FFFFFF"/>
                </a:solidFill>
                <a:latin typeface="Outfit"/>
              </a:rPr>
              <a:t>Is India Drying Up? 125 Years of Data Busts the Secular Trend Myth</a:t>
            </a:r>
          </a:p>
          <a:p>
            <a:pPr>
              <a:spcBef>
                <a:spcPts val="300"/>
              </a:spcBef>
            </a:pPr>
            <a:r>
              <a:rPr sz="900" i="1">
                <a:solidFill>
                  <a:srgbClr val="C9D6EA"/>
                </a:solidFill>
                <a:latin typeface="Outfit"/>
              </a:rPr>
              <a:t>Layman translation: Random chance can make a few states look like they are drying up, but strict math proves long-term stability.</a:t>
            </a:r>
          </a:p>
        </p:txBody>
      </p:sp>
      <p:sp>
        <p:nvSpPr>
          <p:cNvPr id="3" name="Rectangle 2"/>
          <p:cNvSpPr/>
          <p:nvPr/>
        </p:nvSpPr>
        <p:spPr>
          <a:xfrm>
            <a:off x="548640" y="1080000"/>
            <a:ext cx="11094720" cy="18000"/>
          </a:xfrm>
          <a:prstGeom prst="rect">
            <a:avLst/>
          </a:prstGeom>
          <a:solidFill>
            <a:srgbClr val="1E35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ig5_trends.png"/>
          <p:cNvPicPr>
            <a:picLocks noChangeAspect="1"/>
          </p:cNvPicPr>
          <p:nvPr/>
        </p:nvPicPr>
        <p:blipFill>
          <a:blip r:embed="rId2"/>
          <a:stretch>
            <a:fillRect/>
          </a:stretch>
        </p:blipFill>
        <p:spPr>
          <a:xfrm>
            <a:off x="2586000" y="1188000"/>
            <a:ext cx="7020000" cy="3617647"/>
          </a:xfrm>
          <a:prstGeom prst="rect">
            <a:avLst/>
          </a:prstGeom>
        </p:spPr>
      </p:pic>
      <p:sp>
        <p:nvSpPr>
          <p:cNvPr id="5" name="Rectangle 4"/>
          <p:cNvSpPr/>
          <p:nvPr/>
        </p:nvSpPr>
        <p:spPr>
          <a:xfrm>
            <a:off x="548640" y="4968000"/>
            <a:ext cx="2679180" cy="1296000"/>
          </a:xfrm>
          <a:prstGeom prst="rect">
            <a:avLst/>
          </a:prstGeom>
          <a:solidFill>
            <a:srgbClr val="0F2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74639" y="5047200"/>
            <a:ext cx="2499180" cy="432000"/>
          </a:xfrm>
          <a:prstGeom prst="rect">
            <a:avLst/>
          </a:prstGeom>
          <a:noFill/>
        </p:spPr>
        <p:txBody>
          <a:bodyPr wrap="square">
            <a:spAutoFit/>
          </a:bodyPr>
          <a:lstStyle/>
          <a:p>
            <a:pPr algn="l"/>
            <a:r>
              <a:rPr sz="1600" b="1" i="0">
                <a:solidFill>
                  <a:srgbClr val="F87171"/>
                </a:solidFill>
                <a:latin typeface="Outfit"/>
              </a:rPr>
              <a:t>3 → 0 Trends</a:t>
            </a:r>
          </a:p>
        </p:txBody>
      </p:sp>
      <p:sp>
        <p:nvSpPr>
          <p:cNvPr id="7" name="TextBox 6"/>
          <p:cNvSpPr txBox="1"/>
          <p:nvPr/>
        </p:nvSpPr>
        <p:spPr>
          <a:xfrm>
            <a:off x="674639" y="5490000"/>
            <a:ext cx="2499180" cy="198000"/>
          </a:xfrm>
          <a:prstGeom prst="rect">
            <a:avLst/>
          </a:prstGeom>
          <a:noFill/>
        </p:spPr>
        <p:txBody>
          <a:bodyPr wrap="square">
            <a:spAutoFit/>
          </a:bodyPr>
          <a:lstStyle/>
          <a:p>
            <a:pPr algn="l"/>
            <a:r>
              <a:rPr sz="850" b="1" i="0">
                <a:solidFill>
                  <a:srgbClr val="E0A526"/>
                </a:solidFill>
                <a:latin typeface="Outfit"/>
              </a:rPr>
              <a:t>The 'Lucky Dice' Filter</a:t>
            </a:r>
          </a:p>
        </p:txBody>
      </p:sp>
      <p:sp>
        <p:nvSpPr>
          <p:cNvPr id="8" name="TextBox 7"/>
          <p:cNvSpPr txBox="1"/>
          <p:nvPr/>
        </p:nvSpPr>
        <p:spPr>
          <a:xfrm>
            <a:off x="674639" y="5705999"/>
            <a:ext cx="2499180" cy="540000"/>
          </a:xfrm>
          <a:prstGeom prst="rect">
            <a:avLst/>
          </a:prstGeom>
          <a:noFill/>
        </p:spPr>
        <p:txBody>
          <a:bodyPr wrap="square">
            <a:spAutoFit/>
          </a:bodyPr>
          <a:lstStyle/>
          <a:p>
            <a:pPr algn="l"/>
            <a:r>
              <a:rPr sz="750" b="0" i="0">
                <a:solidFill>
                  <a:srgbClr val="C9D6EA"/>
                </a:solidFill>
                <a:latin typeface="Outfit"/>
              </a:rPr>
              <a:t>3 apparent regional trends vanish under multiple-testing correction</a:t>
            </a:r>
          </a:p>
        </p:txBody>
      </p:sp>
      <p:sp>
        <p:nvSpPr>
          <p:cNvPr id="9" name="Rectangle 8"/>
          <p:cNvSpPr/>
          <p:nvPr/>
        </p:nvSpPr>
        <p:spPr>
          <a:xfrm>
            <a:off x="3353819" y="4968000"/>
            <a:ext cx="2679180" cy="1296000"/>
          </a:xfrm>
          <a:prstGeom prst="rect">
            <a:avLst/>
          </a:prstGeom>
          <a:solidFill>
            <a:srgbClr val="0F2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479818" y="5047200"/>
            <a:ext cx="2499180" cy="432000"/>
          </a:xfrm>
          <a:prstGeom prst="rect">
            <a:avLst/>
          </a:prstGeom>
          <a:noFill/>
        </p:spPr>
        <p:txBody>
          <a:bodyPr wrap="square">
            <a:spAutoFit/>
          </a:bodyPr>
          <a:lstStyle/>
          <a:p>
            <a:pPr algn="l"/>
            <a:r>
              <a:rPr sz="1600" b="1" i="0">
                <a:solidFill>
                  <a:srgbClr val="FFFFFF"/>
                </a:solidFill>
                <a:latin typeface="Outfit"/>
              </a:rPr>
              <a:t>-18 mm / Century</a:t>
            </a:r>
          </a:p>
        </p:txBody>
      </p:sp>
      <p:sp>
        <p:nvSpPr>
          <p:cNvPr id="11" name="TextBox 10"/>
          <p:cNvSpPr txBox="1"/>
          <p:nvPr/>
        </p:nvSpPr>
        <p:spPr>
          <a:xfrm>
            <a:off x="3479818" y="5490000"/>
            <a:ext cx="2499180" cy="198000"/>
          </a:xfrm>
          <a:prstGeom prst="rect">
            <a:avLst/>
          </a:prstGeom>
          <a:noFill/>
        </p:spPr>
        <p:txBody>
          <a:bodyPr wrap="square">
            <a:spAutoFit/>
          </a:bodyPr>
          <a:lstStyle/>
          <a:p>
            <a:pPr algn="l"/>
            <a:r>
              <a:rPr sz="850" b="1" i="0">
                <a:solidFill>
                  <a:srgbClr val="E0A526"/>
                </a:solidFill>
                <a:latin typeface="Outfit"/>
              </a:rPr>
              <a:t>Essentially Zero</a:t>
            </a:r>
          </a:p>
        </p:txBody>
      </p:sp>
      <p:sp>
        <p:nvSpPr>
          <p:cNvPr id="12" name="TextBox 11"/>
          <p:cNvSpPr txBox="1"/>
          <p:nvPr/>
        </p:nvSpPr>
        <p:spPr>
          <a:xfrm>
            <a:off x="3479818" y="5705999"/>
            <a:ext cx="2499180" cy="540000"/>
          </a:xfrm>
          <a:prstGeom prst="rect">
            <a:avLst/>
          </a:prstGeom>
          <a:noFill/>
        </p:spPr>
        <p:txBody>
          <a:bodyPr wrap="square">
            <a:spAutoFit/>
          </a:bodyPr>
          <a:lstStyle/>
          <a:p>
            <a:pPr algn="l"/>
            <a:r>
              <a:rPr sz="750" b="0" i="0">
                <a:solidFill>
                  <a:srgbClr val="C9D6EA"/>
                </a:solidFill>
                <a:latin typeface="Outfit"/>
              </a:rPr>
              <a:t>Over 125 years, the national trend line is statistically flat (p = 0.50)</a:t>
            </a:r>
          </a:p>
        </p:txBody>
      </p:sp>
      <p:sp>
        <p:nvSpPr>
          <p:cNvPr id="13" name="Rectangle 12"/>
          <p:cNvSpPr/>
          <p:nvPr/>
        </p:nvSpPr>
        <p:spPr>
          <a:xfrm>
            <a:off x="6158998" y="4968000"/>
            <a:ext cx="2679180" cy="1296000"/>
          </a:xfrm>
          <a:prstGeom prst="rect">
            <a:avLst/>
          </a:prstGeom>
          <a:solidFill>
            <a:srgbClr val="0F2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84997" y="5047200"/>
            <a:ext cx="2499180" cy="432000"/>
          </a:xfrm>
          <a:prstGeom prst="rect">
            <a:avLst/>
          </a:prstGeom>
          <a:noFill/>
        </p:spPr>
        <p:txBody>
          <a:bodyPr wrap="square">
            <a:spAutoFit/>
          </a:bodyPr>
          <a:lstStyle/>
          <a:p>
            <a:pPr algn="l"/>
            <a:r>
              <a:rPr sz="1600" b="1" i="0">
                <a:solidFill>
                  <a:srgbClr val="38BDF8"/>
                </a:solidFill>
                <a:latin typeface="Outfit"/>
              </a:rPr>
              <a:t>36 / 36 Agreement</a:t>
            </a:r>
          </a:p>
        </p:txBody>
      </p:sp>
      <p:sp>
        <p:nvSpPr>
          <p:cNvPr id="15" name="TextBox 14"/>
          <p:cNvSpPr txBox="1"/>
          <p:nvPr/>
        </p:nvSpPr>
        <p:spPr>
          <a:xfrm>
            <a:off x="6284997" y="5490000"/>
            <a:ext cx="2499180" cy="198000"/>
          </a:xfrm>
          <a:prstGeom prst="rect">
            <a:avLst/>
          </a:prstGeom>
          <a:noFill/>
        </p:spPr>
        <p:txBody>
          <a:bodyPr wrap="square">
            <a:spAutoFit/>
          </a:bodyPr>
          <a:lstStyle/>
          <a:p>
            <a:pPr algn="l"/>
            <a:r>
              <a:rPr sz="850" b="1" i="0">
                <a:solidFill>
                  <a:srgbClr val="E0A526"/>
                </a:solidFill>
                <a:latin typeface="Outfit"/>
              </a:rPr>
              <a:t>Double Verification</a:t>
            </a:r>
          </a:p>
        </p:txBody>
      </p:sp>
      <p:sp>
        <p:nvSpPr>
          <p:cNvPr id="16" name="TextBox 15"/>
          <p:cNvSpPr txBox="1"/>
          <p:nvPr/>
        </p:nvSpPr>
        <p:spPr>
          <a:xfrm>
            <a:off x="6284997" y="5705999"/>
            <a:ext cx="2499180" cy="540000"/>
          </a:xfrm>
          <a:prstGeom prst="rect">
            <a:avLst/>
          </a:prstGeom>
          <a:noFill/>
        </p:spPr>
        <p:txBody>
          <a:bodyPr wrap="square">
            <a:spAutoFit/>
          </a:bodyPr>
          <a:lstStyle/>
          <a:p>
            <a:pPr algn="l"/>
            <a:r>
              <a:rPr sz="750" b="0" i="0">
                <a:solidFill>
                  <a:srgbClr val="C9D6EA"/>
                </a:solidFill>
                <a:latin typeface="Outfit"/>
              </a:rPr>
              <a:t>Both linear regression and rank-based tests reach the same verdict</a:t>
            </a:r>
          </a:p>
        </p:txBody>
      </p:sp>
      <p:sp>
        <p:nvSpPr>
          <p:cNvPr id="17" name="Rectangle 16"/>
          <p:cNvSpPr/>
          <p:nvPr/>
        </p:nvSpPr>
        <p:spPr>
          <a:xfrm>
            <a:off x="8964177" y="4968000"/>
            <a:ext cx="2679180" cy="1296000"/>
          </a:xfrm>
          <a:prstGeom prst="rect">
            <a:avLst/>
          </a:prstGeom>
          <a:solidFill>
            <a:srgbClr val="0F2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090176" y="5047200"/>
            <a:ext cx="2499180" cy="432000"/>
          </a:xfrm>
          <a:prstGeom prst="rect">
            <a:avLst/>
          </a:prstGeom>
          <a:noFill/>
        </p:spPr>
        <p:txBody>
          <a:bodyPr wrap="square">
            <a:spAutoFit/>
          </a:bodyPr>
          <a:lstStyle/>
          <a:p>
            <a:pPr algn="l"/>
            <a:r>
              <a:rPr sz="1600" b="1" i="0">
                <a:solidFill>
                  <a:srgbClr val="C9D6EA"/>
                </a:solidFill>
                <a:latin typeface="Outfit"/>
              </a:rPr>
              <a:t>No Decadal Shift</a:t>
            </a:r>
          </a:p>
        </p:txBody>
      </p:sp>
      <p:sp>
        <p:nvSpPr>
          <p:cNvPr id="19" name="TextBox 18"/>
          <p:cNvSpPr txBox="1"/>
          <p:nvPr/>
        </p:nvSpPr>
        <p:spPr>
          <a:xfrm>
            <a:off x="9090176" y="5490000"/>
            <a:ext cx="2499180" cy="198000"/>
          </a:xfrm>
          <a:prstGeom prst="rect">
            <a:avLst/>
          </a:prstGeom>
          <a:noFill/>
        </p:spPr>
        <p:txBody>
          <a:bodyPr wrap="square">
            <a:spAutoFit/>
          </a:bodyPr>
          <a:lstStyle/>
          <a:p>
            <a:pPr algn="l"/>
            <a:r>
              <a:rPr sz="850" b="1" i="0">
                <a:solidFill>
                  <a:srgbClr val="E0A526"/>
                </a:solidFill>
                <a:latin typeface="Outfit"/>
              </a:rPr>
              <a:t>Era Comparison</a:t>
            </a:r>
          </a:p>
        </p:txBody>
      </p:sp>
      <p:sp>
        <p:nvSpPr>
          <p:cNvPr id="20" name="TextBox 19"/>
          <p:cNvSpPr txBox="1"/>
          <p:nvPr/>
        </p:nvSpPr>
        <p:spPr>
          <a:xfrm>
            <a:off x="9090176" y="5705999"/>
            <a:ext cx="2499180" cy="540000"/>
          </a:xfrm>
          <a:prstGeom prst="rect">
            <a:avLst/>
          </a:prstGeom>
          <a:noFill/>
        </p:spPr>
        <p:txBody>
          <a:bodyPr wrap="square">
            <a:spAutoFit/>
          </a:bodyPr>
          <a:lstStyle/>
          <a:p>
            <a:pPr algn="l"/>
            <a:r>
              <a:rPr sz="750" b="0" i="0">
                <a:solidFill>
                  <a:srgbClr val="C9D6EA"/>
                </a:solidFill>
                <a:latin typeface="Outfit"/>
              </a:rPr>
              <a:t>Comparing 1950–1980 vs 1981–2015 shows virtually identical averages</a:t>
            </a:r>
          </a:p>
        </p:txBody>
      </p:sp>
      <p:sp>
        <p:nvSpPr>
          <p:cNvPr id="21" name="TextBox 20"/>
          <p:cNvSpPr txBox="1"/>
          <p:nvPr/>
        </p:nvSpPr>
        <p:spPr>
          <a:xfrm>
            <a:off x="548640" y="6336000"/>
            <a:ext cx="11094720" cy="216000"/>
          </a:xfrm>
          <a:prstGeom prst="rect">
            <a:avLst/>
          </a:prstGeom>
          <a:noFill/>
        </p:spPr>
        <p:txBody>
          <a:bodyPr wrap="square">
            <a:spAutoFit/>
          </a:bodyPr>
          <a:lstStyle/>
          <a:p>
            <a:pPr algn="l"/>
            <a:r>
              <a:rPr sz="900" b="0" i="1">
                <a:solidFill>
                  <a:srgbClr val="C9D6EA"/>
                </a:solidFill>
                <a:latin typeface="Outfit"/>
              </a:rPr>
              <a:t>Talking Point: 'If you roll 36 dice, someone gets a six. When tested with proper false-alarm filters, India is NOT undergoing secular drying.'</a:t>
            </a:r>
          </a:p>
        </p:txBody>
      </p:sp>
      <p:sp>
        <p:nvSpPr>
          <p:cNvPr id="22" name="Rectangle 21"/>
          <p:cNvSpPr/>
          <p:nvPr/>
        </p:nvSpPr>
        <p:spPr>
          <a:xfrm>
            <a:off x="0" y="6570000"/>
            <a:ext cx="12192000" cy="288000"/>
          </a:xfrm>
          <a:prstGeom prst="rect">
            <a:avLst/>
          </a:prstGeom>
          <a:solidFill>
            <a:srgbClr val="0F2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48640" y="6598800"/>
            <a:ext cx="5760000" cy="216000"/>
          </a:xfrm>
          <a:prstGeom prst="rect">
            <a:avLst/>
          </a:prstGeom>
          <a:noFill/>
        </p:spPr>
        <p:txBody>
          <a:bodyPr wrap="square">
            <a:spAutoFit/>
          </a:bodyPr>
          <a:lstStyle/>
          <a:p>
            <a:pPr algn="l"/>
            <a:r>
              <a:rPr sz="750" b="0" i="0">
                <a:solidFill>
                  <a:srgbClr val="C9D6EA"/>
                </a:solidFill>
                <a:latin typeface="Outfit"/>
              </a:rPr>
              <a:t>VARSA  ·  Final Project Review &amp; Defense  ·  Probability &amp; Statistics (BAMAT207)</a:t>
            </a:r>
          </a:p>
        </p:txBody>
      </p:sp>
      <p:sp>
        <p:nvSpPr>
          <p:cNvPr id="24" name="TextBox 23"/>
          <p:cNvSpPr txBox="1"/>
          <p:nvPr/>
        </p:nvSpPr>
        <p:spPr>
          <a:xfrm>
            <a:off x="10932000" y="6598800"/>
            <a:ext cx="1080000" cy="216000"/>
          </a:xfrm>
          <a:prstGeom prst="rect">
            <a:avLst/>
          </a:prstGeom>
          <a:noFill/>
        </p:spPr>
        <p:txBody>
          <a:bodyPr wrap="square">
            <a:spAutoFit/>
          </a:bodyPr>
          <a:lstStyle/>
          <a:p>
            <a:pPr algn="r"/>
            <a:r>
              <a:rPr sz="750" b="0" i="0">
                <a:solidFill>
                  <a:srgbClr val="C9D6EA"/>
                </a:solidFill>
                <a:latin typeface="Outfit"/>
              </a:rPr>
              <a:t>11 / 20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B1428"/>
        </a:solidFill>
        <a:effectLst/>
      </p:bgPr>
    </p:bg>
    <p:spTree>
      <p:nvGrpSpPr>
        <p:cNvPr id="1" name=""/>
        <p:cNvGrpSpPr/>
        <p:nvPr/>
      </p:nvGrpSpPr>
      <p:grpSpPr/>
      <p:sp>
        <p:nvSpPr>
          <p:cNvPr id="2" name="TextBox 1"/>
          <p:cNvSpPr txBox="1"/>
          <p:nvPr/>
        </p:nvSpPr>
        <p:spPr>
          <a:xfrm>
            <a:off x="548640" y="244800"/>
            <a:ext cx="11094720" cy="827999"/>
          </a:xfrm>
          <a:prstGeom prst="rect">
            <a:avLst/>
          </a:prstGeom>
          <a:noFill/>
        </p:spPr>
        <p:txBody>
          <a:bodyPr wrap="square" tIns="0" bIns="0" lIns="0" rIns="0">
            <a:spAutoFit/>
          </a:bodyPr>
          <a:lstStyle/>
          <a:p>
            <a:pPr>
              <a:spcAft>
                <a:spcPts val="700"/>
              </a:spcAft>
            </a:pPr>
            <a:r>
              <a:rPr sz="800" b="1">
                <a:solidFill>
                  <a:srgbClr val="E0A526"/>
                </a:solidFill>
                <a:latin typeface="Outfit"/>
              </a:rPr>
              <a:t>05  ·  FINDING 5: DROUGHT RISK</a:t>
            </a:r>
          </a:p>
          <a:p>
            <a:pPr>
              <a:spcBef>
                <a:spcPts val="400"/>
              </a:spcBef>
            </a:pPr>
            <a:r>
              <a:rPr sz="1700" b="1">
                <a:solidFill>
                  <a:srgbClr val="FFFFFF"/>
                </a:solidFill>
                <a:latin typeface="Outfit"/>
              </a:rPr>
              <a:t>Drought Is Always Local: Severe Deficit Never Covers the Whole Country</a:t>
            </a:r>
          </a:p>
          <a:p>
            <a:pPr>
              <a:spcBef>
                <a:spcPts val="300"/>
              </a:spcBef>
            </a:pPr>
            <a:r>
              <a:rPr sz="900" i="1">
                <a:solidFill>
                  <a:srgbClr val="C9D6EA"/>
                </a:solidFill>
                <a:latin typeface="Outfit"/>
              </a:rPr>
              <a:t>Layman translation: When Rajasthan suffers a harsh drought, southern and eastern India help balance the national grain basket.</a:t>
            </a:r>
          </a:p>
        </p:txBody>
      </p:sp>
      <p:sp>
        <p:nvSpPr>
          <p:cNvPr id="3" name="Rectangle 2"/>
          <p:cNvSpPr/>
          <p:nvPr/>
        </p:nvSpPr>
        <p:spPr>
          <a:xfrm>
            <a:off x="548640" y="1080000"/>
            <a:ext cx="11094720" cy="18000"/>
          </a:xfrm>
          <a:prstGeom prst="rect">
            <a:avLst/>
          </a:prstGeom>
          <a:solidFill>
            <a:srgbClr val="1E35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ig6_drought.png"/>
          <p:cNvPicPr>
            <a:picLocks noChangeAspect="1"/>
          </p:cNvPicPr>
          <p:nvPr/>
        </p:nvPicPr>
        <p:blipFill>
          <a:blip r:embed="rId2"/>
          <a:stretch>
            <a:fillRect/>
          </a:stretch>
        </p:blipFill>
        <p:spPr>
          <a:xfrm>
            <a:off x="2586000" y="1188000"/>
            <a:ext cx="7020000" cy="2851875"/>
          </a:xfrm>
          <a:prstGeom prst="rect">
            <a:avLst/>
          </a:prstGeom>
        </p:spPr>
      </p:pic>
      <p:sp>
        <p:nvSpPr>
          <p:cNvPr id="5" name="Rectangle 4"/>
          <p:cNvSpPr/>
          <p:nvPr/>
        </p:nvSpPr>
        <p:spPr>
          <a:xfrm>
            <a:off x="548640" y="4968000"/>
            <a:ext cx="2679180" cy="1296000"/>
          </a:xfrm>
          <a:prstGeom prst="rect">
            <a:avLst/>
          </a:prstGeom>
          <a:solidFill>
            <a:srgbClr val="0F2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74639" y="5047200"/>
            <a:ext cx="2499180" cy="432000"/>
          </a:xfrm>
          <a:prstGeom prst="rect">
            <a:avLst/>
          </a:prstGeom>
          <a:noFill/>
        </p:spPr>
        <p:txBody>
          <a:bodyPr wrap="square">
            <a:spAutoFit/>
          </a:bodyPr>
          <a:lstStyle/>
          <a:p>
            <a:pPr algn="l"/>
            <a:r>
              <a:rPr sz="1600" b="1" i="0">
                <a:solidFill>
                  <a:srgbClr val="F87171"/>
                </a:solidFill>
                <a:latin typeface="Outfit"/>
              </a:rPr>
              <a:t>15.8% Normal</a:t>
            </a:r>
          </a:p>
        </p:txBody>
      </p:sp>
      <p:sp>
        <p:nvSpPr>
          <p:cNvPr id="7" name="TextBox 6"/>
          <p:cNvSpPr txBox="1"/>
          <p:nvPr/>
        </p:nvSpPr>
        <p:spPr>
          <a:xfrm>
            <a:off x="674639" y="5490000"/>
            <a:ext cx="2499180" cy="198000"/>
          </a:xfrm>
          <a:prstGeom prst="rect">
            <a:avLst/>
          </a:prstGeom>
          <a:noFill/>
        </p:spPr>
        <p:txBody>
          <a:bodyPr wrap="square">
            <a:spAutoFit/>
          </a:bodyPr>
          <a:lstStyle/>
          <a:p>
            <a:pPr algn="l"/>
            <a:r>
              <a:rPr sz="850" b="1" i="0">
                <a:solidFill>
                  <a:srgbClr val="E0A526"/>
                </a:solidFill>
                <a:latin typeface="Outfit"/>
              </a:rPr>
              <a:t>W. Rajasthan Worst</a:t>
            </a:r>
          </a:p>
        </p:txBody>
      </p:sp>
      <p:sp>
        <p:nvSpPr>
          <p:cNvPr id="8" name="TextBox 7"/>
          <p:cNvSpPr txBox="1"/>
          <p:nvPr/>
        </p:nvSpPr>
        <p:spPr>
          <a:xfrm>
            <a:off x="674639" y="5705999"/>
            <a:ext cx="2499180" cy="540000"/>
          </a:xfrm>
          <a:prstGeom prst="rect">
            <a:avLst/>
          </a:prstGeom>
          <a:noFill/>
        </p:spPr>
        <p:txBody>
          <a:bodyPr wrap="square">
            <a:spAutoFit/>
          </a:bodyPr>
          <a:lstStyle/>
          <a:p>
            <a:pPr algn="l"/>
            <a:r>
              <a:rPr sz="750" b="0" i="0">
                <a:solidFill>
                  <a:srgbClr val="C9D6EA"/>
                </a:solidFill>
                <a:latin typeface="Outfit"/>
              </a:rPr>
              <a:t>In a 1-in-20-year drought, desert rain collapses to a tiny 50 mm</a:t>
            </a:r>
          </a:p>
        </p:txBody>
      </p:sp>
      <p:sp>
        <p:nvSpPr>
          <p:cNvPr id="9" name="Rectangle 8"/>
          <p:cNvSpPr/>
          <p:nvPr/>
        </p:nvSpPr>
        <p:spPr>
          <a:xfrm>
            <a:off x="3353819" y="4968000"/>
            <a:ext cx="2679180" cy="1296000"/>
          </a:xfrm>
          <a:prstGeom prst="rect">
            <a:avLst/>
          </a:prstGeom>
          <a:solidFill>
            <a:srgbClr val="0F2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479818" y="5047200"/>
            <a:ext cx="2499180" cy="432000"/>
          </a:xfrm>
          <a:prstGeom prst="rect">
            <a:avLst/>
          </a:prstGeom>
          <a:noFill/>
        </p:spPr>
        <p:txBody>
          <a:bodyPr wrap="square">
            <a:spAutoFit/>
          </a:bodyPr>
          <a:lstStyle/>
          <a:p>
            <a:pPr algn="l"/>
            <a:r>
              <a:rPr sz="1600" b="1" i="0">
                <a:solidFill>
                  <a:srgbClr val="22C55E"/>
                </a:solidFill>
                <a:latin typeface="Outfit"/>
              </a:rPr>
              <a:t>77.8% Normal</a:t>
            </a:r>
          </a:p>
        </p:txBody>
      </p:sp>
      <p:sp>
        <p:nvSpPr>
          <p:cNvPr id="11" name="TextBox 10"/>
          <p:cNvSpPr txBox="1"/>
          <p:nvPr/>
        </p:nvSpPr>
        <p:spPr>
          <a:xfrm>
            <a:off x="3479818" y="5490000"/>
            <a:ext cx="2499180" cy="198000"/>
          </a:xfrm>
          <a:prstGeom prst="rect">
            <a:avLst/>
          </a:prstGeom>
          <a:noFill/>
        </p:spPr>
        <p:txBody>
          <a:bodyPr wrap="square">
            <a:spAutoFit/>
          </a:bodyPr>
          <a:lstStyle/>
          <a:p>
            <a:pPr algn="l"/>
            <a:r>
              <a:rPr sz="850" b="1" i="0">
                <a:solidFill>
                  <a:srgbClr val="E0A526"/>
                </a:solidFill>
                <a:latin typeface="Outfit"/>
              </a:rPr>
              <a:t>Kerala Worst</a:t>
            </a:r>
          </a:p>
        </p:txBody>
      </p:sp>
      <p:sp>
        <p:nvSpPr>
          <p:cNvPr id="12" name="TextBox 11"/>
          <p:cNvSpPr txBox="1"/>
          <p:nvPr/>
        </p:nvSpPr>
        <p:spPr>
          <a:xfrm>
            <a:off x="3479818" y="5705999"/>
            <a:ext cx="2499180" cy="540000"/>
          </a:xfrm>
          <a:prstGeom prst="rect">
            <a:avLst/>
          </a:prstGeom>
          <a:noFill/>
        </p:spPr>
        <p:txBody>
          <a:bodyPr wrap="square">
            <a:spAutoFit/>
          </a:bodyPr>
          <a:lstStyle/>
          <a:p>
            <a:pPr algn="l"/>
            <a:r>
              <a:rPr sz="750" b="0" i="0">
                <a:solidFill>
                  <a:srgbClr val="C9D6EA"/>
                </a:solidFill>
                <a:latin typeface="Outfit"/>
              </a:rPr>
              <a:t>In Kerala, even a 1-in-20-year bad year stays at 78% of normal</a:t>
            </a:r>
          </a:p>
        </p:txBody>
      </p:sp>
      <p:sp>
        <p:nvSpPr>
          <p:cNvPr id="13" name="Rectangle 12"/>
          <p:cNvSpPr/>
          <p:nvPr/>
        </p:nvSpPr>
        <p:spPr>
          <a:xfrm>
            <a:off x="6158998" y="4968000"/>
            <a:ext cx="2679180" cy="1296000"/>
          </a:xfrm>
          <a:prstGeom prst="rect">
            <a:avLst/>
          </a:prstGeom>
          <a:solidFill>
            <a:srgbClr val="0F2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84997" y="5047200"/>
            <a:ext cx="2499180" cy="432000"/>
          </a:xfrm>
          <a:prstGeom prst="rect">
            <a:avLst/>
          </a:prstGeom>
          <a:noFill/>
        </p:spPr>
        <p:txBody>
          <a:bodyPr wrap="square">
            <a:spAutoFit/>
          </a:bodyPr>
          <a:lstStyle/>
          <a:p>
            <a:pPr algn="l"/>
            <a:r>
              <a:rPr sz="1600" b="1" i="0">
                <a:solidFill>
                  <a:srgbClr val="E0A526"/>
                </a:solidFill>
                <a:latin typeface="Outfit"/>
              </a:rPr>
              <a:t>Cyclic Epochs</a:t>
            </a:r>
          </a:p>
        </p:txBody>
      </p:sp>
      <p:sp>
        <p:nvSpPr>
          <p:cNvPr id="15" name="TextBox 14"/>
          <p:cNvSpPr txBox="1"/>
          <p:nvPr/>
        </p:nvSpPr>
        <p:spPr>
          <a:xfrm>
            <a:off x="6284997" y="5490000"/>
            <a:ext cx="2499180" cy="198000"/>
          </a:xfrm>
          <a:prstGeom prst="rect">
            <a:avLst/>
          </a:prstGeom>
          <a:noFill/>
        </p:spPr>
        <p:txBody>
          <a:bodyPr wrap="square">
            <a:spAutoFit/>
          </a:bodyPr>
          <a:lstStyle/>
          <a:p>
            <a:pPr algn="l"/>
            <a:r>
              <a:rPr sz="850" b="1" i="0">
                <a:solidFill>
                  <a:srgbClr val="E0A526"/>
                </a:solidFill>
                <a:latin typeface="Outfit"/>
              </a:rPr>
              <a:t>Clustered Droughts</a:t>
            </a:r>
          </a:p>
        </p:txBody>
      </p:sp>
      <p:sp>
        <p:nvSpPr>
          <p:cNvPr id="16" name="TextBox 15"/>
          <p:cNvSpPr txBox="1"/>
          <p:nvPr/>
        </p:nvSpPr>
        <p:spPr>
          <a:xfrm>
            <a:off x="6284997" y="5705999"/>
            <a:ext cx="2499180" cy="540000"/>
          </a:xfrm>
          <a:prstGeom prst="rect">
            <a:avLst/>
          </a:prstGeom>
          <a:noFill/>
        </p:spPr>
        <p:txBody>
          <a:bodyPr wrap="square">
            <a:spAutoFit/>
          </a:bodyPr>
          <a:lstStyle/>
          <a:p>
            <a:pPr algn="l"/>
            <a:r>
              <a:rPr sz="750" b="0" i="0">
                <a:solidFill>
                  <a:srgbClr val="C9D6EA"/>
                </a:solidFill>
                <a:latin typeface="Outfit"/>
              </a:rPr>
              <a:t>Deficits bunch into historic eras: 1918–29, 1965–72, 1982–87, 2002–09</a:t>
            </a:r>
          </a:p>
        </p:txBody>
      </p:sp>
      <p:sp>
        <p:nvSpPr>
          <p:cNvPr id="17" name="Rectangle 16"/>
          <p:cNvSpPr/>
          <p:nvPr/>
        </p:nvSpPr>
        <p:spPr>
          <a:xfrm>
            <a:off x="8964177" y="4968000"/>
            <a:ext cx="2679180" cy="1296000"/>
          </a:xfrm>
          <a:prstGeom prst="rect">
            <a:avLst/>
          </a:prstGeom>
          <a:solidFill>
            <a:srgbClr val="0F2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090176" y="5047200"/>
            <a:ext cx="2499180" cy="432000"/>
          </a:xfrm>
          <a:prstGeom prst="rect">
            <a:avLst/>
          </a:prstGeom>
          <a:noFill/>
        </p:spPr>
        <p:txBody>
          <a:bodyPr wrap="square">
            <a:spAutoFit/>
          </a:bodyPr>
          <a:lstStyle/>
          <a:p>
            <a:pPr algn="l"/>
            <a:r>
              <a:rPr sz="1600" b="1" i="0">
                <a:solidFill>
                  <a:srgbClr val="FFFFFF"/>
                </a:solidFill>
                <a:latin typeface="Outfit"/>
              </a:rPr>
              <a:t>Zero Pan-India</a:t>
            </a:r>
          </a:p>
        </p:txBody>
      </p:sp>
      <p:sp>
        <p:nvSpPr>
          <p:cNvPr id="19" name="TextBox 18"/>
          <p:cNvSpPr txBox="1"/>
          <p:nvPr/>
        </p:nvSpPr>
        <p:spPr>
          <a:xfrm>
            <a:off x="9090176" y="5490000"/>
            <a:ext cx="2499180" cy="198000"/>
          </a:xfrm>
          <a:prstGeom prst="rect">
            <a:avLst/>
          </a:prstGeom>
          <a:noFill/>
        </p:spPr>
        <p:txBody>
          <a:bodyPr wrap="square">
            <a:spAutoFit/>
          </a:bodyPr>
          <a:lstStyle/>
          <a:p>
            <a:pPr algn="l"/>
            <a:r>
              <a:rPr sz="850" b="1" i="0">
                <a:solidFill>
                  <a:srgbClr val="E0A526"/>
                </a:solidFill>
                <a:latin typeface="Outfit"/>
              </a:rPr>
              <a:t>National Safety</a:t>
            </a:r>
          </a:p>
        </p:txBody>
      </p:sp>
      <p:sp>
        <p:nvSpPr>
          <p:cNvPr id="20" name="TextBox 19"/>
          <p:cNvSpPr txBox="1"/>
          <p:nvPr/>
        </p:nvSpPr>
        <p:spPr>
          <a:xfrm>
            <a:off x="9090176" y="5705999"/>
            <a:ext cx="2499180" cy="540000"/>
          </a:xfrm>
          <a:prstGeom prst="rect">
            <a:avLst/>
          </a:prstGeom>
          <a:noFill/>
        </p:spPr>
        <p:txBody>
          <a:bodyPr wrap="square">
            <a:spAutoFit/>
          </a:bodyPr>
          <a:lstStyle/>
          <a:p>
            <a:pPr algn="l"/>
            <a:r>
              <a:rPr sz="750" b="0" i="0">
                <a:solidFill>
                  <a:srgbClr val="C9D6EA"/>
                </a:solidFill>
                <a:latin typeface="Outfit"/>
              </a:rPr>
              <a:t>There has never been a year where the entire country dropped below 75%</a:t>
            </a:r>
          </a:p>
        </p:txBody>
      </p:sp>
      <p:sp>
        <p:nvSpPr>
          <p:cNvPr id="21" name="TextBox 20"/>
          <p:cNvSpPr txBox="1"/>
          <p:nvPr/>
        </p:nvSpPr>
        <p:spPr>
          <a:xfrm>
            <a:off x="548640" y="6336000"/>
            <a:ext cx="11094720" cy="216000"/>
          </a:xfrm>
          <a:prstGeom prst="rect">
            <a:avLst/>
          </a:prstGeom>
          <a:noFill/>
        </p:spPr>
        <p:txBody>
          <a:bodyPr wrap="square">
            <a:spAutoFit/>
          </a:bodyPr>
          <a:lstStyle/>
          <a:p>
            <a:pPr algn="l"/>
            <a:r>
              <a:rPr sz="900" b="0" i="1">
                <a:solidFill>
                  <a:srgbClr val="C9D6EA"/>
                </a:solidFill>
                <a:latin typeface="Outfit"/>
              </a:rPr>
              <a:t>Talking Point: 'Drought is intense, but geographically contained. India's regional diversity acts as a natural national insurance policy.'</a:t>
            </a:r>
          </a:p>
        </p:txBody>
      </p:sp>
      <p:sp>
        <p:nvSpPr>
          <p:cNvPr id="22" name="Rectangle 21"/>
          <p:cNvSpPr/>
          <p:nvPr/>
        </p:nvSpPr>
        <p:spPr>
          <a:xfrm>
            <a:off x="0" y="6570000"/>
            <a:ext cx="12192000" cy="288000"/>
          </a:xfrm>
          <a:prstGeom prst="rect">
            <a:avLst/>
          </a:prstGeom>
          <a:solidFill>
            <a:srgbClr val="0F2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48640" y="6598800"/>
            <a:ext cx="5760000" cy="216000"/>
          </a:xfrm>
          <a:prstGeom prst="rect">
            <a:avLst/>
          </a:prstGeom>
          <a:noFill/>
        </p:spPr>
        <p:txBody>
          <a:bodyPr wrap="square">
            <a:spAutoFit/>
          </a:bodyPr>
          <a:lstStyle/>
          <a:p>
            <a:pPr algn="l"/>
            <a:r>
              <a:rPr sz="750" b="0" i="0">
                <a:solidFill>
                  <a:srgbClr val="C9D6EA"/>
                </a:solidFill>
                <a:latin typeface="Outfit"/>
              </a:rPr>
              <a:t>VARSA  ·  Final Project Review &amp; Defense  ·  Probability &amp; Statistics (BAMAT207)</a:t>
            </a:r>
          </a:p>
        </p:txBody>
      </p:sp>
      <p:sp>
        <p:nvSpPr>
          <p:cNvPr id="24" name="TextBox 23"/>
          <p:cNvSpPr txBox="1"/>
          <p:nvPr/>
        </p:nvSpPr>
        <p:spPr>
          <a:xfrm>
            <a:off x="10932000" y="6598800"/>
            <a:ext cx="1080000" cy="216000"/>
          </a:xfrm>
          <a:prstGeom prst="rect">
            <a:avLst/>
          </a:prstGeom>
          <a:noFill/>
        </p:spPr>
        <p:txBody>
          <a:bodyPr wrap="square">
            <a:spAutoFit/>
          </a:bodyPr>
          <a:lstStyle/>
          <a:p>
            <a:pPr algn="r"/>
            <a:r>
              <a:rPr sz="750" b="0" i="0">
                <a:solidFill>
                  <a:srgbClr val="C9D6EA"/>
                </a:solidFill>
                <a:latin typeface="Outfit"/>
              </a:rPr>
              <a:t>12 / 20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B1428"/>
        </a:solidFill>
        <a:effectLst/>
      </p:bgPr>
    </p:bg>
    <p:spTree>
      <p:nvGrpSpPr>
        <p:cNvPr id="1" name=""/>
        <p:cNvGrpSpPr/>
        <p:nvPr/>
      </p:nvGrpSpPr>
      <p:grpSpPr/>
      <p:sp>
        <p:nvSpPr>
          <p:cNvPr id="2" name="TextBox 1"/>
          <p:cNvSpPr txBox="1"/>
          <p:nvPr/>
        </p:nvSpPr>
        <p:spPr>
          <a:xfrm>
            <a:off x="548640" y="244800"/>
            <a:ext cx="11094720" cy="827999"/>
          </a:xfrm>
          <a:prstGeom prst="rect">
            <a:avLst/>
          </a:prstGeom>
          <a:noFill/>
        </p:spPr>
        <p:txBody>
          <a:bodyPr wrap="square" tIns="0" bIns="0" lIns="0" rIns="0">
            <a:spAutoFit/>
          </a:bodyPr>
          <a:lstStyle/>
          <a:p>
            <a:pPr>
              <a:spcAft>
                <a:spcPts val="700"/>
              </a:spcAft>
            </a:pPr>
            <a:r>
              <a:rPr sz="800" b="1">
                <a:solidFill>
                  <a:srgbClr val="E0A526"/>
                </a:solidFill>
                <a:latin typeface="Outfit"/>
              </a:rPr>
              <a:t>05  ·  FINDING 6: SHARED SKIES</a:t>
            </a:r>
          </a:p>
          <a:p>
            <a:pPr>
              <a:spcBef>
                <a:spcPts val="400"/>
              </a:spcBef>
            </a:pPr>
            <a:r>
              <a:rPr sz="1700" b="1">
                <a:solidFill>
                  <a:srgbClr val="FFFFFF"/>
                </a:solidFill>
                <a:latin typeface="Outfit"/>
              </a:rPr>
              <a:t>Rain Clouds Don't Respect State Borders: Weather Is Shared</a:t>
            </a:r>
          </a:p>
          <a:p>
            <a:pPr>
              <a:spcBef>
                <a:spcPts val="300"/>
              </a:spcBef>
            </a:pPr>
            <a:r>
              <a:rPr sz="900" i="1">
                <a:solidFill>
                  <a:srgbClr val="C9D6EA"/>
                </a:solidFill>
                <a:latin typeface="Outfit"/>
              </a:rPr>
              <a:t>Layman translation: States do not experience independent weather. Rain depressions travel across multiple states.</a:t>
            </a:r>
          </a:p>
        </p:txBody>
      </p:sp>
      <p:sp>
        <p:nvSpPr>
          <p:cNvPr id="3" name="Rectangle 2"/>
          <p:cNvSpPr/>
          <p:nvPr/>
        </p:nvSpPr>
        <p:spPr>
          <a:xfrm>
            <a:off x="548640" y="1080000"/>
            <a:ext cx="11094720" cy="18000"/>
          </a:xfrm>
          <a:prstGeom prst="rect">
            <a:avLst/>
          </a:prstGeom>
          <a:solidFill>
            <a:srgbClr val="1E35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ig7_correlation_heatmap.png"/>
          <p:cNvPicPr>
            <a:picLocks noChangeAspect="1"/>
          </p:cNvPicPr>
          <p:nvPr/>
        </p:nvPicPr>
        <p:blipFill>
          <a:blip r:embed="rId2"/>
          <a:stretch>
            <a:fillRect/>
          </a:stretch>
        </p:blipFill>
        <p:spPr>
          <a:xfrm>
            <a:off x="576000" y="1188000"/>
            <a:ext cx="4860000" cy="4316101"/>
          </a:xfrm>
          <a:prstGeom prst="rect">
            <a:avLst/>
          </a:prstGeom>
        </p:spPr>
      </p:pic>
      <p:sp>
        <p:nvSpPr>
          <p:cNvPr id="5" name="Rectangle 4"/>
          <p:cNvSpPr/>
          <p:nvPr/>
        </p:nvSpPr>
        <p:spPr>
          <a:xfrm>
            <a:off x="6048000" y="1296000"/>
            <a:ext cx="5544000" cy="1224000"/>
          </a:xfrm>
          <a:prstGeom prst="rect">
            <a:avLst/>
          </a:prstGeom>
          <a:solidFill>
            <a:srgbClr val="0F2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73999" y="1375200"/>
            <a:ext cx="5364000" cy="432000"/>
          </a:xfrm>
          <a:prstGeom prst="rect">
            <a:avLst/>
          </a:prstGeom>
          <a:noFill/>
        </p:spPr>
        <p:txBody>
          <a:bodyPr wrap="square">
            <a:spAutoFit/>
          </a:bodyPr>
          <a:lstStyle/>
          <a:p>
            <a:pPr algn="l"/>
            <a:r>
              <a:rPr sz="1800" b="1" i="0">
                <a:solidFill>
                  <a:srgbClr val="FFFFFF"/>
                </a:solidFill>
                <a:latin typeface="Outfit"/>
              </a:rPr>
              <a:t>Positive Correlation</a:t>
            </a:r>
          </a:p>
        </p:txBody>
      </p:sp>
      <p:sp>
        <p:nvSpPr>
          <p:cNvPr id="7" name="TextBox 6"/>
          <p:cNvSpPr txBox="1"/>
          <p:nvPr/>
        </p:nvSpPr>
        <p:spPr>
          <a:xfrm>
            <a:off x="6173999" y="1818000"/>
            <a:ext cx="5364000" cy="198000"/>
          </a:xfrm>
          <a:prstGeom prst="rect">
            <a:avLst/>
          </a:prstGeom>
          <a:noFill/>
        </p:spPr>
        <p:txBody>
          <a:bodyPr wrap="square">
            <a:spAutoFit/>
          </a:bodyPr>
          <a:lstStyle/>
          <a:p>
            <a:pPr algn="l"/>
            <a:r>
              <a:rPr sz="850" b="1" i="0">
                <a:solidFill>
                  <a:srgbClr val="E0A526"/>
                </a:solidFill>
                <a:latin typeface="Outfit"/>
              </a:rPr>
              <a:t>Shared Rain Systems</a:t>
            </a:r>
          </a:p>
        </p:txBody>
      </p:sp>
      <p:sp>
        <p:nvSpPr>
          <p:cNvPr id="8" name="TextBox 7"/>
          <p:cNvSpPr txBox="1"/>
          <p:nvPr/>
        </p:nvSpPr>
        <p:spPr>
          <a:xfrm>
            <a:off x="6173999" y="2033999"/>
            <a:ext cx="5364000" cy="467999"/>
          </a:xfrm>
          <a:prstGeom prst="rect">
            <a:avLst/>
          </a:prstGeom>
          <a:noFill/>
        </p:spPr>
        <p:txBody>
          <a:bodyPr wrap="square">
            <a:spAutoFit/>
          </a:bodyPr>
          <a:lstStyle/>
          <a:p>
            <a:pPr algn="l"/>
            <a:r>
              <a:rPr sz="750" b="0" i="0">
                <a:solidFill>
                  <a:srgbClr val="C9D6EA"/>
                </a:solidFill>
                <a:latin typeface="Outfit"/>
              </a:rPr>
              <a:t>Neighboring states rise and fall together because monsoon depressions sweep across them.</a:t>
            </a:r>
          </a:p>
        </p:txBody>
      </p:sp>
      <p:sp>
        <p:nvSpPr>
          <p:cNvPr id="9" name="Rectangle 8"/>
          <p:cNvSpPr/>
          <p:nvPr/>
        </p:nvSpPr>
        <p:spPr>
          <a:xfrm>
            <a:off x="6048000" y="2664000"/>
            <a:ext cx="5544000" cy="1224000"/>
          </a:xfrm>
          <a:prstGeom prst="rect">
            <a:avLst/>
          </a:prstGeom>
          <a:solidFill>
            <a:srgbClr val="0F2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173999" y="2743200"/>
            <a:ext cx="5364000" cy="432000"/>
          </a:xfrm>
          <a:prstGeom prst="rect">
            <a:avLst/>
          </a:prstGeom>
          <a:noFill/>
        </p:spPr>
        <p:txBody>
          <a:bodyPr wrap="square">
            <a:spAutoFit/>
          </a:bodyPr>
          <a:lstStyle/>
          <a:p>
            <a:pPr algn="l"/>
            <a:r>
              <a:rPr sz="1800" b="1" i="0">
                <a:solidFill>
                  <a:srgbClr val="E0A526"/>
                </a:solidFill>
                <a:latin typeface="Outfit"/>
              </a:rPr>
              <a:t>65% Connected</a:t>
            </a:r>
          </a:p>
        </p:txBody>
      </p:sp>
      <p:sp>
        <p:nvSpPr>
          <p:cNvPr id="11" name="TextBox 10"/>
          <p:cNvSpPr txBox="1"/>
          <p:nvPr/>
        </p:nvSpPr>
        <p:spPr>
          <a:xfrm>
            <a:off x="6173999" y="3186000"/>
            <a:ext cx="5364000" cy="198000"/>
          </a:xfrm>
          <a:prstGeom prst="rect">
            <a:avLst/>
          </a:prstGeom>
          <a:noFill/>
        </p:spPr>
        <p:txBody>
          <a:bodyPr wrap="square">
            <a:spAutoFit/>
          </a:bodyPr>
          <a:lstStyle/>
          <a:p>
            <a:pPr algn="l"/>
            <a:r>
              <a:rPr sz="850" b="1" i="0">
                <a:solidFill>
                  <a:srgbClr val="E0A526"/>
                </a:solidFill>
                <a:latin typeface="Outfit"/>
              </a:rPr>
              <a:t>Not Independent States</a:t>
            </a:r>
          </a:p>
        </p:txBody>
      </p:sp>
      <p:sp>
        <p:nvSpPr>
          <p:cNvPr id="12" name="TextBox 11"/>
          <p:cNvSpPr txBox="1"/>
          <p:nvPr/>
        </p:nvSpPr>
        <p:spPr>
          <a:xfrm>
            <a:off x="6173999" y="3401999"/>
            <a:ext cx="5364000" cy="467999"/>
          </a:xfrm>
          <a:prstGeom prst="rect">
            <a:avLst/>
          </a:prstGeom>
          <a:noFill/>
        </p:spPr>
        <p:txBody>
          <a:bodyPr wrap="square">
            <a:spAutoFit/>
          </a:bodyPr>
          <a:lstStyle/>
          <a:p>
            <a:pPr algn="l"/>
            <a:r>
              <a:rPr sz="750" b="0" i="0">
                <a:solidFill>
                  <a:srgbClr val="C9D6EA"/>
                </a:solidFill>
                <a:latin typeface="Outfit"/>
              </a:rPr>
              <a:t>65% of region pairs show strong correlation — testing 36 states is NOT 36 independent trials.</a:t>
            </a:r>
          </a:p>
        </p:txBody>
      </p:sp>
      <p:sp>
        <p:nvSpPr>
          <p:cNvPr id="13" name="Rectangle 12"/>
          <p:cNvSpPr/>
          <p:nvPr/>
        </p:nvSpPr>
        <p:spPr>
          <a:xfrm>
            <a:off x="6048000" y="4031999"/>
            <a:ext cx="5544000" cy="1224000"/>
          </a:xfrm>
          <a:prstGeom prst="rect">
            <a:avLst/>
          </a:prstGeom>
          <a:solidFill>
            <a:srgbClr val="0F2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173999" y="4111199"/>
            <a:ext cx="5364000" cy="432000"/>
          </a:xfrm>
          <a:prstGeom prst="rect">
            <a:avLst/>
          </a:prstGeom>
          <a:noFill/>
        </p:spPr>
        <p:txBody>
          <a:bodyPr wrap="square">
            <a:spAutoFit/>
          </a:bodyPr>
          <a:lstStyle/>
          <a:p>
            <a:pPr algn="l"/>
            <a:r>
              <a:rPr sz="1800" b="1" i="0">
                <a:solidFill>
                  <a:srgbClr val="F87171"/>
                </a:solidFill>
                <a:latin typeface="Outfit"/>
              </a:rPr>
              <a:t>Why This Matters</a:t>
            </a:r>
          </a:p>
        </p:txBody>
      </p:sp>
      <p:sp>
        <p:nvSpPr>
          <p:cNvPr id="15" name="TextBox 14"/>
          <p:cNvSpPr txBox="1"/>
          <p:nvPr/>
        </p:nvSpPr>
        <p:spPr>
          <a:xfrm>
            <a:off x="6173999" y="4553999"/>
            <a:ext cx="5364000" cy="198000"/>
          </a:xfrm>
          <a:prstGeom prst="rect">
            <a:avLst/>
          </a:prstGeom>
          <a:noFill/>
        </p:spPr>
        <p:txBody>
          <a:bodyPr wrap="square">
            <a:spAutoFit/>
          </a:bodyPr>
          <a:lstStyle/>
          <a:p>
            <a:pPr algn="l"/>
            <a:r>
              <a:rPr sz="850" b="1" i="0">
                <a:solidFill>
                  <a:srgbClr val="E0A526"/>
                </a:solidFill>
                <a:latin typeface="Outfit"/>
              </a:rPr>
              <a:t>Avoiding Bad Statistics</a:t>
            </a:r>
          </a:p>
        </p:txBody>
      </p:sp>
      <p:sp>
        <p:nvSpPr>
          <p:cNvPr id="16" name="TextBox 15"/>
          <p:cNvSpPr txBox="1"/>
          <p:nvPr/>
        </p:nvSpPr>
        <p:spPr>
          <a:xfrm>
            <a:off x="6173999" y="4769998"/>
            <a:ext cx="5364000" cy="467999"/>
          </a:xfrm>
          <a:prstGeom prst="rect">
            <a:avLst/>
          </a:prstGeom>
          <a:noFill/>
        </p:spPr>
        <p:txBody>
          <a:bodyPr wrap="square">
            <a:spAutoFit/>
          </a:bodyPr>
          <a:lstStyle/>
          <a:p>
            <a:pPr algn="l"/>
            <a:r>
              <a:rPr sz="750" b="0" i="0">
                <a:solidFill>
                  <a:srgbClr val="C9D6EA"/>
                </a:solidFill>
                <a:latin typeface="Outfit"/>
              </a:rPr>
              <a:t>Because states share weather, naive statistical formulas overstate certainty. We accounted for this.</a:t>
            </a:r>
          </a:p>
        </p:txBody>
      </p:sp>
      <p:sp>
        <p:nvSpPr>
          <p:cNvPr id="17" name="TextBox 16"/>
          <p:cNvSpPr txBox="1"/>
          <p:nvPr/>
        </p:nvSpPr>
        <p:spPr>
          <a:xfrm>
            <a:off x="6048000" y="5616000"/>
            <a:ext cx="5544000" cy="648000"/>
          </a:xfrm>
          <a:prstGeom prst="rect">
            <a:avLst/>
          </a:prstGeom>
          <a:noFill/>
        </p:spPr>
        <p:txBody>
          <a:bodyPr wrap="square">
            <a:spAutoFit/>
          </a:bodyPr>
          <a:lstStyle/>
          <a:p>
            <a:pPr algn="l"/>
            <a:r>
              <a:rPr sz="950" b="1" i="0">
                <a:solidFill>
                  <a:srgbClr val="E0A526"/>
                </a:solidFill>
                <a:latin typeface="Outfit"/>
              </a:rPr>
              <a:t>Talking Point: 'When a low-pressure depression forms over the Bay of Bengal, it soaks Odisha, MP, and Gujarat together.'</a:t>
            </a:r>
          </a:p>
        </p:txBody>
      </p:sp>
      <p:sp>
        <p:nvSpPr>
          <p:cNvPr id="18" name="Rectangle 17"/>
          <p:cNvSpPr/>
          <p:nvPr/>
        </p:nvSpPr>
        <p:spPr>
          <a:xfrm>
            <a:off x="0" y="6570000"/>
            <a:ext cx="12192000" cy="288000"/>
          </a:xfrm>
          <a:prstGeom prst="rect">
            <a:avLst/>
          </a:prstGeom>
          <a:solidFill>
            <a:srgbClr val="0F2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6598800"/>
            <a:ext cx="5760000" cy="216000"/>
          </a:xfrm>
          <a:prstGeom prst="rect">
            <a:avLst/>
          </a:prstGeom>
          <a:noFill/>
        </p:spPr>
        <p:txBody>
          <a:bodyPr wrap="square">
            <a:spAutoFit/>
          </a:bodyPr>
          <a:lstStyle/>
          <a:p>
            <a:pPr algn="l"/>
            <a:r>
              <a:rPr sz="750" b="0" i="0">
                <a:solidFill>
                  <a:srgbClr val="C9D6EA"/>
                </a:solidFill>
                <a:latin typeface="Outfit"/>
              </a:rPr>
              <a:t>VARSA  ·  Final Project Review &amp; Defense  ·  Probability &amp; Statistics (BAMAT207)</a:t>
            </a:r>
          </a:p>
        </p:txBody>
      </p:sp>
      <p:sp>
        <p:nvSpPr>
          <p:cNvPr id="20" name="TextBox 19"/>
          <p:cNvSpPr txBox="1"/>
          <p:nvPr/>
        </p:nvSpPr>
        <p:spPr>
          <a:xfrm>
            <a:off x="10932000" y="6598800"/>
            <a:ext cx="1080000" cy="216000"/>
          </a:xfrm>
          <a:prstGeom prst="rect">
            <a:avLst/>
          </a:prstGeom>
          <a:noFill/>
        </p:spPr>
        <p:txBody>
          <a:bodyPr wrap="square">
            <a:spAutoFit/>
          </a:bodyPr>
          <a:lstStyle/>
          <a:p>
            <a:pPr algn="r"/>
            <a:r>
              <a:rPr sz="750" b="0" i="0">
                <a:solidFill>
                  <a:srgbClr val="C9D6EA"/>
                </a:solidFill>
                <a:latin typeface="Outfit"/>
              </a:rPr>
              <a:t>13 / 20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B1428"/>
        </a:solidFill>
        <a:effectLst/>
      </p:bgPr>
    </p:bg>
    <p:spTree>
      <p:nvGrpSpPr>
        <p:cNvPr id="1" name=""/>
        <p:cNvGrpSpPr/>
        <p:nvPr/>
      </p:nvGrpSpPr>
      <p:grpSpPr/>
      <p:sp>
        <p:nvSpPr>
          <p:cNvPr id="2" name="TextBox 1"/>
          <p:cNvSpPr txBox="1"/>
          <p:nvPr/>
        </p:nvSpPr>
        <p:spPr>
          <a:xfrm>
            <a:off x="548640" y="244800"/>
            <a:ext cx="11094720" cy="827999"/>
          </a:xfrm>
          <a:prstGeom prst="rect">
            <a:avLst/>
          </a:prstGeom>
          <a:noFill/>
        </p:spPr>
        <p:txBody>
          <a:bodyPr wrap="square" tIns="0" bIns="0" lIns="0" rIns="0">
            <a:spAutoFit/>
          </a:bodyPr>
          <a:lstStyle/>
          <a:p>
            <a:pPr>
              <a:spcAft>
                <a:spcPts val="700"/>
              </a:spcAft>
            </a:pPr>
            <a:r>
              <a:rPr sz="800" b="1">
                <a:solidFill>
                  <a:srgbClr val="E0A526"/>
                </a:solidFill>
                <a:latin typeface="Outfit"/>
              </a:rPr>
              <a:t>06  ·  126 YEARS OF EVIDENCE</a:t>
            </a:r>
          </a:p>
          <a:p>
            <a:pPr>
              <a:spcBef>
                <a:spcPts val="400"/>
              </a:spcBef>
            </a:pPr>
            <a:r>
              <a:rPr sz="1700" b="1">
                <a:solidFill>
                  <a:srgbClr val="FFFFFF"/>
                </a:solidFill>
                <a:latin typeface="Outfit"/>
              </a:rPr>
              <a:t>125 Years of Real Data (1901–2026) Confirms the Long-Term Verdict</a:t>
            </a:r>
          </a:p>
          <a:p>
            <a:pPr>
              <a:spcBef>
                <a:spcPts val="300"/>
              </a:spcBef>
            </a:pPr>
            <a:r>
              <a:rPr sz="900" i="1">
                <a:solidFill>
                  <a:srgbClr val="C9D6EA"/>
                </a:solidFill>
                <a:latin typeface="Outfit"/>
              </a:rPr>
              <a:t>Layman translation: We don't have to guess what happened after 2015. Real measurements prove rainfall totals are stable.</a:t>
            </a:r>
          </a:p>
        </p:txBody>
      </p:sp>
      <p:sp>
        <p:nvSpPr>
          <p:cNvPr id="3" name="Rectangle 2"/>
          <p:cNvSpPr/>
          <p:nvPr/>
        </p:nvSpPr>
        <p:spPr>
          <a:xfrm>
            <a:off x="548640" y="1080000"/>
            <a:ext cx="11094720" cy="18000"/>
          </a:xfrm>
          <a:prstGeom prst="rect">
            <a:avLst/>
          </a:prstGeom>
          <a:solidFill>
            <a:srgbClr val="1E35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ig8_extended_national_series.png"/>
          <p:cNvPicPr>
            <a:picLocks noChangeAspect="1"/>
          </p:cNvPicPr>
          <p:nvPr/>
        </p:nvPicPr>
        <p:blipFill>
          <a:blip r:embed="rId2"/>
          <a:stretch>
            <a:fillRect/>
          </a:stretch>
        </p:blipFill>
        <p:spPr>
          <a:xfrm>
            <a:off x="2586000" y="1188000"/>
            <a:ext cx="7020000" cy="2954133"/>
          </a:xfrm>
          <a:prstGeom prst="rect">
            <a:avLst/>
          </a:prstGeom>
        </p:spPr>
      </p:pic>
      <p:sp>
        <p:nvSpPr>
          <p:cNvPr id="5" name="Rectangle 4"/>
          <p:cNvSpPr/>
          <p:nvPr/>
        </p:nvSpPr>
        <p:spPr>
          <a:xfrm>
            <a:off x="548640" y="4968000"/>
            <a:ext cx="2679180" cy="1296000"/>
          </a:xfrm>
          <a:prstGeom prst="rect">
            <a:avLst/>
          </a:prstGeom>
          <a:solidFill>
            <a:srgbClr val="0F2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74639" y="5047200"/>
            <a:ext cx="2499180" cy="432000"/>
          </a:xfrm>
          <a:prstGeom prst="rect">
            <a:avLst/>
          </a:prstGeom>
          <a:noFill/>
        </p:spPr>
        <p:txBody>
          <a:bodyPr wrap="square">
            <a:spAutoFit/>
          </a:bodyPr>
          <a:lstStyle/>
          <a:p>
            <a:pPr algn="l"/>
            <a:r>
              <a:rPr sz="1600" b="1" i="0">
                <a:solidFill>
                  <a:srgbClr val="FFFFFF"/>
                </a:solidFill>
                <a:latin typeface="Outfit"/>
              </a:rPr>
              <a:t>-18 mm / Century</a:t>
            </a:r>
          </a:p>
        </p:txBody>
      </p:sp>
      <p:sp>
        <p:nvSpPr>
          <p:cNvPr id="7" name="TextBox 6"/>
          <p:cNvSpPr txBox="1"/>
          <p:nvPr/>
        </p:nvSpPr>
        <p:spPr>
          <a:xfrm>
            <a:off x="674639" y="5490000"/>
            <a:ext cx="2499180" cy="198000"/>
          </a:xfrm>
          <a:prstGeom prst="rect">
            <a:avLst/>
          </a:prstGeom>
          <a:noFill/>
        </p:spPr>
        <p:txBody>
          <a:bodyPr wrap="square">
            <a:spAutoFit/>
          </a:bodyPr>
          <a:lstStyle/>
          <a:p>
            <a:pPr algn="l"/>
            <a:r>
              <a:rPr sz="850" b="1" i="0">
                <a:solidFill>
                  <a:srgbClr val="E0A526"/>
                </a:solidFill>
                <a:latin typeface="Outfit"/>
              </a:rPr>
              <a:t>125-Year Trend</a:t>
            </a:r>
          </a:p>
        </p:txBody>
      </p:sp>
      <p:sp>
        <p:nvSpPr>
          <p:cNvPr id="8" name="TextBox 7"/>
          <p:cNvSpPr txBox="1"/>
          <p:nvPr/>
        </p:nvSpPr>
        <p:spPr>
          <a:xfrm>
            <a:off x="674639" y="5705999"/>
            <a:ext cx="2499180" cy="540000"/>
          </a:xfrm>
          <a:prstGeom prst="rect">
            <a:avLst/>
          </a:prstGeom>
          <a:noFill/>
        </p:spPr>
        <p:txBody>
          <a:bodyPr wrap="square">
            <a:spAutoFit/>
          </a:bodyPr>
          <a:lstStyle/>
          <a:p>
            <a:pPr algn="l"/>
            <a:r>
              <a:rPr sz="750" b="0" i="0">
                <a:solidFill>
                  <a:srgbClr val="C9D6EA"/>
                </a:solidFill>
                <a:latin typeface="Outfit"/>
              </a:rPr>
              <a:t>From 1901 to 2025, slope is flat (p = 0.50) — verified on real observations</a:t>
            </a:r>
          </a:p>
        </p:txBody>
      </p:sp>
      <p:sp>
        <p:nvSpPr>
          <p:cNvPr id="9" name="Rectangle 8"/>
          <p:cNvSpPr/>
          <p:nvPr/>
        </p:nvSpPr>
        <p:spPr>
          <a:xfrm>
            <a:off x="3353819" y="4968000"/>
            <a:ext cx="2679180" cy="1296000"/>
          </a:xfrm>
          <a:prstGeom prst="rect">
            <a:avLst/>
          </a:prstGeom>
          <a:solidFill>
            <a:srgbClr val="0F2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479818" y="5047200"/>
            <a:ext cx="2499180" cy="432000"/>
          </a:xfrm>
          <a:prstGeom prst="rect">
            <a:avLst/>
          </a:prstGeom>
          <a:noFill/>
        </p:spPr>
        <p:txBody>
          <a:bodyPr wrap="square">
            <a:spAutoFit/>
          </a:bodyPr>
          <a:lstStyle/>
          <a:p>
            <a:pPr algn="l"/>
            <a:r>
              <a:rPr sz="1600" b="1" i="0">
                <a:solidFill>
                  <a:srgbClr val="22C55E"/>
                </a:solidFill>
                <a:latin typeface="Outfit"/>
              </a:rPr>
              <a:t>+0.7% Normal</a:t>
            </a:r>
          </a:p>
        </p:txBody>
      </p:sp>
      <p:sp>
        <p:nvSpPr>
          <p:cNvPr id="11" name="TextBox 10"/>
          <p:cNvSpPr txBox="1"/>
          <p:nvPr/>
        </p:nvSpPr>
        <p:spPr>
          <a:xfrm>
            <a:off x="3479818" y="5490000"/>
            <a:ext cx="2499180" cy="198000"/>
          </a:xfrm>
          <a:prstGeom prst="rect">
            <a:avLst/>
          </a:prstGeom>
          <a:noFill/>
        </p:spPr>
        <p:txBody>
          <a:bodyPr wrap="square">
            <a:spAutoFit/>
          </a:bodyPr>
          <a:lstStyle/>
          <a:p>
            <a:pPr algn="l"/>
            <a:r>
              <a:rPr sz="850" b="1" i="0">
                <a:solidFill>
                  <a:srgbClr val="E0A526"/>
                </a:solidFill>
                <a:latin typeface="Outfit"/>
              </a:rPr>
              <a:t>Modern Decade</a:t>
            </a:r>
          </a:p>
        </p:txBody>
      </p:sp>
      <p:sp>
        <p:nvSpPr>
          <p:cNvPr id="12" name="TextBox 11"/>
          <p:cNvSpPr txBox="1"/>
          <p:nvPr/>
        </p:nvSpPr>
        <p:spPr>
          <a:xfrm>
            <a:off x="3479818" y="5705999"/>
            <a:ext cx="2499180" cy="540000"/>
          </a:xfrm>
          <a:prstGeom prst="rect">
            <a:avLst/>
          </a:prstGeom>
          <a:noFill/>
        </p:spPr>
        <p:txBody>
          <a:bodyPr wrap="square">
            <a:spAutoFit/>
          </a:bodyPr>
          <a:lstStyle/>
          <a:p>
            <a:pPr algn="l"/>
            <a:r>
              <a:rPr sz="750" b="0" i="0">
                <a:solidFill>
                  <a:srgbClr val="C9D6EA"/>
                </a:solidFill>
                <a:latin typeface="Outfit"/>
              </a:rPr>
              <a:t>2016–2025 averaged 1,186 mm vs 1,180 mm historically — zero decade shift</a:t>
            </a:r>
          </a:p>
        </p:txBody>
      </p:sp>
      <p:sp>
        <p:nvSpPr>
          <p:cNvPr id="13" name="Rectangle 12"/>
          <p:cNvSpPr/>
          <p:nvPr/>
        </p:nvSpPr>
        <p:spPr>
          <a:xfrm>
            <a:off x="6158998" y="4968000"/>
            <a:ext cx="2679180" cy="1296000"/>
          </a:xfrm>
          <a:prstGeom prst="rect">
            <a:avLst/>
          </a:prstGeom>
          <a:solidFill>
            <a:srgbClr val="0F2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84997" y="5047200"/>
            <a:ext cx="2499180" cy="432000"/>
          </a:xfrm>
          <a:prstGeom prst="rect">
            <a:avLst/>
          </a:prstGeom>
          <a:noFill/>
        </p:spPr>
        <p:txBody>
          <a:bodyPr wrap="square">
            <a:spAutoFit/>
          </a:bodyPr>
          <a:lstStyle/>
          <a:p>
            <a:pPr algn="l"/>
            <a:r>
              <a:rPr sz="1600" b="1" i="0">
                <a:solidFill>
                  <a:srgbClr val="F87171"/>
                </a:solidFill>
                <a:latin typeface="Outfit"/>
              </a:rPr>
              <a:t>-12.6% Deficit</a:t>
            </a:r>
          </a:p>
        </p:txBody>
      </p:sp>
      <p:sp>
        <p:nvSpPr>
          <p:cNvPr id="15" name="TextBox 14"/>
          <p:cNvSpPr txBox="1"/>
          <p:nvPr/>
        </p:nvSpPr>
        <p:spPr>
          <a:xfrm>
            <a:off x="6284997" y="5490000"/>
            <a:ext cx="2499180" cy="198000"/>
          </a:xfrm>
          <a:prstGeom prst="rect">
            <a:avLst/>
          </a:prstGeom>
          <a:noFill/>
        </p:spPr>
        <p:txBody>
          <a:bodyPr wrap="square">
            <a:spAutoFit/>
          </a:bodyPr>
          <a:lstStyle/>
          <a:p>
            <a:pPr algn="l"/>
            <a:r>
              <a:rPr sz="850" b="1" i="0">
                <a:solidFill>
                  <a:srgbClr val="E0A526"/>
                </a:solidFill>
                <a:latin typeface="Outfit"/>
              </a:rPr>
              <a:t>Live 2026 Monsoon</a:t>
            </a:r>
          </a:p>
        </p:txBody>
      </p:sp>
      <p:sp>
        <p:nvSpPr>
          <p:cNvPr id="16" name="TextBox 15"/>
          <p:cNvSpPr txBox="1"/>
          <p:nvPr/>
        </p:nvSpPr>
        <p:spPr>
          <a:xfrm>
            <a:off x="6284997" y="5705999"/>
            <a:ext cx="2499180" cy="540000"/>
          </a:xfrm>
          <a:prstGeom prst="rect">
            <a:avLst/>
          </a:prstGeom>
          <a:noFill/>
        </p:spPr>
        <p:txBody>
          <a:bodyPr wrap="square">
            <a:spAutoFit/>
          </a:bodyPr>
          <a:lstStyle/>
          <a:p>
            <a:pPr algn="l"/>
            <a:r>
              <a:rPr sz="750" b="0" i="0">
                <a:solidFill>
                  <a:srgbClr val="C9D6EA"/>
                </a:solidFill>
                <a:latin typeface="Outfit"/>
              </a:rPr>
              <a:t>759 mm Jun–Sep — an ongoing live deficit captured in our system</a:t>
            </a:r>
          </a:p>
        </p:txBody>
      </p:sp>
      <p:sp>
        <p:nvSpPr>
          <p:cNvPr id="17" name="Rectangle 16"/>
          <p:cNvSpPr/>
          <p:nvPr/>
        </p:nvSpPr>
        <p:spPr>
          <a:xfrm>
            <a:off x="8964177" y="4968000"/>
            <a:ext cx="2679180" cy="1296000"/>
          </a:xfrm>
          <a:prstGeom prst="rect">
            <a:avLst/>
          </a:prstGeom>
          <a:solidFill>
            <a:srgbClr val="0F2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090176" y="5047200"/>
            <a:ext cx="2499180" cy="432000"/>
          </a:xfrm>
          <a:prstGeom prst="rect">
            <a:avLst/>
          </a:prstGeom>
          <a:noFill/>
        </p:spPr>
        <p:txBody>
          <a:bodyPr wrap="square">
            <a:spAutoFit/>
          </a:bodyPr>
          <a:lstStyle/>
          <a:p>
            <a:pPr algn="l"/>
            <a:r>
              <a:rPr sz="1600" b="1" i="0">
                <a:solidFill>
                  <a:srgbClr val="E0A526"/>
                </a:solidFill>
                <a:latin typeface="Outfit"/>
              </a:rPr>
              <a:t>126 Continuous</a:t>
            </a:r>
          </a:p>
        </p:txBody>
      </p:sp>
      <p:sp>
        <p:nvSpPr>
          <p:cNvPr id="19" name="TextBox 18"/>
          <p:cNvSpPr txBox="1"/>
          <p:nvPr/>
        </p:nvSpPr>
        <p:spPr>
          <a:xfrm>
            <a:off x="9090176" y="5490000"/>
            <a:ext cx="2499180" cy="198000"/>
          </a:xfrm>
          <a:prstGeom prst="rect">
            <a:avLst/>
          </a:prstGeom>
          <a:noFill/>
        </p:spPr>
        <p:txBody>
          <a:bodyPr wrap="square">
            <a:spAutoFit/>
          </a:bodyPr>
          <a:lstStyle/>
          <a:p>
            <a:pPr algn="l"/>
            <a:r>
              <a:rPr sz="850" b="1" i="0">
                <a:solidFill>
                  <a:srgbClr val="E0A526"/>
                </a:solidFill>
                <a:latin typeface="Outfit"/>
              </a:rPr>
              <a:t>Bridging Eras</a:t>
            </a:r>
          </a:p>
        </p:txBody>
      </p:sp>
      <p:sp>
        <p:nvSpPr>
          <p:cNvPr id="20" name="TextBox 19"/>
          <p:cNvSpPr txBox="1"/>
          <p:nvPr/>
        </p:nvSpPr>
        <p:spPr>
          <a:xfrm>
            <a:off x="9090176" y="5705999"/>
            <a:ext cx="2499180" cy="540000"/>
          </a:xfrm>
          <a:prstGeom prst="rect">
            <a:avLst/>
          </a:prstGeom>
          <a:noFill/>
        </p:spPr>
        <p:txBody>
          <a:bodyPr wrap="square">
            <a:spAutoFit/>
          </a:bodyPr>
          <a:lstStyle/>
          <a:p>
            <a:pPr algn="l"/>
            <a:r>
              <a:rPr sz="750" b="0" i="0">
                <a:solidFill>
                  <a:srgbClr val="C9D6EA"/>
                </a:solidFill>
                <a:latin typeface="Outfit"/>
              </a:rPr>
              <a:t>Colonial era, Green Revolution, and modern climate era unified in one system</a:t>
            </a:r>
          </a:p>
        </p:txBody>
      </p:sp>
      <p:sp>
        <p:nvSpPr>
          <p:cNvPr id="21" name="TextBox 20"/>
          <p:cNvSpPr txBox="1"/>
          <p:nvPr/>
        </p:nvSpPr>
        <p:spPr>
          <a:xfrm>
            <a:off x="548640" y="6336000"/>
            <a:ext cx="11094720" cy="216000"/>
          </a:xfrm>
          <a:prstGeom prst="rect">
            <a:avLst/>
          </a:prstGeom>
          <a:noFill/>
        </p:spPr>
        <p:txBody>
          <a:bodyPr wrap="square">
            <a:spAutoFit/>
          </a:bodyPr>
          <a:lstStyle/>
          <a:p>
            <a:pPr algn="l"/>
            <a:r>
              <a:rPr sz="900" b="0" i="1">
                <a:solidFill>
                  <a:srgbClr val="C9D6EA"/>
                </a:solidFill>
                <a:latin typeface="Outfit"/>
              </a:rPr>
              <a:t>Talking Point: 'Even with modern climate anxiety, total national monsoon volume has not drifted away from its 100-year average.'</a:t>
            </a:r>
          </a:p>
        </p:txBody>
      </p:sp>
      <p:sp>
        <p:nvSpPr>
          <p:cNvPr id="22" name="Rectangle 21"/>
          <p:cNvSpPr/>
          <p:nvPr/>
        </p:nvSpPr>
        <p:spPr>
          <a:xfrm>
            <a:off x="0" y="6570000"/>
            <a:ext cx="12192000" cy="288000"/>
          </a:xfrm>
          <a:prstGeom prst="rect">
            <a:avLst/>
          </a:prstGeom>
          <a:solidFill>
            <a:srgbClr val="0F2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48640" y="6598800"/>
            <a:ext cx="5760000" cy="216000"/>
          </a:xfrm>
          <a:prstGeom prst="rect">
            <a:avLst/>
          </a:prstGeom>
          <a:noFill/>
        </p:spPr>
        <p:txBody>
          <a:bodyPr wrap="square">
            <a:spAutoFit/>
          </a:bodyPr>
          <a:lstStyle/>
          <a:p>
            <a:pPr algn="l"/>
            <a:r>
              <a:rPr sz="750" b="0" i="0">
                <a:solidFill>
                  <a:srgbClr val="C9D6EA"/>
                </a:solidFill>
                <a:latin typeface="Outfit"/>
              </a:rPr>
              <a:t>VARSA  ·  Final Project Review &amp; Defense  ·  Probability &amp; Statistics (BAMAT207)</a:t>
            </a:r>
          </a:p>
        </p:txBody>
      </p:sp>
      <p:sp>
        <p:nvSpPr>
          <p:cNvPr id="24" name="TextBox 23"/>
          <p:cNvSpPr txBox="1"/>
          <p:nvPr/>
        </p:nvSpPr>
        <p:spPr>
          <a:xfrm>
            <a:off x="10932000" y="6598800"/>
            <a:ext cx="1080000" cy="216000"/>
          </a:xfrm>
          <a:prstGeom prst="rect">
            <a:avLst/>
          </a:prstGeom>
          <a:noFill/>
        </p:spPr>
        <p:txBody>
          <a:bodyPr wrap="square">
            <a:spAutoFit/>
          </a:bodyPr>
          <a:lstStyle/>
          <a:p>
            <a:pPr algn="r"/>
            <a:r>
              <a:rPr sz="750" b="0" i="0">
                <a:solidFill>
                  <a:srgbClr val="C9D6EA"/>
                </a:solidFill>
                <a:latin typeface="Outfit"/>
              </a:rPr>
              <a:t>14 / 20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B1428"/>
        </a:solidFill>
        <a:effectLst/>
      </p:bgPr>
    </p:bg>
    <p:spTree>
      <p:nvGrpSpPr>
        <p:cNvPr id="1" name=""/>
        <p:cNvGrpSpPr/>
        <p:nvPr/>
      </p:nvGrpSpPr>
      <p:grpSpPr/>
      <p:sp>
        <p:nvSpPr>
          <p:cNvPr id="2" name="TextBox 1"/>
          <p:cNvSpPr txBox="1"/>
          <p:nvPr/>
        </p:nvSpPr>
        <p:spPr>
          <a:xfrm>
            <a:off x="548640" y="244800"/>
            <a:ext cx="11094720" cy="827999"/>
          </a:xfrm>
          <a:prstGeom prst="rect">
            <a:avLst/>
          </a:prstGeom>
          <a:noFill/>
        </p:spPr>
        <p:txBody>
          <a:bodyPr wrap="square" tIns="0" bIns="0" lIns="0" rIns="0">
            <a:spAutoFit/>
          </a:bodyPr>
          <a:lstStyle/>
          <a:p>
            <a:pPr>
              <a:spcAft>
                <a:spcPts val="700"/>
              </a:spcAft>
            </a:pPr>
            <a:r>
              <a:rPr sz="800" b="1">
                <a:solidFill>
                  <a:srgbClr val="E0A526"/>
                </a:solidFill>
                <a:latin typeface="Outfit"/>
              </a:rPr>
              <a:t>06  ·  RECENT WILD WEATHER</a:t>
            </a:r>
          </a:p>
          <a:p>
            <a:pPr>
              <a:spcBef>
                <a:spcPts val="400"/>
              </a:spcBef>
            </a:pPr>
            <a:r>
              <a:rPr sz="1700" b="1">
                <a:solidFill>
                  <a:srgbClr val="FFFFFF"/>
                </a:solidFill>
                <a:latin typeface="Outfit"/>
              </a:rPr>
              <a:t>The True Face of Climate Change: Wild Regional Swings (2015–2025)</a:t>
            </a:r>
          </a:p>
          <a:p>
            <a:pPr>
              <a:spcBef>
                <a:spcPts val="300"/>
              </a:spcBef>
            </a:pPr>
            <a:r>
              <a:rPr sz="900" i="1">
                <a:solidFill>
                  <a:srgbClr val="C9D6EA"/>
                </a:solidFill>
                <a:latin typeface="Outfit"/>
              </a:rPr>
              <a:t>Layman translation: While national rain stays steady, regional extremes are getting sharper (floods on one side, dry spells on the other).</a:t>
            </a:r>
          </a:p>
        </p:txBody>
      </p:sp>
      <p:sp>
        <p:nvSpPr>
          <p:cNvPr id="3" name="Rectangle 2"/>
          <p:cNvSpPr/>
          <p:nvPr/>
        </p:nvSpPr>
        <p:spPr>
          <a:xfrm>
            <a:off x="548640" y="1080000"/>
            <a:ext cx="11094720" cy="18000"/>
          </a:xfrm>
          <a:prstGeom prst="rect">
            <a:avLst/>
          </a:prstGeom>
          <a:solidFill>
            <a:srgbClr val="1E35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ig9_observed_departures.png"/>
          <p:cNvPicPr>
            <a:picLocks noChangeAspect="1"/>
          </p:cNvPicPr>
          <p:nvPr/>
        </p:nvPicPr>
        <p:blipFill>
          <a:blip r:embed="rId2"/>
          <a:stretch>
            <a:fillRect/>
          </a:stretch>
        </p:blipFill>
        <p:spPr>
          <a:xfrm>
            <a:off x="576000" y="1188000"/>
            <a:ext cx="4968000" cy="3997324"/>
          </a:xfrm>
          <a:prstGeom prst="rect">
            <a:avLst/>
          </a:prstGeom>
        </p:spPr>
      </p:pic>
      <p:sp>
        <p:nvSpPr>
          <p:cNvPr id="5" name="Rectangle 4"/>
          <p:cNvSpPr/>
          <p:nvPr/>
        </p:nvSpPr>
        <p:spPr>
          <a:xfrm>
            <a:off x="5940000" y="1188000"/>
            <a:ext cx="5688000" cy="1188000"/>
          </a:xfrm>
          <a:prstGeom prst="rect">
            <a:avLst/>
          </a:prstGeom>
          <a:solidFill>
            <a:srgbClr val="0F2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065999" y="1267200"/>
            <a:ext cx="5508000" cy="432000"/>
          </a:xfrm>
          <a:prstGeom prst="rect">
            <a:avLst/>
          </a:prstGeom>
          <a:noFill/>
        </p:spPr>
        <p:txBody>
          <a:bodyPr wrap="square">
            <a:spAutoFit/>
          </a:bodyPr>
          <a:lstStyle/>
          <a:p>
            <a:pPr algn="l"/>
            <a:r>
              <a:rPr sz="1700" b="1" i="0">
                <a:solidFill>
                  <a:srgbClr val="38BDF8"/>
                </a:solidFill>
                <a:latin typeface="Outfit"/>
              </a:rPr>
              <a:t>+75% Deluge</a:t>
            </a:r>
          </a:p>
        </p:txBody>
      </p:sp>
      <p:sp>
        <p:nvSpPr>
          <p:cNvPr id="7" name="TextBox 6"/>
          <p:cNvSpPr txBox="1"/>
          <p:nvPr/>
        </p:nvSpPr>
        <p:spPr>
          <a:xfrm>
            <a:off x="6065999" y="1710000"/>
            <a:ext cx="5508000" cy="198000"/>
          </a:xfrm>
          <a:prstGeom prst="rect">
            <a:avLst/>
          </a:prstGeom>
          <a:noFill/>
        </p:spPr>
        <p:txBody>
          <a:bodyPr wrap="square">
            <a:spAutoFit/>
          </a:bodyPr>
          <a:lstStyle/>
          <a:p>
            <a:pPr algn="l"/>
            <a:r>
              <a:rPr sz="850" b="1" i="0">
                <a:solidFill>
                  <a:srgbClr val="E0A526"/>
                </a:solidFill>
                <a:latin typeface="Outfit"/>
              </a:rPr>
              <a:t>Saurashtra &amp; Kutch (2024)</a:t>
            </a:r>
          </a:p>
        </p:txBody>
      </p:sp>
      <p:sp>
        <p:nvSpPr>
          <p:cNvPr id="8" name="TextBox 7"/>
          <p:cNvSpPr txBox="1"/>
          <p:nvPr/>
        </p:nvSpPr>
        <p:spPr>
          <a:xfrm>
            <a:off x="6065999" y="1925999"/>
            <a:ext cx="5508000" cy="431999"/>
          </a:xfrm>
          <a:prstGeom prst="rect">
            <a:avLst/>
          </a:prstGeom>
          <a:noFill/>
        </p:spPr>
        <p:txBody>
          <a:bodyPr wrap="square">
            <a:spAutoFit/>
          </a:bodyPr>
          <a:lstStyle/>
          <a:p>
            <a:pPr algn="l"/>
            <a:r>
              <a:rPr sz="750" b="0" i="0">
                <a:solidFill>
                  <a:srgbClr val="C9D6EA"/>
                </a:solidFill>
                <a:latin typeface="Outfit"/>
              </a:rPr>
              <a:t>In 2024, western Gujarat was hit by unprecedented monsoon cloudbursts, recording 75% above normal rain.</a:t>
            </a:r>
          </a:p>
        </p:txBody>
      </p:sp>
      <p:sp>
        <p:nvSpPr>
          <p:cNvPr id="9" name="Rectangle 8"/>
          <p:cNvSpPr/>
          <p:nvPr/>
        </p:nvSpPr>
        <p:spPr>
          <a:xfrm>
            <a:off x="5940000" y="2484000"/>
            <a:ext cx="5688000" cy="1188000"/>
          </a:xfrm>
          <a:prstGeom prst="rect">
            <a:avLst/>
          </a:prstGeom>
          <a:solidFill>
            <a:srgbClr val="0F2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65999" y="2563200"/>
            <a:ext cx="5508000" cy="432000"/>
          </a:xfrm>
          <a:prstGeom prst="rect">
            <a:avLst/>
          </a:prstGeom>
          <a:noFill/>
        </p:spPr>
        <p:txBody>
          <a:bodyPr wrap="square">
            <a:spAutoFit/>
          </a:bodyPr>
          <a:lstStyle/>
          <a:p>
            <a:pPr algn="l"/>
            <a:r>
              <a:rPr sz="1700" b="1" i="0">
                <a:solidFill>
                  <a:srgbClr val="F87171"/>
                </a:solidFill>
                <a:latin typeface="Outfit"/>
              </a:rPr>
              <a:t>-34% Deficit</a:t>
            </a:r>
          </a:p>
        </p:txBody>
      </p:sp>
      <p:sp>
        <p:nvSpPr>
          <p:cNvPr id="11" name="TextBox 10"/>
          <p:cNvSpPr txBox="1"/>
          <p:nvPr/>
        </p:nvSpPr>
        <p:spPr>
          <a:xfrm>
            <a:off x="6065999" y="3006000"/>
            <a:ext cx="5508000" cy="198000"/>
          </a:xfrm>
          <a:prstGeom prst="rect">
            <a:avLst/>
          </a:prstGeom>
          <a:noFill/>
        </p:spPr>
        <p:txBody>
          <a:bodyPr wrap="square">
            <a:spAutoFit/>
          </a:bodyPr>
          <a:lstStyle/>
          <a:p>
            <a:pPr algn="l"/>
            <a:r>
              <a:rPr sz="850" b="1" i="0">
                <a:solidFill>
                  <a:srgbClr val="E0A526"/>
                </a:solidFill>
                <a:latin typeface="Outfit"/>
              </a:rPr>
              <a:t>Kerala Dry Spells (2016 &amp; 2023)</a:t>
            </a:r>
          </a:p>
        </p:txBody>
      </p:sp>
      <p:sp>
        <p:nvSpPr>
          <p:cNvPr id="12" name="TextBox 11"/>
          <p:cNvSpPr txBox="1"/>
          <p:nvPr/>
        </p:nvSpPr>
        <p:spPr>
          <a:xfrm>
            <a:off x="6065999" y="3221999"/>
            <a:ext cx="5508000" cy="431999"/>
          </a:xfrm>
          <a:prstGeom prst="rect">
            <a:avLst/>
          </a:prstGeom>
          <a:noFill/>
        </p:spPr>
        <p:txBody>
          <a:bodyPr wrap="square">
            <a:spAutoFit/>
          </a:bodyPr>
          <a:lstStyle/>
          <a:p>
            <a:pPr algn="l"/>
            <a:r>
              <a:rPr sz="750" b="0" i="0">
                <a:solidFill>
                  <a:srgbClr val="C9D6EA"/>
                </a:solidFill>
                <a:latin typeface="Outfit"/>
              </a:rPr>
              <a:t>Even Kerala — India's most dependable state — suffered severe consecutive droughts reaching 34% below normal.</a:t>
            </a:r>
          </a:p>
        </p:txBody>
      </p:sp>
      <p:sp>
        <p:nvSpPr>
          <p:cNvPr id="13" name="Rectangle 12"/>
          <p:cNvSpPr/>
          <p:nvPr/>
        </p:nvSpPr>
        <p:spPr>
          <a:xfrm>
            <a:off x="5940000" y="3780000"/>
            <a:ext cx="5688000" cy="1188000"/>
          </a:xfrm>
          <a:prstGeom prst="rect">
            <a:avLst/>
          </a:prstGeom>
          <a:solidFill>
            <a:srgbClr val="0F2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065999" y="3859200"/>
            <a:ext cx="5508000" cy="432000"/>
          </a:xfrm>
          <a:prstGeom prst="rect">
            <a:avLst/>
          </a:prstGeom>
          <a:noFill/>
        </p:spPr>
        <p:txBody>
          <a:bodyPr wrap="square">
            <a:spAutoFit/>
          </a:bodyPr>
          <a:lstStyle/>
          <a:p>
            <a:pPr algn="l"/>
            <a:r>
              <a:rPr sz="1700" b="1" i="0">
                <a:solidFill>
                  <a:srgbClr val="E0A526"/>
                </a:solidFill>
                <a:latin typeface="Outfit"/>
              </a:rPr>
              <a:t>Opposite Extremes</a:t>
            </a:r>
          </a:p>
        </p:txBody>
      </p:sp>
      <p:sp>
        <p:nvSpPr>
          <p:cNvPr id="15" name="TextBox 14"/>
          <p:cNvSpPr txBox="1"/>
          <p:nvPr/>
        </p:nvSpPr>
        <p:spPr>
          <a:xfrm>
            <a:off x="6065999" y="4302000"/>
            <a:ext cx="5508000" cy="198000"/>
          </a:xfrm>
          <a:prstGeom prst="rect">
            <a:avLst/>
          </a:prstGeom>
          <a:noFill/>
        </p:spPr>
        <p:txBody>
          <a:bodyPr wrap="square">
            <a:spAutoFit/>
          </a:bodyPr>
          <a:lstStyle/>
          <a:p>
            <a:pPr algn="l"/>
            <a:r>
              <a:rPr sz="850" b="1" i="0">
                <a:solidFill>
                  <a:srgbClr val="E0A526"/>
                </a:solidFill>
                <a:latin typeface="Outfit"/>
              </a:rPr>
              <a:t>Same Year, Opposite Fate</a:t>
            </a:r>
          </a:p>
        </p:txBody>
      </p:sp>
      <p:sp>
        <p:nvSpPr>
          <p:cNvPr id="16" name="TextBox 15"/>
          <p:cNvSpPr txBox="1"/>
          <p:nvPr/>
        </p:nvSpPr>
        <p:spPr>
          <a:xfrm>
            <a:off x="6065999" y="4517999"/>
            <a:ext cx="5508000" cy="431999"/>
          </a:xfrm>
          <a:prstGeom prst="rect">
            <a:avLst/>
          </a:prstGeom>
          <a:noFill/>
        </p:spPr>
        <p:txBody>
          <a:bodyPr wrap="square">
            <a:spAutoFit/>
          </a:bodyPr>
          <a:lstStyle/>
          <a:p>
            <a:pPr algn="l"/>
            <a:r>
              <a:rPr sz="750" b="0" i="0">
                <a:solidFill>
                  <a:srgbClr val="C9D6EA"/>
                </a:solidFill>
                <a:latin typeface="Outfit"/>
              </a:rPr>
              <a:t>In almost every recent year, while one state faced flash floods, another faced parched fields. The national total balances out.</a:t>
            </a:r>
          </a:p>
        </p:txBody>
      </p:sp>
      <p:sp>
        <p:nvSpPr>
          <p:cNvPr id="17" name="Rectangle 16"/>
          <p:cNvSpPr/>
          <p:nvPr/>
        </p:nvSpPr>
        <p:spPr>
          <a:xfrm>
            <a:off x="5940000" y="5220000"/>
            <a:ext cx="5688000" cy="792000"/>
          </a:xfrm>
          <a:prstGeom prst="rect">
            <a:avLst/>
          </a:prstGeom>
          <a:solidFill>
            <a:srgbClr val="152A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084000" y="5292000"/>
            <a:ext cx="5400000" cy="648000"/>
          </a:xfrm>
          <a:prstGeom prst="rect">
            <a:avLst/>
          </a:prstGeom>
          <a:noFill/>
        </p:spPr>
        <p:txBody>
          <a:bodyPr wrap="square">
            <a:spAutoFit/>
          </a:bodyPr>
          <a:lstStyle/>
          <a:p>
            <a:pPr algn="l"/>
            <a:r>
              <a:rPr sz="950" b="1" i="0">
                <a:solidFill>
                  <a:srgbClr val="22C55E"/>
                </a:solidFill>
                <a:latin typeface="Outfit"/>
              </a:rPr>
              <a:t>Teacher Summary: 'Climate volatility does not show up as a gradual national drying. It shows up as sudden local whiplash between floods and deficits.'</a:t>
            </a:r>
          </a:p>
        </p:txBody>
      </p:sp>
      <p:sp>
        <p:nvSpPr>
          <p:cNvPr id="19" name="Rectangle 18"/>
          <p:cNvSpPr/>
          <p:nvPr/>
        </p:nvSpPr>
        <p:spPr>
          <a:xfrm>
            <a:off x="0" y="6570000"/>
            <a:ext cx="12192000" cy="288000"/>
          </a:xfrm>
          <a:prstGeom prst="rect">
            <a:avLst/>
          </a:prstGeom>
          <a:solidFill>
            <a:srgbClr val="0F2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48640" y="6598800"/>
            <a:ext cx="5760000" cy="216000"/>
          </a:xfrm>
          <a:prstGeom prst="rect">
            <a:avLst/>
          </a:prstGeom>
          <a:noFill/>
        </p:spPr>
        <p:txBody>
          <a:bodyPr wrap="square">
            <a:spAutoFit/>
          </a:bodyPr>
          <a:lstStyle/>
          <a:p>
            <a:pPr algn="l"/>
            <a:r>
              <a:rPr sz="750" b="0" i="0">
                <a:solidFill>
                  <a:srgbClr val="C9D6EA"/>
                </a:solidFill>
                <a:latin typeface="Outfit"/>
              </a:rPr>
              <a:t>VARSA  ·  Final Project Review &amp; Defense  ·  Probability &amp; Statistics (BAMAT207)</a:t>
            </a:r>
          </a:p>
        </p:txBody>
      </p:sp>
      <p:sp>
        <p:nvSpPr>
          <p:cNvPr id="21" name="TextBox 20"/>
          <p:cNvSpPr txBox="1"/>
          <p:nvPr/>
        </p:nvSpPr>
        <p:spPr>
          <a:xfrm>
            <a:off x="10932000" y="6598800"/>
            <a:ext cx="1080000" cy="216000"/>
          </a:xfrm>
          <a:prstGeom prst="rect">
            <a:avLst/>
          </a:prstGeom>
          <a:noFill/>
        </p:spPr>
        <p:txBody>
          <a:bodyPr wrap="square">
            <a:spAutoFit/>
          </a:bodyPr>
          <a:lstStyle/>
          <a:p>
            <a:pPr algn="r"/>
            <a:r>
              <a:rPr sz="750" b="0" i="0">
                <a:solidFill>
                  <a:srgbClr val="C9D6EA"/>
                </a:solidFill>
                <a:latin typeface="Outfit"/>
              </a:rPr>
              <a:t>15 / 20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B1428"/>
        </a:solidFill>
        <a:effectLst/>
      </p:bgPr>
    </p:bg>
    <p:spTree>
      <p:nvGrpSpPr>
        <p:cNvPr id="1" name=""/>
        <p:cNvGrpSpPr/>
        <p:nvPr/>
      </p:nvGrpSpPr>
      <p:grpSpPr/>
      <p:sp>
        <p:nvSpPr>
          <p:cNvPr id="2" name="TextBox 1"/>
          <p:cNvSpPr txBox="1"/>
          <p:nvPr/>
        </p:nvSpPr>
        <p:spPr>
          <a:xfrm>
            <a:off x="548640" y="244800"/>
            <a:ext cx="11094720" cy="827999"/>
          </a:xfrm>
          <a:prstGeom prst="rect">
            <a:avLst/>
          </a:prstGeom>
          <a:noFill/>
        </p:spPr>
        <p:txBody>
          <a:bodyPr wrap="square" tIns="0" bIns="0" lIns="0" rIns="0">
            <a:spAutoFit/>
          </a:bodyPr>
          <a:lstStyle/>
          <a:p>
            <a:pPr>
              <a:spcAft>
                <a:spcPts val="700"/>
              </a:spcAft>
            </a:pPr>
            <a:r>
              <a:rPr sz="800" b="1">
                <a:solidFill>
                  <a:srgbClr val="E0A526"/>
                </a:solidFill>
                <a:latin typeface="Outfit"/>
              </a:rPr>
              <a:t>07  ·  INTERACTIVE PLATFORM</a:t>
            </a:r>
          </a:p>
          <a:p>
            <a:pPr>
              <a:spcBef>
                <a:spcPts val="400"/>
              </a:spcBef>
            </a:pPr>
            <a:r>
              <a:rPr sz="1800" b="1">
                <a:solidFill>
                  <a:srgbClr val="FFFFFF"/>
                </a:solidFill>
                <a:latin typeface="Outfit"/>
              </a:rPr>
              <a:t>A Point-and-Click Dashboard Anyone Can Use</a:t>
            </a:r>
          </a:p>
          <a:p>
            <a:pPr>
              <a:spcBef>
                <a:spcPts val="300"/>
              </a:spcBef>
            </a:pPr>
            <a:r>
              <a:rPr sz="900" i="1">
                <a:solidFill>
                  <a:srgbClr val="C9D6EA"/>
                </a:solidFill>
                <a:latin typeface="Outfit"/>
              </a:rPr>
              <a:t>No programming required: explore all 36 states, time sliders, and risk reports in seconds.</a:t>
            </a:r>
          </a:p>
        </p:txBody>
      </p:sp>
      <p:sp>
        <p:nvSpPr>
          <p:cNvPr id="3" name="Rectangle 2"/>
          <p:cNvSpPr/>
          <p:nvPr/>
        </p:nvSpPr>
        <p:spPr>
          <a:xfrm>
            <a:off x="548640" y="1080000"/>
            <a:ext cx="11094720" cy="18000"/>
          </a:xfrm>
          <a:prstGeom prst="rect">
            <a:avLst/>
          </a:prstGeom>
          <a:solidFill>
            <a:srgbClr val="1E35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48640" y="1296000"/>
            <a:ext cx="5439360" cy="1692000"/>
          </a:xfrm>
          <a:prstGeom prst="rect">
            <a:avLst/>
          </a:prstGeom>
          <a:solidFill>
            <a:srgbClr val="0F2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296000"/>
            <a:ext cx="72000" cy="169200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64640" y="1440000"/>
            <a:ext cx="5079360" cy="288000"/>
          </a:xfrm>
          <a:prstGeom prst="rect">
            <a:avLst/>
          </a:prstGeom>
          <a:noFill/>
        </p:spPr>
        <p:txBody>
          <a:bodyPr wrap="square">
            <a:spAutoFit/>
          </a:bodyPr>
          <a:lstStyle/>
          <a:p>
            <a:pPr algn="l"/>
            <a:r>
              <a:rPr sz="1300" b="1" i="0">
                <a:solidFill>
                  <a:srgbClr val="FFFFFF"/>
                </a:solidFill>
                <a:latin typeface="Outfit"/>
              </a:rPr>
              <a:t>Time Travel Slider (1901–2026)</a:t>
            </a:r>
          </a:p>
        </p:txBody>
      </p:sp>
      <p:sp>
        <p:nvSpPr>
          <p:cNvPr id="7" name="TextBox 6"/>
          <p:cNvSpPr txBox="1"/>
          <p:nvPr/>
        </p:nvSpPr>
        <p:spPr>
          <a:xfrm>
            <a:off x="764640" y="1799999"/>
            <a:ext cx="5007360" cy="1080000"/>
          </a:xfrm>
          <a:prstGeom prst="rect">
            <a:avLst/>
          </a:prstGeom>
          <a:noFill/>
        </p:spPr>
        <p:txBody>
          <a:bodyPr wrap="square">
            <a:spAutoFit/>
          </a:bodyPr>
          <a:lstStyle/>
          <a:p>
            <a:pPr algn="l"/>
            <a:r>
              <a:rPr sz="1019" b="0" i="0">
                <a:solidFill>
                  <a:srgbClr val="C9D6EA"/>
                </a:solidFill>
                <a:latin typeface="Outfit"/>
              </a:rPr>
              <a:t>Move a slider back and forth to inspect any decade in history. Visual tags clearly distinguish historical baseline from modern observed data.</a:t>
            </a:r>
          </a:p>
        </p:txBody>
      </p:sp>
      <p:sp>
        <p:nvSpPr>
          <p:cNvPr id="8" name="Rectangle 7"/>
          <p:cNvSpPr/>
          <p:nvPr/>
        </p:nvSpPr>
        <p:spPr>
          <a:xfrm>
            <a:off x="6204000" y="1296000"/>
            <a:ext cx="5439360" cy="1692000"/>
          </a:xfrm>
          <a:prstGeom prst="rect">
            <a:avLst/>
          </a:prstGeom>
          <a:solidFill>
            <a:srgbClr val="0F2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204000" y="1296000"/>
            <a:ext cx="72000" cy="1692000"/>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20000" y="1440000"/>
            <a:ext cx="5079360" cy="288000"/>
          </a:xfrm>
          <a:prstGeom prst="rect">
            <a:avLst/>
          </a:prstGeom>
          <a:noFill/>
        </p:spPr>
        <p:txBody>
          <a:bodyPr wrap="square">
            <a:spAutoFit/>
          </a:bodyPr>
          <a:lstStyle/>
          <a:p>
            <a:pPr algn="l"/>
            <a:r>
              <a:rPr sz="1300" b="1" i="0">
                <a:solidFill>
                  <a:srgbClr val="FFFFFF"/>
                </a:solidFill>
                <a:latin typeface="Outfit"/>
              </a:rPr>
              <a:t>36 Dedicated State Dossiers</a:t>
            </a:r>
          </a:p>
        </p:txBody>
      </p:sp>
      <p:sp>
        <p:nvSpPr>
          <p:cNvPr id="11" name="TextBox 10"/>
          <p:cNvSpPr txBox="1"/>
          <p:nvPr/>
        </p:nvSpPr>
        <p:spPr>
          <a:xfrm>
            <a:off x="6420000" y="1799999"/>
            <a:ext cx="5007360" cy="1080000"/>
          </a:xfrm>
          <a:prstGeom prst="rect">
            <a:avLst/>
          </a:prstGeom>
          <a:noFill/>
        </p:spPr>
        <p:txBody>
          <a:bodyPr wrap="square">
            <a:spAutoFit/>
          </a:bodyPr>
          <a:lstStyle/>
          <a:p>
            <a:pPr algn="l"/>
            <a:r>
              <a:rPr sz="1019" b="0" i="0">
                <a:solidFill>
                  <a:srgbClr val="C9D6EA"/>
                </a:solidFill>
                <a:latin typeface="Outfit"/>
              </a:rPr>
              <a:t>Click on any state (e.g., Punjab, Kerala, Bihar) to instantly get its historical bar charts, 10-year wet/dry trends, and drought risks.</a:t>
            </a:r>
          </a:p>
        </p:txBody>
      </p:sp>
      <p:sp>
        <p:nvSpPr>
          <p:cNvPr id="12" name="Rectangle 11"/>
          <p:cNvSpPr/>
          <p:nvPr/>
        </p:nvSpPr>
        <p:spPr>
          <a:xfrm>
            <a:off x="548640" y="3168000"/>
            <a:ext cx="5439360" cy="1692000"/>
          </a:xfrm>
          <a:prstGeom prst="rect">
            <a:avLst/>
          </a:prstGeom>
          <a:solidFill>
            <a:srgbClr val="0F2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168000"/>
            <a:ext cx="72000" cy="1692000"/>
          </a:xfrm>
          <a:prstGeom prst="rect">
            <a:avLst/>
          </a:prstGeom>
          <a:solidFill>
            <a:srgbClr val="E0A5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4640" y="3312000"/>
            <a:ext cx="5079360" cy="288000"/>
          </a:xfrm>
          <a:prstGeom prst="rect">
            <a:avLst/>
          </a:prstGeom>
          <a:noFill/>
        </p:spPr>
        <p:txBody>
          <a:bodyPr wrap="square">
            <a:spAutoFit/>
          </a:bodyPr>
          <a:lstStyle/>
          <a:p>
            <a:pPr algn="l"/>
            <a:r>
              <a:rPr sz="1300" b="1" i="0">
                <a:solidFill>
                  <a:srgbClr val="FFFFFF"/>
                </a:solidFill>
                <a:latin typeface="Outfit"/>
              </a:rPr>
              <a:t>Color-Coded Drought Warning Matrix</a:t>
            </a:r>
          </a:p>
        </p:txBody>
      </p:sp>
      <p:sp>
        <p:nvSpPr>
          <p:cNvPr id="15" name="TextBox 14"/>
          <p:cNvSpPr txBox="1"/>
          <p:nvPr/>
        </p:nvSpPr>
        <p:spPr>
          <a:xfrm>
            <a:off x="764640" y="3671999"/>
            <a:ext cx="5007360" cy="1080000"/>
          </a:xfrm>
          <a:prstGeom prst="rect">
            <a:avLst/>
          </a:prstGeom>
          <a:noFill/>
        </p:spPr>
        <p:txBody>
          <a:bodyPr wrap="square">
            <a:spAutoFit/>
          </a:bodyPr>
          <a:lstStyle/>
          <a:p>
            <a:pPr algn="l"/>
            <a:r>
              <a:rPr sz="1019" b="0" i="0">
                <a:solidFill>
                  <a:srgbClr val="C9D6EA"/>
                </a:solidFill>
                <a:latin typeface="Outfit"/>
              </a:rPr>
              <a:t>Classifies every state into Green (Safe/Reliable), Yellow (Moderate Risk), or Red (High Drought Risk) based on real recurrence data.</a:t>
            </a:r>
          </a:p>
        </p:txBody>
      </p:sp>
      <p:sp>
        <p:nvSpPr>
          <p:cNvPr id="16" name="Rectangle 15"/>
          <p:cNvSpPr/>
          <p:nvPr/>
        </p:nvSpPr>
        <p:spPr>
          <a:xfrm>
            <a:off x="6204000" y="3168000"/>
            <a:ext cx="5439360" cy="1692000"/>
          </a:xfrm>
          <a:prstGeom prst="rect">
            <a:avLst/>
          </a:prstGeom>
          <a:solidFill>
            <a:srgbClr val="0F2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204000" y="3168000"/>
            <a:ext cx="72000" cy="1692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20000" y="3312000"/>
            <a:ext cx="5079360" cy="288000"/>
          </a:xfrm>
          <a:prstGeom prst="rect">
            <a:avLst/>
          </a:prstGeom>
          <a:noFill/>
        </p:spPr>
        <p:txBody>
          <a:bodyPr wrap="square">
            <a:spAutoFit/>
          </a:bodyPr>
          <a:lstStyle/>
          <a:p>
            <a:pPr algn="l"/>
            <a:r>
              <a:rPr sz="1300" b="1" i="0">
                <a:solidFill>
                  <a:srgbClr val="FFFFFF"/>
                </a:solidFill>
                <a:latin typeface="Outfit"/>
              </a:rPr>
              <a:t>Zero-Setup Cloud Access</a:t>
            </a:r>
          </a:p>
        </p:txBody>
      </p:sp>
      <p:sp>
        <p:nvSpPr>
          <p:cNvPr id="19" name="TextBox 18"/>
          <p:cNvSpPr txBox="1"/>
          <p:nvPr/>
        </p:nvSpPr>
        <p:spPr>
          <a:xfrm>
            <a:off x="6420000" y="3671999"/>
            <a:ext cx="5007360" cy="1080000"/>
          </a:xfrm>
          <a:prstGeom prst="rect">
            <a:avLst/>
          </a:prstGeom>
          <a:noFill/>
        </p:spPr>
        <p:txBody>
          <a:bodyPr wrap="square">
            <a:spAutoFit/>
          </a:bodyPr>
          <a:lstStyle/>
          <a:p>
            <a:pPr algn="l"/>
            <a:r>
              <a:rPr sz="1019" b="0" i="0">
                <a:solidFill>
                  <a:srgbClr val="C9D6EA"/>
                </a:solidFill>
                <a:latin typeface="Outfit"/>
              </a:rPr>
              <a:t>Hosted live on Streamlit Cloud so teachers and students can open it instantly from any phone or laptop browser without installing Python.</a:t>
            </a:r>
          </a:p>
        </p:txBody>
      </p:sp>
      <p:sp>
        <p:nvSpPr>
          <p:cNvPr id="20" name="TextBox 19"/>
          <p:cNvSpPr txBox="1"/>
          <p:nvPr/>
        </p:nvSpPr>
        <p:spPr>
          <a:xfrm>
            <a:off x="548640" y="5328000"/>
            <a:ext cx="11094720" cy="540000"/>
          </a:xfrm>
          <a:prstGeom prst="rect">
            <a:avLst/>
          </a:prstGeom>
          <a:noFill/>
        </p:spPr>
        <p:txBody>
          <a:bodyPr wrap="square">
            <a:spAutoFit/>
          </a:bodyPr>
          <a:lstStyle/>
          <a:p>
            <a:pPr algn="l"/>
            <a:r>
              <a:rPr sz="1100" b="1" i="0">
                <a:solidFill>
                  <a:srgbClr val="38BDF8"/>
                </a:solidFill>
                <a:latin typeface="Outfit"/>
              </a:rPr>
              <a:t>🌐 Live Web Link: https://adarshkumarsingh5732-cpu-my-streamlit-dashboard-app-h5z5y7.streamlit.app/  (or localhost:8501)</a:t>
            </a:r>
          </a:p>
        </p:txBody>
      </p:sp>
      <p:sp>
        <p:nvSpPr>
          <p:cNvPr id="21" name="Rectangle 20"/>
          <p:cNvSpPr/>
          <p:nvPr/>
        </p:nvSpPr>
        <p:spPr>
          <a:xfrm>
            <a:off x="0" y="6570000"/>
            <a:ext cx="12192000" cy="288000"/>
          </a:xfrm>
          <a:prstGeom prst="rect">
            <a:avLst/>
          </a:prstGeom>
          <a:solidFill>
            <a:srgbClr val="0F2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48640" y="6598800"/>
            <a:ext cx="5760000" cy="216000"/>
          </a:xfrm>
          <a:prstGeom prst="rect">
            <a:avLst/>
          </a:prstGeom>
          <a:noFill/>
        </p:spPr>
        <p:txBody>
          <a:bodyPr wrap="square">
            <a:spAutoFit/>
          </a:bodyPr>
          <a:lstStyle/>
          <a:p>
            <a:pPr algn="l"/>
            <a:r>
              <a:rPr sz="750" b="0" i="0">
                <a:solidFill>
                  <a:srgbClr val="C9D6EA"/>
                </a:solidFill>
                <a:latin typeface="Outfit"/>
              </a:rPr>
              <a:t>VARSA  ·  Final Project Review &amp; Defense  ·  Probability &amp; Statistics (BAMAT207)</a:t>
            </a:r>
          </a:p>
        </p:txBody>
      </p:sp>
      <p:sp>
        <p:nvSpPr>
          <p:cNvPr id="23" name="TextBox 22"/>
          <p:cNvSpPr txBox="1"/>
          <p:nvPr/>
        </p:nvSpPr>
        <p:spPr>
          <a:xfrm>
            <a:off x="10932000" y="6598800"/>
            <a:ext cx="1080000" cy="216000"/>
          </a:xfrm>
          <a:prstGeom prst="rect">
            <a:avLst/>
          </a:prstGeom>
          <a:noFill/>
        </p:spPr>
        <p:txBody>
          <a:bodyPr wrap="square">
            <a:spAutoFit/>
          </a:bodyPr>
          <a:lstStyle/>
          <a:p>
            <a:pPr algn="r"/>
            <a:r>
              <a:rPr sz="750" b="0" i="0">
                <a:solidFill>
                  <a:srgbClr val="C9D6EA"/>
                </a:solidFill>
                <a:latin typeface="Outfit"/>
              </a:rPr>
              <a:t>16 / 20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B1428"/>
        </a:solidFill>
        <a:effectLst/>
      </p:bgPr>
    </p:bg>
    <p:spTree>
      <p:nvGrpSpPr>
        <p:cNvPr id="1" name=""/>
        <p:cNvGrpSpPr/>
        <p:nvPr/>
      </p:nvGrpSpPr>
      <p:grpSpPr/>
      <p:sp>
        <p:nvSpPr>
          <p:cNvPr id="2" name="TextBox 1"/>
          <p:cNvSpPr txBox="1"/>
          <p:nvPr/>
        </p:nvSpPr>
        <p:spPr>
          <a:xfrm>
            <a:off x="548640" y="244800"/>
            <a:ext cx="11094720" cy="827999"/>
          </a:xfrm>
          <a:prstGeom prst="rect">
            <a:avLst/>
          </a:prstGeom>
          <a:noFill/>
        </p:spPr>
        <p:txBody>
          <a:bodyPr wrap="square" tIns="0" bIns="0" lIns="0" rIns="0">
            <a:spAutoFit/>
          </a:bodyPr>
          <a:lstStyle/>
          <a:p>
            <a:pPr>
              <a:spcAft>
                <a:spcPts val="700"/>
              </a:spcAft>
            </a:pPr>
            <a:r>
              <a:rPr sz="800" b="1">
                <a:solidFill>
                  <a:srgbClr val="E0A526"/>
                </a:solidFill>
                <a:latin typeface="Outfit"/>
              </a:rPr>
              <a:t>07  ·  3D VISUAL ATLAS</a:t>
            </a:r>
          </a:p>
          <a:p>
            <a:pPr>
              <a:spcBef>
                <a:spcPts val="400"/>
              </a:spcBef>
            </a:pPr>
            <a:r>
              <a:rPr sz="1800" b="1">
                <a:solidFill>
                  <a:srgbClr val="FFFFFF"/>
                </a:solidFill>
                <a:latin typeface="Outfit"/>
              </a:rPr>
              <a:t>3D Rainfall Map: Watching 125 Years Like a Movie</a:t>
            </a:r>
          </a:p>
          <a:p>
            <a:pPr>
              <a:spcBef>
                <a:spcPts val="300"/>
              </a:spcBef>
            </a:pPr>
            <a:r>
              <a:rPr sz="900" i="1">
                <a:solidFill>
                  <a:srgbClr val="C9D6EA"/>
                </a:solidFill>
                <a:latin typeface="Outfit"/>
              </a:rPr>
              <a:t>Built with WebGL 3D graphics: prism height shows rainfall, color shows departures from normal.</a:t>
            </a:r>
          </a:p>
        </p:txBody>
      </p:sp>
      <p:sp>
        <p:nvSpPr>
          <p:cNvPr id="3" name="Rectangle 2"/>
          <p:cNvSpPr/>
          <p:nvPr/>
        </p:nvSpPr>
        <p:spPr>
          <a:xfrm>
            <a:off x="548640" y="1080000"/>
            <a:ext cx="11094720" cy="18000"/>
          </a:xfrm>
          <a:prstGeom prst="rect">
            <a:avLst/>
          </a:prstGeom>
          <a:solidFill>
            <a:srgbClr val="1E35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48640" y="1296000"/>
            <a:ext cx="5439360" cy="1692000"/>
          </a:xfrm>
          <a:prstGeom prst="rect">
            <a:avLst/>
          </a:prstGeom>
          <a:solidFill>
            <a:srgbClr val="0F2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296000"/>
            <a:ext cx="72000" cy="169200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64640" y="1440000"/>
            <a:ext cx="5079360" cy="288000"/>
          </a:xfrm>
          <a:prstGeom prst="rect">
            <a:avLst/>
          </a:prstGeom>
          <a:noFill/>
        </p:spPr>
        <p:txBody>
          <a:bodyPr wrap="square">
            <a:spAutoFit/>
          </a:bodyPr>
          <a:lstStyle/>
          <a:p>
            <a:pPr algn="l"/>
            <a:r>
              <a:rPr sz="1300" b="1" i="0">
                <a:solidFill>
                  <a:srgbClr val="FFFFFF"/>
                </a:solidFill>
                <a:latin typeface="Outfit"/>
              </a:rPr>
              <a:t>Height = Water Volume</a:t>
            </a:r>
          </a:p>
        </p:txBody>
      </p:sp>
      <p:sp>
        <p:nvSpPr>
          <p:cNvPr id="7" name="TextBox 6"/>
          <p:cNvSpPr txBox="1"/>
          <p:nvPr/>
        </p:nvSpPr>
        <p:spPr>
          <a:xfrm>
            <a:off x="764640" y="1799999"/>
            <a:ext cx="5007360" cy="1080000"/>
          </a:xfrm>
          <a:prstGeom prst="rect">
            <a:avLst/>
          </a:prstGeom>
          <a:noFill/>
        </p:spPr>
        <p:txBody>
          <a:bodyPr wrap="square">
            <a:spAutoFit/>
          </a:bodyPr>
          <a:lstStyle/>
          <a:p>
            <a:pPr algn="l"/>
            <a:r>
              <a:rPr sz="1019" b="0" i="0">
                <a:solidFill>
                  <a:srgbClr val="C9D6EA"/>
                </a:solidFill>
                <a:latin typeface="Outfit"/>
              </a:rPr>
              <a:t>States with heavy rainfall shoot up like tall 3D skyscrapers, while desert regions stay flat. Instantly shows the geographic disparity at a glance.</a:t>
            </a:r>
          </a:p>
        </p:txBody>
      </p:sp>
      <p:sp>
        <p:nvSpPr>
          <p:cNvPr id="8" name="Rectangle 7"/>
          <p:cNvSpPr/>
          <p:nvPr/>
        </p:nvSpPr>
        <p:spPr>
          <a:xfrm>
            <a:off x="6204000" y="1296000"/>
            <a:ext cx="5439360" cy="1692000"/>
          </a:xfrm>
          <a:prstGeom prst="rect">
            <a:avLst/>
          </a:prstGeom>
          <a:solidFill>
            <a:srgbClr val="0F2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204000" y="1296000"/>
            <a:ext cx="72000" cy="1692000"/>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20000" y="1440000"/>
            <a:ext cx="5079360" cy="288000"/>
          </a:xfrm>
          <a:prstGeom prst="rect">
            <a:avLst/>
          </a:prstGeom>
          <a:noFill/>
        </p:spPr>
        <p:txBody>
          <a:bodyPr wrap="square">
            <a:spAutoFit/>
          </a:bodyPr>
          <a:lstStyle/>
          <a:p>
            <a:pPr algn="l"/>
            <a:r>
              <a:rPr sz="1300" b="1" i="0">
                <a:solidFill>
                  <a:srgbClr val="FFFFFF"/>
                </a:solidFill>
                <a:latin typeface="Outfit"/>
              </a:rPr>
              <a:t>Color = Good vs Bad Year</a:t>
            </a:r>
          </a:p>
        </p:txBody>
      </p:sp>
      <p:sp>
        <p:nvSpPr>
          <p:cNvPr id="11" name="TextBox 10"/>
          <p:cNvSpPr txBox="1"/>
          <p:nvPr/>
        </p:nvSpPr>
        <p:spPr>
          <a:xfrm>
            <a:off x="6420000" y="1799999"/>
            <a:ext cx="5007360" cy="1080000"/>
          </a:xfrm>
          <a:prstGeom prst="rect">
            <a:avLst/>
          </a:prstGeom>
          <a:noFill/>
        </p:spPr>
        <p:txBody>
          <a:bodyPr wrap="square">
            <a:spAutoFit/>
          </a:bodyPr>
          <a:lstStyle/>
          <a:p>
            <a:pPr algn="l"/>
            <a:r>
              <a:rPr sz="1019" b="0" i="0">
                <a:solidFill>
                  <a:srgbClr val="C9D6EA"/>
                </a:solidFill>
                <a:latin typeface="Outfit"/>
              </a:rPr>
              <a:t>Blue and green mean excess rain; yellow, orange, and red mean deficit. A single glance tells you which parts of India suffered in any given year.</a:t>
            </a:r>
          </a:p>
        </p:txBody>
      </p:sp>
      <p:sp>
        <p:nvSpPr>
          <p:cNvPr id="12" name="Rectangle 11"/>
          <p:cNvSpPr/>
          <p:nvPr/>
        </p:nvSpPr>
        <p:spPr>
          <a:xfrm>
            <a:off x="548640" y="3168000"/>
            <a:ext cx="5439360" cy="1692000"/>
          </a:xfrm>
          <a:prstGeom prst="rect">
            <a:avLst/>
          </a:prstGeom>
          <a:solidFill>
            <a:srgbClr val="0F2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168000"/>
            <a:ext cx="72000" cy="1692000"/>
          </a:xfrm>
          <a:prstGeom prst="rect">
            <a:avLst/>
          </a:prstGeom>
          <a:solidFill>
            <a:srgbClr val="E0A5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4640" y="3312000"/>
            <a:ext cx="5079360" cy="288000"/>
          </a:xfrm>
          <a:prstGeom prst="rect">
            <a:avLst/>
          </a:prstGeom>
          <a:noFill/>
        </p:spPr>
        <p:txBody>
          <a:bodyPr wrap="square">
            <a:spAutoFit/>
          </a:bodyPr>
          <a:lstStyle/>
          <a:p>
            <a:pPr algn="l"/>
            <a:r>
              <a:rPr sz="1300" b="1" i="0">
                <a:solidFill>
                  <a:srgbClr val="FFFFFF"/>
                </a:solidFill>
                <a:latin typeface="Outfit"/>
              </a:rPr>
              <a:t>Smooth 125-Year Playback</a:t>
            </a:r>
          </a:p>
        </p:txBody>
      </p:sp>
      <p:sp>
        <p:nvSpPr>
          <p:cNvPr id="15" name="TextBox 14"/>
          <p:cNvSpPr txBox="1"/>
          <p:nvPr/>
        </p:nvSpPr>
        <p:spPr>
          <a:xfrm>
            <a:off x="764640" y="3671999"/>
            <a:ext cx="5007360" cy="1080000"/>
          </a:xfrm>
          <a:prstGeom prst="rect">
            <a:avLst/>
          </a:prstGeom>
          <a:noFill/>
        </p:spPr>
        <p:txBody>
          <a:bodyPr wrap="square">
            <a:spAutoFit/>
          </a:bodyPr>
          <a:lstStyle/>
          <a:p>
            <a:pPr algn="l"/>
            <a:r>
              <a:rPr sz="1019" b="0" i="0">
                <a:solidFill>
                  <a:srgbClr val="C9D6EA"/>
                </a:solidFill>
                <a:latin typeface="Outfit"/>
              </a:rPr>
              <a:t>Press 'Play' and watch 125 years of Indian monsoon history animate smoothly at 60 frames per second directly in the browser.</a:t>
            </a:r>
          </a:p>
        </p:txBody>
      </p:sp>
      <p:sp>
        <p:nvSpPr>
          <p:cNvPr id="16" name="Rectangle 15"/>
          <p:cNvSpPr/>
          <p:nvPr/>
        </p:nvSpPr>
        <p:spPr>
          <a:xfrm>
            <a:off x="6204000" y="3168000"/>
            <a:ext cx="5439360" cy="1692000"/>
          </a:xfrm>
          <a:prstGeom prst="rect">
            <a:avLst/>
          </a:prstGeom>
          <a:solidFill>
            <a:srgbClr val="0F2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204000" y="3168000"/>
            <a:ext cx="72000" cy="1692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20000" y="3312000"/>
            <a:ext cx="5079360" cy="288000"/>
          </a:xfrm>
          <a:prstGeom prst="rect">
            <a:avLst/>
          </a:prstGeom>
          <a:noFill/>
        </p:spPr>
        <p:txBody>
          <a:bodyPr wrap="square">
            <a:spAutoFit/>
          </a:bodyPr>
          <a:lstStyle/>
          <a:p>
            <a:pPr algn="l"/>
            <a:r>
              <a:rPr sz="1300" b="1" i="0">
                <a:solidFill>
                  <a:srgbClr val="FFFFFF"/>
                </a:solidFill>
                <a:latin typeface="Outfit"/>
              </a:rPr>
              <a:t>Instant Static Deployment on Vercel</a:t>
            </a:r>
          </a:p>
        </p:txBody>
      </p:sp>
      <p:sp>
        <p:nvSpPr>
          <p:cNvPr id="19" name="TextBox 18"/>
          <p:cNvSpPr txBox="1"/>
          <p:nvPr/>
        </p:nvSpPr>
        <p:spPr>
          <a:xfrm>
            <a:off x="6420000" y="3671999"/>
            <a:ext cx="5007360" cy="1080000"/>
          </a:xfrm>
          <a:prstGeom prst="rect">
            <a:avLst/>
          </a:prstGeom>
          <a:noFill/>
        </p:spPr>
        <p:txBody>
          <a:bodyPr wrap="square">
            <a:spAutoFit/>
          </a:bodyPr>
          <a:lstStyle/>
          <a:p>
            <a:pPr algn="l"/>
            <a:r>
              <a:rPr sz="1019" b="0" i="0">
                <a:solidFill>
                  <a:srgbClr val="C9D6EA"/>
                </a:solidFill>
                <a:latin typeface="Outfit"/>
              </a:rPr>
              <a:t>Deploys directly from GitHub to Vercel's global CDN. Loads in milliseconds without needing a heavy cloud backend.</a:t>
            </a:r>
          </a:p>
        </p:txBody>
      </p:sp>
      <p:sp>
        <p:nvSpPr>
          <p:cNvPr id="20" name="TextBox 19"/>
          <p:cNvSpPr txBox="1"/>
          <p:nvPr/>
        </p:nvSpPr>
        <p:spPr>
          <a:xfrm>
            <a:off x="548640" y="5328000"/>
            <a:ext cx="11094720" cy="540000"/>
          </a:xfrm>
          <a:prstGeom prst="rect">
            <a:avLst/>
          </a:prstGeom>
          <a:noFill/>
        </p:spPr>
        <p:txBody>
          <a:bodyPr wrap="square">
            <a:spAutoFit/>
          </a:bodyPr>
          <a:lstStyle/>
          <a:p>
            <a:pPr algn="l"/>
            <a:r>
              <a:rPr sz="1100" b="1" i="0">
                <a:solidFill>
                  <a:srgbClr val="22C55E"/>
                </a:solidFill>
                <a:latin typeface="Outfit"/>
              </a:rPr>
              <a:t>🚀 Static Web URL: https://varsa.vercel.app  (Zero-lag 3D WebGL rendering in any modern browser)</a:t>
            </a:r>
          </a:p>
        </p:txBody>
      </p:sp>
      <p:sp>
        <p:nvSpPr>
          <p:cNvPr id="21" name="Rectangle 20"/>
          <p:cNvSpPr/>
          <p:nvPr/>
        </p:nvSpPr>
        <p:spPr>
          <a:xfrm>
            <a:off x="0" y="6570000"/>
            <a:ext cx="12192000" cy="288000"/>
          </a:xfrm>
          <a:prstGeom prst="rect">
            <a:avLst/>
          </a:prstGeom>
          <a:solidFill>
            <a:srgbClr val="0F2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48640" y="6598800"/>
            <a:ext cx="5760000" cy="216000"/>
          </a:xfrm>
          <a:prstGeom prst="rect">
            <a:avLst/>
          </a:prstGeom>
          <a:noFill/>
        </p:spPr>
        <p:txBody>
          <a:bodyPr wrap="square">
            <a:spAutoFit/>
          </a:bodyPr>
          <a:lstStyle/>
          <a:p>
            <a:pPr algn="l"/>
            <a:r>
              <a:rPr sz="750" b="0" i="0">
                <a:solidFill>
                  <a:srgbClr val="C9D6EA"/>
                </a:solidFill>
                <a:latin typeface="Outfit"/>
              </a:rPr>
              <a:t>VARSA  ·  Final Project Review &amp; Defense  ·  Probability &amp; Statistics (BAMAT207)</a:t>
            </a:r>
          </a:p>
        </p:txBody>
      </p:sp>
      <p:sp>
        <p:nvSpPr>
          <p:cNvPr id="23" name="TextBox 22"/>
          <p:cNvSpPr txBox="1"/>
          <p:nvPr/>
        </p:nvSpPr>
        <p:spPr>
          <a:xfrm>
            <a:off x="10932000" y="6598800"/>
            <a:ext cx="1080000" cy="216000"/>
          </a:xfrm>
          <a:prstGeom prst="rect">
            <a:avLst/>
          </a:prstGeom>
          <a:noFill/>
        </p:spPr>
        <p:txBody>
          <a:bodyPr wrap="square">
            <a:spAutoFit/>
          </a:bodyPr>
          <a:lstStyle/>
          <a:p>
            <a:pPr algn="r"/>
            <a:r>
              <a:rPr sz="750" b="0" i="0">
                <a:solidFill>
                  <a:srgbClr val="C9D6EA"/>
                </a:solidFill>
                <a:latin typeface="Outfit"/>
              </a:rPr>
              <a:t>17 / 20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B1428"/>
        </a:solidFill>
        <a:effectLst/>
      </p:bgPr>
    </p:bg>
    <p:spTree>
      <p:nvGrpSpPr>
        <p:cNvPr id="1" name=""/>
        <p:cNvGrpSpPr/>
        <p:nvPr/>
      </p:nvGrpSpPr>
      <p:grpSpPr/>
      <p:sp>
        <p:nvSpPr>
          <p:cNvPr id="2" name="TextBox 1"/>
          <p:cNvSpPr txBox="1"/>
          <p:nvPr/>
        </p:nvSpPr>
        <p:spPr>
          <a:xfrm>
            <a:off x="548640" y="244800"/>
            <a:ext cx="11094720" cy="827999"/>
          </a:xfrm>
          <a:prstGeom prst="rect">
            <a:avLst/>
          </a:prstGeom>
          <a:noFill/>
        </p:spPr>
        <p:txBody>
          <a:bodyPr wrap="square" tIns="0" bIns="0" lIns="0" rIns="0">
            <a:spAutoFit/>
          </a:bodyPr>
          <a:lstStyle/>
          <a:p>
            <a:pPr>
              <a:spcAft>
                <a:spcPts val="700"/>
              </a:spcAft>
            </a:pPr>
            <a:r>
              <a:rPr sz="800" b="1">
                <a:solidFill>
                  <a:srgbClr val="E0A526"/>
                </a:solidFill>
                <a:latin typeface="Outfit"/>
              </a:rPr>
              <a:t>08  ·  SCIENTIFIC DISCIPLINE</a:t>
            </a:r>
          </a:p>
          <a:p>
            <a:pPr>
              <a:spcBef>
                <a:spcPts val="400"/>
              </a:spcBef>
            </a:pPr>
            <a:r>
              <a:rPr sz="1800" b="1">
                <a:solidFill>
                  <a:srgbClr val="FFFFFF"/>
                </a:solidFill>
                <a:latin typeface="Outfit"/>
              </a:rPr>
              <a:t>Four Statistical Traps We Carefully Avoided</a:t>
            </a:r>
          </a:p>
          <a:p>
            <a:pPr>
              <a:spcBef>
                <a:spcPts val="300"/>
              </a:spcBef>
            </a:pPr>
            <a:r>
              <a:rPr sz="900" i="1">
                <a:solidFill>
                  <a:srgbClr val="C9D6EA"/>
                </a:solidFill>
                <a:latin typeface="Outfit"/>
              </a:rPr>
              <a:t>Why our conclusions are trustworthy and won't mislead agricultural planners.</a:t>
            </a:r>
          </a:p>
        </p:txBody>
      </p:sp>
      <p:sp>
        <p:nvSpPr>
          <p:cNvPr id="3" name="Rectangle 2"/>
          <p:cNvSpPr/>
          <p:nvPr/>
        </p:nvSpPr>
        <p:spPr>
          <a:xfrm>
            <a:off x="548640" y="1080000"/>
            <a:ext cx="11094720" cy="18000"/>
          </a:xfrm>
          <a:prstGeom prst="rect">
            <a:avLst/>
          </a:prstGeom>
          <a:solidFill>
            <a:srgbClr val="1E35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48640" y="1296000"/>
            <a:ext cx="5439360" cy="1692000"/>
          </a:xfrm>
          <a:prstGeom prst="rect">
            <a:avLst/>
          </a:prstGeom>
          <a:solidFill>
            <a:srgbClr val="0F2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296000"/>
            <a:ext cx="72000" cy="1692000"/>
          </a:xfrm>
          <a:prstGeom prst="rect">
            <a:avLst/>
          </a:prstGeom>
          <a:solidFill>
            <a:srgbClr val="F87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64640" y="1440000"/>
            <a:ext cx="5079360" cy="288000"/>
          </a:xfrm>
          <a:prstGeom prst="rect">
            <a:avLst/>
          </a:prstGeom>
          <a:noFill/>
        </p:spPr>
        <p:txBody>
          <a:bodyPr wrap="square">
            <a:spAutoFit/>
          </a:bodyPr>
          <a:lstStyle/>
          <a:p>
            <a:pPr algn="l"/>
            <a:r>
              <a:rPr sz="1300" b="1" i="0">
                <a:solidFill>
                  <a:srgbClr val="FFFFFF"/>
                </a:solidFill>
                <a:latin typeface="Outfit"/>
              </a:rPr>
              <a:t>1. The 'Equal Variance' Trap</a:t>
            </a:r>
          </a:p>
        </p:txBody>
      </p:sp>
      <p:sp>
        <p:nvSpPr>
          <p:cNvPr id="7" name="TextBox 6"/>
          <p:cNvSpPr txBox="1"/>
          <p:nvPr/>
        </p:nvSpPr>
        <p:spPr>
          <a:xfrm>
            <a:off x="764640" y="1799999"/>
            <a:ext cx="5007360" cy="1080000"/>
          </a:xfrm>
          <a:prstGeom prst="rect">
            <a:avLst/>
          </a:prstGeom>
          <a:noFill/>
        </p:spPr>
        <p:txBody>
          <a:bodyPr wrap="square">
            <a:spAutoFit/>
          </a:bodyPr>
          <a:lstStyle/>
          <a:p>
            <a:pPr algn="l"/>
            <a:r>
              <a:rPr sz="1019" b="0" i="0">
                <a:solidFill>
                  <a:srgbClr val="C9D6EA"/>
                </a:solidFill>
                <a:latin typeface="Outfit"/>
              </a:rPr>
              <a:t>Trap: Assuming all states have similar fluctuations. Reality: Kerala varies by 14% while desert states swing by 70%. Solution: Used Welch's ANOVA, not naive textbook ANOVA.</a:t>
            </a:r>
          </a:p>
        </p:txBody>
      </p:sp>
      <p:sp>
        <p:nvSpPr>
          <p:cNvPr id="8" name="Rectangle 7"/>
          <p:cNvSpPr/>
          <p:nvPr/>
        </p:nvSpPr>
        <p:spPr>
          <a:xfrm>
            <a:off x="6204000" y="1296000"/>
            <a:ext cx="5439360" cy="1692000"/>
          </a:xfrm>
          <a:prstGeom prst="rect">
            <a:avLst/>
          </a:prstGeom>
          <a:solidFill>
            <a:srgbClr val="0F2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204000" y="1296000"/>
            <a:ext cx="72000" cy="1692000"/>
          </a:xfrm>
          <a:prstGeom prst="rect">
            <a:avLst/>
          </a:prstGeom>
          <a:solidFill>
            <a:srgbClr val="E0A5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20000" y="1440000"/>
            <a:ext cx="5079360" cy="288000"/>
          </a:xfrm>
          <a:prstGeom prst="rect">
            <a:avLst/>
          </a:prstGeom>
          <a:noFill/>
        </p:spPr>
        <p:txBody>
          <a:bodyPr wrap="square">
            <a:spAutoFit/>
          </a:bodyPr>
          <a:lstStyle/>
          <a:p>
            <a:pPr algn="l"/>
            <a:r>
              <a:rPr sz="1300" b="1" i="0">
                <a:solidFill>
                  <a:srgbClr val="FFFFFF"/>
                </a:solidFill>
                <a:latin typeface="Outfit"/>
              </a:rPr>
              <a:t>2. The 'Multiple Dice' Trap (p-Hacking)</a:t>
            </a:r>
          </a:p>
        </p:txBody>
      </p:sp>
      <p:sp>
        <p:nvSpPr>
          <p:cNvPr id="11" name="TextBox 10"/>
          <p:cNvSpPr txBox="1"/>
          <p:nvPr/>
        </p:nvSpPr>
        <p:spPr>
          <a:xfrm>
            <a:off x="6420000" y="1799999"/>
            <a:ext cx="5007360" cy="1080000"/>
          </a:xfrm>
          <a:prstGeom prst="rect">
            <a:avLst/>
          </a:prstGeom>
          <a:noFill/>
        </p:spPr>
        <p:txBody>
          <a:bodyPr wrap="square">
            <a:spAutoFit/>
          </a:bodyPr>
          <a:lstStyle/>
          <a:p>
            <a:pPr algn="l"/>
            <a:r>
              <a:rPr sz="1019" b="0" i="0">
                <a:solidFill>
                  <a:srgbClr val="C9D6EA"/>
                </a:solidFill>
                <a:latin typeface="Outfit"/>
              </a:rPr>
              <a:t>Trap: If you test 36 regions, random luck makes 2 or 3 look like they are drying up. Solution: Applied Benjamini–Hochberg False Discovery Rate to eliminate fake signals.</a:t>
            </a:r>
          </a:p>
        </p:txBody>
      </p:sp>
      <p:sp>
        <p:nvSpPr>
          <p:cNvPr id="12" name="Rectangle 11"/>
          <p:cNvSpPr/>
          <p:nvPr/>
        </p:nvSpPr>
        <p:spPr>
          <a:xfrm>
            <a:off x="548640" y="3168000"/>
            <a:ext cx="5439360" cy="1692000"/>
          </a:xfrm>
          <a:prstGeom prst="rect">
            <a:avLst/>
          </a:prstGeom>
          <a:solidFill>
            <a:srgbClr val="0F2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168000"/>
            <a:ext cx="72000" cy="1692000"/>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4640" y="3312000"/>
            <a:ext cx="5079360" cy="288000"/>
          </a:xfrm>
          <a:prstGeom prst="rect">
            <a:avLst/>
          </a:prstGeom>
          <a:noFill/>
        </p:spPr>
        <p:txBody>
          <a:bodyPr wrap="square">
            <a:spAutoFit/>
          </a:bodyPr>
          <a:lstStyle/>
          <a:p>
            <a:pPr algn="l"/>
            <a:r>
              <a:rPr sz="1300" b="1" i="0">
                <a:solidFill>
                  <a:srgbClr val="FFFFFF"/>
                </a:solidFill>
                <a:latin typeface="Outfit"/>
              </a:rPr>
              <a:t>3. The 'One Bell Curve' Trap</a:t>
            </a:r>
          </a:p>
        </p:txBody>
      </p:sp>
      <p:sp>
        <p:nvSpPr>
          <p:cNvPr id="15" name="TextBox 14"/>
          <p:cNvSpPr txBox="1"/>
          <p:nvPr/>
        </p:nvSpPr>
        <p:spPr>
          <a:xfrm>
            <a:off x="764640" y="3671999"/>
            <a:ext cx="5007360" cy="1080000"/>
          </a:xfrm>
          <a:prstGeom prst="rect">
            <a:avLst/>
          </a:prstGeom>
          <a:noFill/>
        </p:spPr>
        <p:txBody>
          <a:bodyPr wrap="square">
            <a:spAutoFit/>
          </a:bodyPr>
          <a:lstStyle/>
          <a:p>
            <a:pPr algn="l"/>
            <a:r>
              <a:rPr sz="1019" b="0" i="0">
                <a:solidFill>
                  <a:srgbClr val="C9D6EA"/>
                </a:solidFill>
                <a:latin typeface="Outfit"/>
              </a:rPr>
              <a:t>Trap: Forcing heavy monsoon storms into a symmetric bell curve. Solution: Proved Lognormal models are required for pooled data, while individual states remain Gaussian.</a:t>
            </a:r>
          </a:p>
        </p:txBody>
      </p:sp>
      <p:sp>
        <p:nvSpPr>
          <p:cNvPr id="16" name="Rectangle 15"/>
          <p:cNvSpPr/>
          <p:nvPr/>
        </p:nvSpPr>
        <p:spPr>
          <a:xfrm>
            <a:off x="6204000" y="3168000"/>
            <a:ext cx="5439360" cy="1692000"/>
          </a:xfrm>
          <a:prstGeom prst="rect">
            <a:avLst/>
          </a:prstGeom>
          <a:solidFill>
            <a:srgbClr val="0F2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204000" y="3168000"/>
            <a:ext cx="72000" cy="169200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20000" y="3312000"/>
            <a:ext cx="5079360" cy="288000"/>
          </a:xfrm>
          <a:prstGeom prst="rect">
            <a:avLst/>
          </a:prstGeom>
          <a:noFill/>
        </p:spPr>
        <p:txBody>
          <a:bodyPr wrap="square">
            <a:spAutoFit/>
          </a:bodyPr>
          <a:lstStyle/>
          <a:p>
            <a:pPr algn="l"/>
            <a:r>
              <a:rPr sz="1300" b="1" i="0">
                <a:solidFill>
                  <a:srgbClr val="FFFFFF"/>
                </a:solidFill>
                <a:latin typeface="Outfit"/>
              </a:rPr>
              <a:t>4. The 'Guessing Missing Data' Trap</a:t>
            </a:r>
          </a:p>
        </p:txBody>
      </p:sp>
      <p:sp>
        <p:nvSpPr>
          <p:cNvPr id="19" name="TextBox 18"/>
          <p:cNvSpPr txBox="1"/>
          <p:nvPr/>
        </p:nvSpPr>
        <p:spPr>
          <a:xfrm>
            <a:off x="6420000" y="3671999"/>
            <a:ext cx="5007360" cy="1080000"/>
          </a:xfrm>
          <a:prstGeom prst="rect">
            <a:avLst/>
          </a:prstGeom>
          <a:noFill/>
        </p:spPr>
        <p:txBody>
          <a:bodyPr wrap="square">
            <a:spAutoFit/>
          </a:bodyPr>
          <a:lstStyle/>
          <a:p>
            <a:pPr algn="l"/>
            <a:r>
              <a:rPr sz="1019" b="0" i="0">
                <a:solidFill>
                  <a:srgbClr val="C9D6EA"/>
                </a:solidFill>
                <a:latin typeface="Outfit"/>
              </a:rPr>
              <a:t>Trap: Filling broken official tables with made-up numbers. Solution: When 2020 IMD tables were scanned with errors, we gated it out and reported the gap honestly.</a:t>
            </a:r>
          </a:p>
        </p:txBody>
      </p:sp>
      <p:sp>
        <p:nvSpPr>
          <p:cNvPr id="20" name="Rectangle 19"/>
          <p:cNvSpPr/>
          <p:nvPr/>
        </p:nvSpPr>
        <p:spPr>
          <a:xfrm>
            <a:off x="0" y="6570000"/>
            <a:ext cx="12192000" cy="288000"/>
          </a:xfrm>
          <a:prstGeom prst="rect">
            <a:avLst/>
          </a:prstGeom>
          <a:solidFill>
            <a:srgbClr val="0F2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48640" y="6598800"/>
            <a:ext cx="5760000" cy="216000"/>
          </a:xfrm>
          <a:prstGeom prst="rect">
            <a:avLst/>
          </a:prstGeom>
          <a:noFill/>
        </p:spPr>
        <p:txBody>
          <a:bodyPr wrap="square">
            <a:spAutoFit/>
          </a:bodyPr>
          <a:lstStyle/>
          <a:p>
            <a:pPr algn="l"/>
            <a:r>
              <a:rPr sz="750" b="0" i="0">
                <a:solidFill>
                  <a:srgbClr val="C9D6EA"/>
                </a:solidFill>
                <a:latin typeface="Outfit"/>
              </a:rPr>
              <a:t>VARSA  ·  Final Project Review &amp; Defense  ·  Probability &amp; Statistics (BAMAT207)</a:t>
            </a:r>
          </a:p>
        </p:txBody>
      </p:sp>
      <p:sp>
        <p:nvSpPr>
          <p:cNvPr id="22" name="TextBox 21"/>
          <p:cNvSpPr txBox="1"/>
          <p:nvPr/>
        </p:nvSpPr>
        <p:spPr>
          <a:xfrm>
            <a:off x="10932000" y="6598800"/>
            <a:ext cx="1080000" cy="216000"/>
          </a:xfrm>
          <a:prstGeom prst="rect">
            <a:avLst/>
          </a:prstGeom>
          <a:noFill/>
        </p:spPr>
        <p:txBody>
          <a:bodyPr wrap="square">
            <a:spAutoFit/>
          </a:bodyPr>
          <a:lstStyle/>
          <a:p>
            <a:pPr algn="r"/>
            <a:r>
              <a:rPr sz="750" b="0" i="0">
                <a:solidFill>
                  <a:srgbClr val="C9D6EA"/>
                </a:solidFill>
                <a:latin typeface="Outfit"/>
              </a:rPr>
              <a:t>18 / 20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B1428"/>
        </a:solidFill>
        <a:effectLst/>
      </p:bgPr>
    </p:bg>
    <p:spTree>
      <p:nvGrpSpPr>
        <p:cNvPr id="1" name=""/>
        <p:cNvGrpSpPr/>
        <p:nvPr/>
      </p:nvGrpSpPr>
      <p:grpSpPr/>
      <p:sp>
        <p:nvSpPr>
          <p:cNvPr id="2" name="TextBox 1"/>
          <p:cNvSpPr txBox="1"/>
          <p:nvPr/>
        </p:nvSpPr>
        <p:spPr>
          <a:xfrm>
            <a:off x="548640" y="244800"/>
            <a:ext cx="11094720" cy="827999"/>
          </a:xfrm>
          <a:prstGeom prst="rect">
            <a:avLst/>
          </a:prstGeom>
          <a:noFill/>
        </p:spPr>
        <p:txBody>
          <a:bodyPr wrap="square" tIns="0" bIns="0" lIns="0" rIns="0">
            <a:spAutoFit/>
          </a:bodyPr>
          <a:lstStyle/>
          <a:p>
            <a:pPr>
              <a:spcAft>
                <a:spcPts val="700"/>
              </a:spcAft>
            </a:pPr>
            <a:r>
              <a:rPr sz="800" b="1">
                <a:solidFill>
                  <a:srgbClr val="E0A526"/>
                </a:solidFill>
                <a:latin typeface="Outfit"/>
              </a:rPr>
              <a:t>SYNTHESIS</a:t>
            </a:r>
          </a:p>
          <a:p>
            <a:pPr>
              <a:spcBef>
                <a:spcPts val="400"/>
              </a:spcBef>
            </a:pPr>
            <a:r>
              <a:rPr sz="1800" b="1">
                <a:solidFill>
                  <a:srgbClr val="FFFFFF"/>
                </a:solidFill>
                <a:latin typeface="Outfit"/>
              </a:rPr>
              <a:t>Five Simple Truths Every Teacher &amp; Citizen Should Know</a:t>
            </a:r>
          </a:p>
          <a:p>
            <a:pPr>
              <a:spcBef>
                <a:spcPts val="300"/>
              </a:spcBef>
            </a:pPr>
            <a:r>
              <a:rPr sz="900" i="1">
                <a:solidFill>
                  <a:srgbClr val="C9D6EA"/>
                </a:solidFill>
                <a:latin typeface="Outfit"/>
              </a:rPr>
              <a:t>The essential takeaways to remember about India's climate after 126 years of data.</a:t>
            </a:r>
          </a:p>
        </p:txBody>
      </p:sp>
      <p:sp>
        <p:nvSpPr>
          <p:cNvPr id="3" name="Rectangle 2"/>
          <p:cNvSpPr/>
          <p:nvPr/>
        </p:nvSpPr>
        <p:spPr>
          <a:xfrm>
            <a:off x="548640" y="1080000"/>
            <a:ext cx="11094720" cy="18000"/>
          </a:xfrm>
          <a:prstGeom prst="rect">
            <a:avLst/>
          </a:prstGeom>
          <a:solidFill>
            <a:srgbClr val="1E35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48640" y="1260000"/>
            <a:ext cx="648000" cy="648000"/>
          </a:xfrm>
          <a:prstGeom prst="rect">
            <a:avLst/>
          </a:prstGeom>
          <a:solidFill>
            <a:srgbClr val="0F2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02640" y="1385999"/>
            <a:ext cx="540000" cy="396000"/>
          </a:xfrm>
          <a:prstGeom prst="rect">
            <a:avLst/>
          </a:prstGeom>
          <a:noFill/>
        </p:spPr>
        <p:txBody>
          <a:bodyPr wrap="square">
            <a:spAutoFit/>
          </a:bodyPr>
          <a:lstStyle/>
          <a:p>
            <a:pPr algn="ctr"/>
            <a:r>
              <a:rPr sz="1800" b="1" i="0">
                <a:solidFill>
                  <a:srgbClr val="38BDF8"/>
                </a:solidFill>
                <a:latin typeface="Outfit"/>
              </a:rPr>
              <a:t>1</a:t>
            </a:r>
          </a:p>
        </p:txBody>
      </p:sp>
      <p:sp>
        <p:nvSpPr>
          <p:cNvPr id="6" name="TextBox 5"/>
          <p:cNvSpPr txBox="1"/>
          <p:nvPr/>
        </p:nvSpPr>
        <p:spPr>
          <a:xfrm>
            <a:off x="1376639" y="1296000"/>
            <a:ext cx="10080000" cy="270000"/>
          </a:xfrm>
          <a:prstGeom prst="rect">
            <a:avLst/>
          </a:prstGeom>
          <a:noFill/>
        </p:spPr>
        <p:txBody>
          <a:bodyPr wrap="square">
            <a:spAutoFit/>
          </a:bodyPr>
          <a:lstStyle/>
          <a:p>
            <a:pPr algn="l"/>
            <a:r>
              <a:rPr sz="1300" b="1" i="0">
                <a:solidFill>
                  <a:srgbClr val="FFFFFF"/>
                </a:solidFill>
                <a:latin typeface="Outfit"/>
              </a:rPr>
              <a:t>India's Lifeblood Is 120 Days</a:t>
            </a:r>
          </a:p>
        </p:txBody>
      </p:sp>
      <p:sp>
        <p:nvSpPr>
          <p:cNvPr id="7" name="TextBox 6"/>
          <p:cNvSpPr txBox="1"/>
          <p:nvPr/>
        </p:nvSpPr>
        <p:spPr>
          <a:xfrm>
            <a:off x="1376639" y="1584000"/>
            <a:ext cx="10080000" cy="306000"/>
          </a:xfrm>
          <a:prstGeom prst="rect">
            <a:avLst/>
          </a:prstGeom>
          <a:noFill/>
        </p:spPr>
        <p:txBody>
          <a:bodyPr wrap="square">
            <a:spAutoFit/>
          </a:bodyPr>
          <a:lstStyle/>
          <a:p>
            <a:pPr algn="l"/>
            <a:r>
              <a:rPr sz="1050" b="0" i="0">
                <a:solidFill>
                  <a:srgbClr val="C9D6EA"/>
                </a:solidFill>
                <a:latin typeface="Outfit"/>
              </a:rPr>
              <a:t>74% of rainfall occurs between June and September. Water policy must be built around saving 4 months of rain for 12 months of use.</a:t>
            </a:r>
          </a:p>
        </p:txBody>
      </p:sp>
      <p:sp>
        <p:nvSpPr>
          <p:cNvPr id="8" name="Rectangle 7"/>
          <p:cNvSpPr/>
          <p:nvPr/>
        </p:nvSpPr>
        <p:spPr>
          <a:xfrm>
            <a:off x="548640" y="2052000"/>
            <a:ext cx="648000" cy="648000"/>
          </a:xfrm>
          <a:prstGeom prst="rect">
            <a:avLst/>
          </a:prstGeom>
          <a:solidFill>
            <a:srgbClr val="0F2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02640" y="2177999"/>
            <a:ext cx="540000" cy="396000"/>
          </a:xfrm>
          <a:prstGeom prst="rect">
            <a:avLst/>
          </a:prstGeom>
          <a:noFill/>
        </p:spPr>
        <p:txBody>
          <a:bodyPr wrap="square">
            <a:spAutoFit/>
          </a:bodyPr>
          <a:lstStyle/>
          <a:p>
            <a:pPr algn="ctr"/>
            <a:r>
              <a:rPr sz="1800" b="1" i="0">
                <a:solidFill>
                  <a:srgbClr val="22C55E"/>
                </a:solidFill>
                <a:latin typeface="Outfit"/>
              </a:rPr>
              <a:t>2</a:t>
            </a:r>
          </a:p>
        </p:txBody>
      </p:sp>
      <p:sp>
        <p:nvSpPr>
          <p:cNvPr id="10" name="TextBox 9"/>
          <p:cNvSpPr txBox="1"/>
          <p:nvPr/>
        </p:nvSpPr>
        <p:spPr>
          <a:xfrm>
            <a:off x="1376639" y="2088000"/>
            <a:ext cx="10080000" cy="270000"/>
          </a:xfrm>
          <a:prstGeom prst="rect">
            <a:avLst/>
          </a:prstGeom>
          <a:noFill/>
        </p:spPr>
        <p:txBody>
          <a:bodyPr wrap="square">
            <a:spAutoFit/>
          </a:bodyPr>
          <a:lstStyle/>
          <a:p>
            <a:pPr algn="l"/>
            <a:r>
              <a:rPr sz="1300" b="1" i="0">
                <a:solidFill>
                  <a:srgbClr val="FFFFFF"/>
                </a:solidFill>
                <a:latin typeface="Outfit"/>
              </a:rPr>
              <a:t>Geography Dictates Everything</a:t>
            </a:r>
          </a:p>
        </p:txBody>
      </p:sp>
      <p:sp>
        <p:nvSpPr>
          <p:cNvPr id="11" name="TextBox 10"/>
          <p:cNvSpPr txBox="1"/>
          <p:nvPr/>
        </p:nvSpPr>
        <p:spPr>
          <a:xfrm>
            <a:off x="1376639" y="2376000"/>
            <a:ext cx="10080000" cy="306000"/>
          </a:xfrm>
          <a:prstGeom prst="rect">
            <a:avLst/>
          </a:prstGeom>
          <a:noFill/>
        </p:spPr>
        <p:txBody>
          <a:bodyPr wrap="square">
            <a:spAutoFit/>
          </a:bodyPr>
          <a:lstStyle/>
          <a:p>
            <a:pPr algn="l"/>
            <a:r>
              <a:rPr sz="1050" b="0" i="0">
                <a:solidFill>
                  <a:srgbClr val="C9D6EA"/>
                </a:solidFill>
                <a:latin typeface="Outfit"/>
              </a:rPr>
              <a:t>Location explains 86% of rainfall. Desert vs rainforest: national averages hide regional reality.</a:t>
            </a:r>
          </a:p>
        </p:txBody>
      </p:sp>
      <p:sp>
        <p:nvSpPr>
          <p:cNvPr id="12" name="Rectangle 11"/>
          <p:cNvSpPr/>
          <p:nvPr/>
        </p:nvSpPr>
        <p:spPr>
          <a:xfrm>
            <a:off x="548640" y="2844000"/>
            <a:ext cx="648000" cy="648000"/>
          </a:xfrm>
          <a:prstGeom prst="rect">
            <a:avLst/>
          </a:prstGeom>
          <a:solidFill>
            <a:srgbClr val="0F2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02640" y="2969999"/>
            <a:ext cx="540000" cy="396000"/>
          </a:xfrm>
          <a:prstGeom prst="rect">
            <a:avLst/>
          </a:prstGeom>
          <a:noFill/>
        </p:spPr>
        <p:txBody>
          <a:bodyPr wrap="square">
            <a:spAutoFit/>
          </a:bodyPr>
          <a:lstStyle/>
          <a:p>
            <a:pPr algn="ctr"/>
            <a:r>
              <a:rPr sz="1800" b="1" i="0">
                <a:solidFill>
                  <a:srgbClr val="E0A526"/>
                </a:solidFill>
                <a:latin typeface="Outfit"/>
              </a:rPr>
              <a:t>3</a:t>
            </a:r>
          </a:p>
        </p:txBody>
      </p:sp>
      <p:sp>
        <p:nvSpPr>
          <p:cNvPr id="14" name="TextBox 13"/>
          <p:cNvSpPr txBox="1"/>
          <p:nvPr/>
        </p:nvSpPr>
        <p:spPr>
          <a:xfrm>
            <a:off x="1376639" y="2880000"/>
            <a:ext cx="10080000" cy="270000"/>
          </a:xfrm>
          <a:prstGeom prst="rect">
            <a:avLst/>
          </a:prstGeom>
          <a:noFill/>
        </p:spPr>
        <p:txBody>
          <a:bodyPr wrap="square">
            <a:spAutoFit/>
          </a:bodyPr>
          <a:lstStyle/>
          <a:p>
            <a:pPr algn="l"/>
            <a:r>
              <a:rPr sz="1300" b="1" i="0">
                <a:solidFill>
                  <a:srgbClr val="FFFFFF"/>
                </a:solidFill>
                <a:latin typeface="Outfit"/>
              </a:rPr>
              <a:t>Total Rainfall Is NOT Disappearing</a:t>
            </a:r>
          </a:p>
        </p:txBody>
      </p:sp>
      <p:sp>
        <p:nvSpPr>
          <p:cNvPr id="15" name="TextBox 14"/>
          <p:cNvSpPr txBox="1"/>
          <p:nvPr/>
        </p:nvSpPr>
        <p:spPr>
          <a:xfrm>
            <a:off x="1376639" y="3168000"/>
            <a:ext cx="10080000" cy="306000"/>
          </a:xfrm>
          <a:prstGeom prst="rect">
            <a:avLst/>
          </a:prstGeom>
          <a:noFill/>
        </p:spPr>
        <p:txBody>
          <a:bodyPr wrap="square">
            <a:spAutoFit/>
          </a:bodyPr>
          <a:lstStyle/>
          <a:p>
            <a:pPr algn="l"/>
            <a:r>
              <a:rPr sz="1050" b="0" i="0">
                <a:solidFill>
                  <a:srgbClr val="C9D6EA"/>
                </a:solidFill>
                <a:latin typeface="Outfit"/>
              </a:rPr>
              <a:t>Across 125 years, the secular trend is virtually zero (-18 mm/century). Long-term rainfall volume is stable.</a:t>
            </a:r>
          </a:p>
        </p:txBody>
      </p:sp>
      <p:sp>
        <p:nvSpPr>
          <p:cNvPr id="16" name="Rectangle 15"/>
          <p:cNvSpPr/>
          <p:nvPr/>
        </p:nvSpPr>
        <p:spPr>
          <a:xfrm>
            <a:off x="548640" y="3636000"/>
            <a:ext cx="648000" cy="648000"/>
          </a:xfrm>
          <a:prstGeom prst="rect">
            <a:avLst/>
          </a:prstGeom>
          <a:solidFill>
            <a:srgbClr val="0F2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02640" y="3761999"/>
            <a:ext cx="540000" cy="396000"/>
          </a:xfrm>
          <a:prstGeom prst="rect">
            <a:avLst/>
          </a:prstGeom>
          <a:noFill/>
        </p:spPr>
        <p:txBody>
          <a:bodyPr wrap="square">
            <a:spAutoFit/>
          </a:bodyPr>
          <a:lstStyle/>
          <a:p>
            <a:pPr algn="ctr"/>
            <a:r>
              <a:rPr sz="1800" b="1" i="0">
                <a:solidFill>
                  <a:srgbClr val="F87171"/>
                </a:solidFill>
                <a:latin typeface="Outfit"/>
              </a:rPr>
              <a:t>4</a:t>
            </a:r>
          </a:p>
        </p:txBody>
      </p:sp>
      <p:sp>
        <p:nvSpPr>
          <p:cNvPr id="18" name="TextBox 17"/>
          <p:cNvSpPr txBox="1"/>
          <p:nvPr/>
        </p:nvSpPr>
        <p:spPr>
          <a:xfrm>
            <a:off x="1376639" y="3672000"/>
            <a:ext cx="10080000" cy="270000"/>
          </a:xfrm>
          <a:prstGeom prst="rect">
            <a:avLst/>
          </a:prstGeom>
          <a:noFill/>
        </p:spPr>
        <p:txBody>
          <a:bodyPr wrap="square">
            <a:spAutoFit/>
          </a:bodyPr>
          <a:lstStyle/>
          <a:p>
            <a:pPr algn="l"/>
            <a:r>
              <a:rPr sz="1300" b="1" i="0">
                <a:solidFill>
                  <a:srgbClr val="FFFFFF"/>
                </a:solidFill>
                <a:latin typeface="Outfit"/>
              </a:rPr>
              <a:t>Climate Risk Means Whiplash, Not Drying</a:t>
            </a:r>
          </a:p>
        </p:txBody>
      </p:sp>
      <p:sp>
        <p:nvSpPr>
          <p:cNvPr id="19" name="TextBox 18"/>
          <p:cNvSpPr txBox="1"/>
          <p:nvPr/>
        </p:nvSpPr>
        <p:spPr>
          <a:xfrm>
            <a:off x="1376639" y="3960000"/>
            <a:ext cx="10080000" cy="306000"/>
          </a:xfrm>
          <a:prstGeom prst="rect">
            <a:avLst/>
          </a:prstGeom>
          <a:noFill/>
        </p:spPr>
        <p:txBody>
          <a:bodyPr wrap="square">
            <a:spAutoFit/>
          </a:bodyPr>
          <a:lstStyle/>
          <a:p>
            <a:pPr algn="l"/>
            <a:r>
              <a:rPr sz="1050" b="0" i="0">
                <a:solidFill>
                  <a:srgbClr val="C9D6EA"/>
                </a:solidFill>
                <a:latin typeface="Outfit"/>
              </a:rPr>
              <a:t>The real danger is extreme volatility: back-to-back droughts in Kerala followed by historic cloudburst floods in Gujarat.</a:t>
            </a:r>
          </a:p>
        </p:txBody>
      </p:sp>
      <p:sp>
        <p:nvSpPr>
          <p:cNvPr id="20" name="Rectangle 19"/>
          <p:cNvSpPr/>
          <p:nvPr/>
        </p:nvSpPr>
        <p:spPr>
          <a:xfrm>
            <a:off x="548640" y="4428000"/>
            <a:ext cx="648000" cy="648000"/>
          </a:xfrm>
          <a:prstGeom prst="rect">
            <a:avLst/>
          </a:prstGeom>
          <a:solidFill>
            <a:srgbClr val="0F2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02640" y="4553999"/>
            <a:ext cx="540000" cy="396000"/>
          </a:xfrm>
          <a:prstGeom prst="rect">
            <a:avLst/>
          </a:prstGeom>
          <a:noFill/>
        </p:spPr>
        <p:txBody>
          <a:bodyPr wrap="square">
            <a:spAutoFit/>
          </a:bodyPr>
          <a:lstStyle/>
          <a:p>
            <a:pPr algn="ctr"/>
            <a:r>
              <a:rPr sz="1800" b="1" i="0">
                <a:solidFill>
                  <a:srgbClr val="38BDF8"/>
                </a:solidFill>
                <a:latin typeface="Outfit"/>
              </a:rPr>
              <a:t>5</a:t>
            </a:r>
          </a:p>
        </p:txBody>
      </p:sp>
      <p:sp>
        <p:nvSpPr>
          <p:cNvPr id="22" name="TextBox 21"/>
          <p:cNvSpPr txBox="1"/>
          <p:nvPr/>
        </p:nvSpPr>
        <p:spPr>
          <a:xfrm>
            <a:off x="1376639" y="4464000"/>
            <a:ext cx="10080000" cy="270000"/>
          </a:xfrm>
          <a:prstGeom prst="rect">
            <a:avLst/>
          </a:prstGeom>
          <a:noFill/>
        </p:spPr>
        <p:txBody>
          <a:bodyPr wrap="square">
            <a:spAutoFit/>
          </a:bodyPr>
          <a:lstStyle/>
          <a:p>
            <a:pPr algn="l"/>
            <a:r>
              <a:rPr sz="1300" b="1" i="0">
                <a:solidFill>
                  <a:srgbClr val="FFFFFF"/>
                </a:solidFill>
                <a:latin typeface="Outfit"/>
              </a:rPr>
              <a:t>Drought Is Local, Never Pan-India</a:t>
            </a:r>
          </a:p>
        </p:txBody>
      </p:sp>
      <p:sp>
        <p:nvSpPr>
          <p:cNvPr id="23" name="TextBox 22"/>
          <p:cNvSpPr txBox="1"/>
          <p:nvPr/>
        </p:nvSpPr>
        <p:spPr>
          <a:xfrm>
            <a:off x="1376639" y="4752000"/>
            <a:ext cx="10080000" cy="306000"/>
          </a:xfrm>
          <a:prstGeom prst="rect">
            <a:avLst/>
          </a:prstGeom>
          <a:noFill/>
        </p:spPr>
        <p:txBody>
          <a:bodyPr wrap="square">
            <a:spAutoFit/>
          </a:bodyPr>
          <a:lstStyle/>
          <a:p>
            <a:pPr algn="l"/>
            <a:r>
              <a:rPr sz="1050" b="0" i="0">
                <a:solidFill>
                  <a:srgbClr val="C9D6EA"/>
                </a:solidFill>
                <a:latin typeface="Outfit"/>
              </a:rPr>
              <a:t>India has never experienced nationwide failure. Strong states always balance weak states, safeguarding food security.</a:t>
            </a:r>
          </a:p>
        </p:txBody>
      </p:sp>
      <p:sp>
        <p:nvSpPr>
          <p:cNvPr id="24" name="Rectangle 23"/>
          <p:cNvSpPr/>
          <p:nvPr/>
        </p:nvSpPr>
        <p:spPr>
          <a:xfrm>
            <a:off x="0" y="6570000"/>
            <a:ext cx="12192000" cy="288000"/>
          </a:xfrm>
          <a:prstGeom prst="rect">
            <a:avLst/>
          </a:prstGeom>
          <a:solidFill>
            <a:srgbClr val="0F2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48640" y="6598800"/>
            <a:ext cx="5760000" cy="216000"/>
          </a:xfrm>
          <a:prstGeom prst="rect">
            <a:avLst/>
          </a:prstGeom>
          <a:noFill/>
        </p:spPr>
        <p:txBody>
          <a:bodyPr wrap="square">
            <a:spAutoFit/>
          </a:bodyPr>
          <a:lstStyle/>
          <a:p>
            <a:pPr algn="l"/>
            <a:r>
              <a:rPr sz="750" b="0" i="0">
                <a:solidFill>
                  <a:srgbClr val="C9D6EA"/>
                </a:solidFill>
                <a:latin typeface="Outfit"/>
              </a:rPr>
              <a:t>VARSA  ·  Final Project Review &amp; Defense  ·  Probability &amp; Statistics (BAMAT207)</a:t>
            </a:r>
          </a:p>
        </p:txBody>
      </p:sp>
      <p:sp>
        <p:nvSpPr>
          <p:cNvPr id="26" name="TextBox 25"/>
          <p:cNvSpPr txBox="1"/>
          <p:nvPr/>
        </p:nvSpPr>
        <p:spPr>
          <a:xfrm>
            <a:off x="10932000" y="6598800"/>
            <a:ext cx="1080000" cy="216000"/>
          </a:xfrm>
          <a:prstGeom prst="rect">
            <a:avLst/>
          </a:prstGeom>
          <a:noFill/>
        </p:spPr>
        <p:txBody>
          <a:bodyPr wrap="square">
            <a:spAutoFit/>
          </a:bodyPr>
          <a:lstStyle/>
          <a:p>
            <a:pPr algn="r"/>
            <a:r>
              <a:rPr sz="750" b="0" i="0">
                <a:solidFill>
                  <a:srgbClr val="C9D6EA"/>
                </a:solidFill>
                <a:latin typeface="Outfit"/>
              </a:rPr>
              <a:t>19 / 20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B1428"/>
        </a:solidFill>
        <a:effectLst/>
      </p:bgPr>
    </p:bg>
    <p:spTree>
      <p:nvGrpSpPr>
        <p:cNvPr id="1" name=""/>
        <p:cNvGrpSpPr/>
        <p:nvPr/>
      </p:nvGrpSpPr>
      <p:grpSpPr/>
      <p:sp>
        <p:nvSpPr>
          <p:cNvPr id="2" name="TextBox 1"/>
          <p:cNvSpPr txBox="1"/>
          <p:nvPr/>
        </p:nvSpPr>
        <p:spPr>
          <a:xfrm>
            <a:off x="548640" y="1080000"/>
            <a:ext cx="11160000" cy="792000"/>
          </a:xfrm>
          <a:prstGeom prst="rect">
            <a:avLst/>
          </a:prstGeom>
          <a:noFill/>
        </p:spPr>
        <p:txBody>
          <a:bodyPr wrap="square">
            <a:spAutoFit/>
          </a:bodyPr>
          <a:lstStyle/>
          <a:p>
            <a:pPr algn="l"/>
            <a:r>
              <a:rPr sz="2500" b="1" i="0">
                <a:solidFill>
                  <a:srgbClr val="FFFFFF"/>
                </a:solidFill>
                <a:latin typeface="Outfit"/>
              </a:rPr>
              <a:t>VARSA turns 126 years of complex weather records into clear, undeniable truths —</a:t>
            </a:r>
          </a:p>
        </p:txBody>
      </p:sp>
      <p:sp>
        <p:nvSpPr>
          <p:cNvPr id="3" name="TextBox 2"/>
          <p:cNvSpPr txBox="1"/>
          <p:nvPr/>
        </p:nvSpPr>
        <p:spPr>
          <a:xfrm>
            <a:off x="548640" y="1944000"/>
            <a:ext cx="11160000" cy="503999"/>
          </a:xfrm>
          <a:prstGeom prst="rect">
            <a:avLst/>
          </a:prstGeom>
          <a:noFill/>
        </p:spPr>
        <p:txBody>
          <a:bodyPr wrap="square">
            <a:spAutoFit/>
          </a:bodyPr>
          <a:lstStyle/>
          <a:p>
            <a:pPr algn="l"/>
            <a:r>
              <a:rPr sz="2500" b="1" i="0">
                <a:solidFill>
                  <a:srgbClr val="E0A526"/>
                </a:solidFill>
                <a:latin typeface="Outfit"/>
              </a:rPr>
              <a:t>with every calculation, graph, and interactive map reproducible in one click.</a:t>
            </a:r>
          </a:p>
        </p:txBody>
      </p:sp>
      <p:sp>
        <p:nvSpPr>
          <p:cNvPr id="4" name="Rectangle 3"/>
          <p:cNvSpPr/>
          <p:nvPr/>
        </p:nvSpPr>
        <p:spPr>
          <a:xfrm>
            <a:off x="548640" y="2736000"/>
            <a:ext cx="11094720" cy="18000"/>
          </a:xfrm>
          <a:prstGeom prst="rect">
            <a:avLst/>
          </a:prstGeom>
          <a:solidFill>
            <a:srgbClr val="1E35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3024000"/>
            <a:ext cx="11160000" cy="360000"/>
          </a:xfrm>
          <a:prstGeom prst="rect">
            <a:avLst/>
          </a:prstGeom>
          <a:noFill/>
        </p:spPr>
        <p:txBody>
          <a:bodyPr wrap="square">
            <a:spAutoFit/>
          </a:bodyPr>
          <a:lstStyle/>
          <a:p>
            <a:pPr algn="l"/>
            <a:r>
              <a:rPr sz="1900" b="1" i="0">
                <a:solidFill>
                  <a:srgbClr val="FFFFFF"/>
                </a:solidFill>
                <a:latin typeface="Outfit"/>
              </a:rPr>
              <a:t>Thank You! We Welcome Any Questions &amp; Would Love to Show You the Live Demo</a:t>
            </a:r>
          </a:p>
        </p:txBody>
      </p:sp>
      <p:sp>
        <p:nvSpPr>
          <p:cNvPr id="6" name="TextBox 5"/>
          <p:cNvSpPr txBox="1"/>
          <p:nvPr/>
        </p:nvSpPr>
        <p:spPr>
          <a:xfrm>
            <a:off x="548640" y="3600000"/>
            <a:ext cx="11160000" cy="251999"/>
          </a:xfrm>
          <a:prstGeom prst="rect">
            <a:avLst/>
          </a:prstGeom>
          <a:noFill/>
        </p:spPr>
        <p:txBody>
          <a:bodyPr wrap="square">
            <a:spAutoFit/>
          </a:bodyPr>
          <a:lstStyle/>
          <a:p>
            <a:pPr algn="l"/>
            <a:r>
              <a:rPr sz="1200" b="1" i="0">
                <a:solidFill>
                  <a:srgbClr val="38BDF8"/>
                </a:solidFill>
                <a:latin typeface="Outfit"/>
              </a:rPr>
              <a:t>Pratik (25BCE0337)  ·  Adarsh (25BCE0401)  ·  Arunya (25BCE0344)</a:t>
            </a:r>
          </a:p>
        </p:txBody>
      </p:sp>
      <p:sp>
        <p:nvSpPr>
          <p:cNvPr id="7" name="TextBox 6"/>
          <p:cNvSpPr txBox="1"/>
          <p:nvPr/>
        </p:nvSpPr>
        <p:spPr>
          <a:xfrm>
            <a:off x="548640" y="3888000"/>
            <a:ext cx="11160000" cy="251999"/>
          </a:xfrm>
          <a:prstGeom prst="rect">
            <a:avLst/>
          </a:prstGeom>
          <a:noFill/>
        </p:spPr>
        <p:txBody>
          <a:bodyPr wrap="square">
            <a:spAutoFit/>
          </a:bodyPr>
          <a:lstStyle/>
          <a:p>
            <a:pPr algn="l"/>
            <a:r>
              <a:rPr sz="1150" b="0" i="0">
                <a:solidFill>
                  <a:srgbClr val="C9D6EA"/>
                </a:solidFill>
                <a:latin typeface="Outfit"/>
              </a:rPr>
              <a:t>Faculty Mentor: Dr. Juhi Baroi  ·  Probability and Statistics (BAMAT207)</a:t>
            </a:r>
          </a:p>
        </p:txBody>
      </p:sp>
      <p:sp>
        <p:nvSpPr>
          <p:cNvPr id="8" name="Rectangle 7"/>
          <p:cNvSpPr/>
          <p:nvPr/>
        </p:nvSpPr>
        <p:spPr>
          <a:xfrm>
            <a:off x="548640" y="4320000"/>
            <a:ext cx="11094720" cy="1512000"/>
          </a:xfrm>
          <a:prstGeom prst="rect">
            <a:avLst/>
          </a:prstGeom>
          <a:solidFill>
            <a:srgbClr val="0F2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28640" y="4428000"/>
            <a:ext cx="4320000" cy="216000"/>
          </a:xfrm>
          <a:prstGeom prst="rect">
            <a:avLst/>
          </a:prstGeom>
          <a:noFill/>
        </p:spPr>
        <p:txBody>
          <a:bodyPr wrap="square">
            <a:spAutoFit/>
          </a:bodyPr>
          <a:lstStyle/>
          <a:p>
            <a:pPr algn="l"/>
            <a:r>
              <a:rPr sz="900" b="1" i="0">
                <a:solidFill>
                  <a:srgbClr val="E0A526"/>
                </a:solidFill>
                <a:latin typeface="Outfit"/>
              </a:rPr>
              <a:t>LIVE PROJECT DELIVERABLES FOR EVALUATION</a:t>
            </a:r>
          </a:p>
        </p:txBody>
      </p:sp>
      <p:sp>
        <p:nvSpPr>
          <p:cNvPr id="10" name="TextBox 9"/>
          <p:cNvSpPr txBox="1"/>
          <p:nvPr/>
        </p:nvSpPr>
        <p:spPr>
          <a:xfrm>
            <a:off x="728640" y="4680000"/>
            <a:ext cx="10734720" cy="1007999"/>
          </a:xfrm>
          <a:prstGeom prst="rect">
            <a:avLst/>
          </a:prstGeom>
          <a:noFill/>
        </p:spPr>
        <p:txBody>
          <a:bodyPr wrap="square">
            <a:spAutoFit/>
          </a:bodyPr>
          <a:lstStyle/>
          <a:p>
            <a:pPr algn="l"/>
            <a:r>
              <a:rPr sz="1000" b="0" i="0">
                <a:solidFill>
                  <a:srgbClr val="FFFFFF"/>
                </a:solidFill>
                <a:latin typeface="Outfit"/>
              </a:rPr>
              <a:t>• Live Interactive Dashboard: adarshkumarsingh5732-cpu-my-streamlit-dashboard-app-h5z5y7.streamlit.app
• Static 3D Prism Atlas (Vercel): site/ (Deck.gl 125-year WebGL playback)
• Open Source Code: github.com/ArunyaSrivastava/VARSA &amp; github.com/adarshkumarsingh5732-cpu/VARSA
• Automated Quality Assurance: scripts/test_date_coverage.py (100% passing test harness)
• Complete Capstone Documentation: review_3/final_report.md</a:t>
            </a:r>
          </a:p>
        </p:txBody>
      </p:sp>
      <p:sp>
        <p:nvSpPr>
          <p:cNvPr id="11" name="Rectangle 10"/>
          <p:cNvSpPr/>
          <p:nvPr/>
        </p:nvSpPr>
        <p:spPr>
          <a:xfrm>
            <a:off x="0" y="6570000"/>
            <a:ext cx="12192000" cy="288000"/>
          </a:xfrm>
          <a:prstGeom prst="rect">
            <a:avLst/>
          </a:prstGeom>
          <a:solidFill>
            <a:srgbClr val="0F2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6598800"/>
            <a:ext cx="5760000" cy="216000"/>
          </a:xfrm>
          <a:prstGeom prst="rect">
            <a:avLst/>
          </a:prstGeom>
          <a:noFill/>
        </p:spPr>
        <p:txBody>
          <a:bodyPr wrap="square">
            <a:spAutoFit/>
          </a:bodyPr>
          <a:lstStyle/>
          <a:p>
            <a:pPr algn="l"/>
            <a:r>
              <a:rPr sz="750" b="0" i="0">
                <a:solidFill>
                  <a:srgbClr val="C9D6EA"/>
                </a:solidFill>
                <a:latin typeface="Outfit"/>
              </a:rPr>
              <a:t>VARSA  ·  Final Project Review &amp; Defense  ·  Probability &amp; Statistics (BAMAT207)</a:t>
            </a:r>
          </a:p>
        </p:txBody>
      </p:sp>
      <p:sp>
        <p:nvSpPr>
          <p:cNvPr id="13" name="TextBox 12"/>
          <p:cNvSpPr txBox="1"/>
          <p:nvPr/>
        </p:nvSpPr>
        <p:spPr>
          <a:xfrm>
            <a:off x="10932000" y="6598800"/>
            <a:ext cx="1080000" cy="216000"/>
          </a:xfrm>
          <a:prstGeom prst="rect">
            <a:avLst/>
          </a:prstGeom>
          <a:noFill/>
        </p:spPr>
        <p:txBody>
          <a:bodyPr wrap="square">
            <a:spAutoFit/>
          </a:bodyPr>
          <a:lstStyle/>
          <a:p>
            <a:pPr algn="r"/>
            <a:r>
              <a:rPr sz="750" b="0" i="0">
                <a:solidFill>
                  <a:srgbClr val="C9D6EA"/>
                </a:solidFill>
                <a:latin typeface="Outfit"/>
              </a:rPr>
              <a:t>20 / 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