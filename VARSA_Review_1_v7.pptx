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VARSA stands for Variability, Anomalies and Regional Statistics of Indian Rainfall; the name also echoes varṣā, the Sanskrit and Hindi word for rain. VARSA studies how rainfall varies across India’s meteorological subdivisions and over time. We use statistical methods to describe these patterns, quantify uncertainty, and check which apparent trends are statistically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letter of VARSA maps to a part of the project and to a result we already have: variability (CV 12% to 41%), anomalies (23 of 115 years below 90% of the all-India normal), regional differences (η² = 0.87), statistics (distribution fits, Welch ANOVA, trend tests) and analysis (reproducible, with multiple-testing correction). The name also echoes varṣā, the Sanskrit and Hindi word for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map of the review: why the question matters, what data we use, how we test, what the preliminary results show, how we guard against misleading statistics, and what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trying to replace the IMD or predict the weather. The aim is to make historical rainfall data easier to understand and evaluate rainfall patterns with statistical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connect directly to the syllabus: descriptive statistics, distributions, confidence intervals, hypothesis testing, ANOVA, correlation, regression and diagnostics.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map directly to the syllabus: descriptive statistics, distributions, confidence intervals, hypothesis testing, ANOVA, regression and diagnostics. The dashboard is optional; the analysis is the core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this dataset because it is public, manageable in size, spans more than a century and supports several methods in the syllabus. We checked missing values and uneven historical coverage rather than assuming the data is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choose each test based on the question and its assumptions, rather than applying every formula mechanically.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descriptive results, not causal conclusions. About three quarters of the year’s rain falls in June–September. Monthly means rise from about 19 mm in January to 347 mm in July. The one-way ANOVA by month gives F = 3,052 and η² = 0.41. These patterns are what the formal tests then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differences in June–September rainfall between subdivisions are clear, but the equal-variance assumption for ordinary one-way ANOVA fails (Levene p ≈ 0). That is why we report Welch ANOVA. CV compares standard deviation with the mean, so relative variability is comparable across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key lessons so far: statistical significance depends on the analysis procedure. Correcting for multiple testing changes the conclusion, which is exactly why the correction is important. Do not treat 36 uncorrected p-values as 36 confirmed discoveries.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fitting is part of the syllabus and works here: the Normal distribution is clearly wrong for monsoon totals. The right model depends on the region, so the report will compare candidates per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periods come from a Gamma fit to annual totals in each division. A 1-in-20-year drought is a year whose rainfall falls below the 5th-percentile value. This is a statistical return period, not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check changes a real conclusion in this dataset. Unequal variances change the test. Multiplicity changes the number of trends. Dependence between divisions limits how much independent evidence pooling can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a presentation layer for the statistics. The central deliverable is the analysis and its interpretation, not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panel remembers five things: the monsoon dominates, regions differ a lot, the Normal model fails, trend claims shrink after correction, and drought risk is regional. All are preliminary and will be reproduced and validated for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Preliminary findings need to be reproduced, checked and interpreted alongside their assumptions and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aim: turn historical rainfall records into a statistically defensible understanding of seasonal patterns, regional variability and long-term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tmp/claude-0/-home-claude/0196e6ba-4d85-5f5a-a499-44437a1ee410/scratchpad/bell_dark.png">    </p:cNvPr>
          <p:cNvPicPr>
            <a:picLocks noChangeAspect="1"/>
          </p:cNvPicPr>
          <p:nvPr/>
        </p:nvPicPr>
        <p:blipFill>
          <a:blip r:embed="rId1"/>
          <a:stretch>
            <a:fillRect/>
          </a:stretch>
        </p:blipFill>
        <p:spPr>
          <a:xfrm>
            <a:off x="7589520" y="822960"/>
            <a:ext cx="4023360" cy="2011680"/>
          </a:xfrm>
          <a:prstGeom prst="rect">
            <a:avLst/>
          </a:prstGeom>
        </p:spPr>
      </p:pic>
      <p:sp>
        <p:nvSpPr>
          <p:cNvPr id="3" name="Text 0"/>
          <p:cNvSpPr txBox="1"/>
          <p:nvPr/>
        </p:nvSpPr>
        <p:spPr>
          <a:xfrm>
            <a:off x="548640" y="822960"/>
            <a:ext cx="6766560" cy="320040"/>
          </a:xfrm>
          <a:prstGeom prst="rect">
            <a:avLst/>
          </a:prstGeom>
          <a:noFill/>
          <a:ln/>
        </p:spPr>
        <p:txBody>
          <a:bodyPr wrap="square" lIns="0" tIns="0" rIns="0" bIns="0" rtlCol="0" anchor="t"/>
          <a:lstStyle/>
          <a:p>
            <a:pPr indent="0" marL="0">
              <a:buNone/>
            </a:pPr>
            <a:r>
              <a:rPr lang="en-US" sz="1300" b="1" spc="200" kern="0" dirty="0">
                <a:solidFill>
                  <a:srgbClr val="E0A526"/>
                </a:solidFill>
                <a:latin typeface="Calibri" pitchFamily="34" charset="0"/>
                <a:ea typeface="Calibri" pitchFamily="34" charset="-122"/>
                <a:cs typeface="Calibri" pitchFamily="34" charset="-120"/>
              </a:rPr>
              <a:t>PROBABILITY &amp; STATISTICS  ·  REVIEW 1</a:t>
            </a:r>
            <a:endParaRPr lang="en-US" sz="1300" dirty="0"/>
          </a:p>
        </p:txBody>
      </p:sp>
      <p:sp>
        <p:nvSpPr>
          <p:cNvPr id="4" name="Text 1"/>
          <p:cNvSpPr txBox="1"/>
          <p:nvPr/>
        </p:nvSpPr>
        <p:spPr>
          <a:xfrm>
            <a:off x="548640" y="1234440"/>
            <a:ext cx="6766560" cy="109728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VARSA</a:t>
            </a:r>
            <a:endParaRPr lang="en-US" sz="6600" dirty="0"/>
          </a:p>
        </p:txBody>
      </p:sp>
      <p:sp>
        <p:nvSpPr>
          <p:cNvPr id="5" name="Text 2"/>
          <p:cNvSpPr txBox="1"/>
          <p:nvPr/>
        </p:nvSpPr>
        <p:spPr>
          <a:xfrm>
            <a:off x="548640" y="2331720"/>
            <a:ext cx="6766560" cy="86868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Variability, Anomalies and Regional</a:t>
            </a:r>
            <a:endParaRPr lang="en-US" sz="2400" dirty="0"/>
          </a:p>
          <a:p>
            <a:pPr indent="0" marL="0">
              <a:buNone/>
            </a:pPr>
            <a:r>
              <a:rPr lang="en-US" sz="2400" i="1" dirty="0">
                <a:solidFill>
                  <a:srgbClr val="FFFFFF"/>
                </a:solidFill>
                <a:latin typeface="Cambria" pitchFamily="34" charset="0"/>
                <a:ea typeface="Cambria" pitchFamily="34" charset="-122"/>
                <a:cs typeface="Cambria" pitchFamily="34" charset="-120"/>
              </a:rPr>
              <a:t>Statistics of Indian Rainfall</a:t>
            </a:r>
            <a:endParaRPr lang="en-US" sz="2400" dirty="0"/>
          </a:p>
        </p:txBody>
      </p:sp>
      <p:sp>
        <p:nvSpPr>
          <p:cNvPr id="6" name="Text 3"/>
          <p:cNvSpPr txBox="1"/>
          <p:nvPr/>
        </p:nvSpPr>
        <p:spPr>
          <a:xfrm>
            <a:off x="548640" y="3337560"/>
            <a:ext cx="6766560" cy="274320"/>
          </a:xfrm>
          <a:prstGeom prst="rect">
            <a:avLst/>
          </a:prstGeom>
          <a:noFill/>
          <a:ln/>
        </p:spPr>
        <p:txBody>
          <a:bodyPr wrap="square" lIns="0" tIns="0" rIns="0" bIns="0" rtlCol="0" anchor="t"/>
          <a:lstStyle/>
          <a:p>
            <a:pPr indent="0" marL="0">
              <a:buNone/>
            </a:pPr>
            <a:r>
              <a:rPr lang="en-US" sz="1300" b="1" spc="200" kern="0" dirty="0">
                <a:solidFill>
                  <a:srgbClr val="E0A526"/>
                </a:solidFill>
                <a:latin typeface="Calibri" pitchFamily="34" charset="0"/>
                <a:ea typeface="Calibri" pitchFamily="34" charset="-122"/>
                <a:cs typeface="Calibri" pitchFamily="34" charset="-120"/>
              </a:rPr>
              <a:t>STATISTICAL ANALYSIS OF INDIAN MONSOON RAINFALL</a:t>
            </a:r>
            <a:endParaRPr lang="en-US" sz="1300" dirty="0"/>
          </a:p>
        </p:txBody>
      </p:sp>
      <p:sp>
        <p:nvSpPr>
          <p:cNvPr id="7" name="Text 4"/>
          <p:cNvSpPr txBox="1"/>
          <p:nvPr/>
        </p:nvSpPr>
        <p:spPr>
          <a:xfrm>
            <a:off x="548640" y="3657600"/>
            <a:ext cx="6766560" cy="320040"/>
          </a:xfrm>
          <a:prstGeom prst="rect">
            <a:avLst/>
          </a:prstGeom>
          <a:noFill/>
          <a:ln/>
        </p:spPr>
        <p:txBody>
          <a:bodyPr wrap="square" lIns="0" tIns="0" rIns="0" bIns="0" rtlCol="0" anchor="t"/>
          <a:lstStyle/>
          <a:p>
            <a:pPr indent="0" marL="0">
              <a:buNone/>
            </a:pPr>
            <a:r>
              <a:rPr lang="en-US" sz="1400" dirty="0">
                <a:solidFill>
                  <a:srgbClr val="C9D6EA"/>
                </a:solidFill>
                <a:latin typeface="Calibri" pitchFamily="34" charset="0"/>
                <a:ea typeface="Calibri" pitchFamily="34" charset="-122"/>
                <a:cs typeface="Calibri" pitchFamily="34" charset="-120"/>
              </a:rPr>
              <a:t>Seasonality · variability · distributions · trends  |  1901–2015</a:t>
            </a:r>
            <a:endParaRPr lang="en-US" sz="1400" dirty="0"/>
          </a:p>
        </p:txBody>
      </p:sp>
      <p:sp>
        <p:nvSpPr>
          <p:cNvPr id="8" name="Shape 5"/>
          <p:cNvSpPr/>
          <p:nvPr/>
        </p:nvSpPr>
        <p:spPr>
          <a:xfrm>
            <a:off x="548640" y="4160520"/>
            <a:ext cx="11091672" cy="1874520"/>
          </a:xfrm>
          <a:prstGeom prst="rect">
            <a:avLst/>
          </a:prstGeom>
          <a:solidFill>
            <a:srgbClr val="16305A"/>
          </a:solidFill>
          <a:ln w="12700">
            <a:solidFill>
              <a:srgbClr val="FFFFFF">
                <a:alpha val="0"/>
              </a:srgbClr>
            </a:solidFill>
            <a:prstDash val="solid"/>
          </a:ln>
        </p:spPr>
      </p:sp>
      <p:sp>
        <p:nvSpPr>
          <p:cNvPr id="9" name="Text 6"/>
          <p:cNvSpPr txBox="1"/>
          <p:nvPr/>
        </p:nvSpPr>
        <p:spPr>
          <a:xfrm>
            <a:off x="868680" y="4389120"/>
            <a:ext cx="3200400" cy="274320"/>
          </a:xfrm>
          <a:prstGeom prst="rect">
            <a:avLst/>
          </a:prstGeom>
          <a:noFill/>
          <a:ln/>
        </p:spPr>
        <p:txBody>
          <a:bodyPr wrap="square" lIns="0" tIns="0" rIns="0" bIns="0" rtlCol="0" anchor="t"/>
          <a:lstStyle/>
          <a:p>
            <a:pPr indent="0" marL="0">
              <a:buNone/>
            </a:pPr>
            <a:r>
              <a:rPr lang="en-US" sz="1100" b="1" spc="200" kern="0" dirty="0">
                <a:solidFill>
                  <a:srgbClr val="E0A526"/>
                </a:solidFill>
                <a:latin typeface="Calibri" pitchFamily="34" charset="0"/>
                <a:ea typeface="Calibri" pitchFamily="34" charset="-122"/>
                <a:cs typeface="Calibri" pitchFamily="34" charset="-120"/>
              </a:rPr>
              <a:t>COURSE</a:t>
            </a:r>
            <a:endParaRPr lang="en-US" sz="1100" dirty="0"/>
          </a:p>
        </p:txBody>
      </p:sp>
      <p:sp>
        <p:nvSpPr>
          <p:cNvPr id="10" name="Text 7"/>
          <p:cNvSpPr txBox="1"/>
          <p:nvPr/>
        </p:nvSpPr>
        <p:spPr>
          <a:xfrm>
            <a:off x="868680" y="4663440"/>
            <a:ext cx="4754880" cy="3657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Probability and Statistics (BAMAT207)</a:t>
            </a:r>
            <a:endParaRPr lang="en-US" sz="1700" dirty="0"/>
          </a:p>
        </p:txBody>
      </p:sp>
      <p:sp>
        <p:nvSpPr>
          <p:cNvPr id="11" name="Text 8"/>
          <p:cNvSpPr txBox="1"/>
          <p:nvPr/>
        </p:nvSpPr>
        <p:spPr>
          <a:xfrm>
            <a:off x="868680" y="5120640"/>
            <a:ext cx="3200400" cy="274320"/>
          </a:xfrm>
          <a:prstGeom prst="rect">
            <a:avLst/>
          </a:prstGeom>
          <a:noFill/>
          <a:ln/>
        </p:spPr>
        <p:txBody>
          <a:bodyPr wrap="square" lIns="0" tIns="0" rIns="0" bIns="0" rtlCol="0" anchor="t"/>
          <a:lstStyle/>
          <a:p>
            <a:pPr indent="0" marL="0">
              <a:buNone/>
            </a:pPr>
            <a:r>
              <a:rPr lang="en-US" sz="1100" b="1" spc="200" kern="0" dirty="0">
                <a:solidFill>
                  <a:srgbClr val="E0A526"/>
                </a:solidFill>
                <a:latin typeface="Calibri" pitchFamily="34" charset="0"/>
                <a:ea typeface="Calibri" pitchFamily="34" charset="-122"/>
                <a:cs typeface="Calibri" pitchFamily="34" charset="-120"/>
              </a:rPr>
              <a:t>FACULTY GUIDE</a:t>
            </a:r>
            <a:endParaRPr lang="en-US" sz="1100" dirty="0"/>
          </a:p>
        </p:txBody>
      </p:sp>
      <p:sp>
        <p:nvSpPr>
          <p:cNvPr id="12" name="Text 9"/>
          <p:cNvSpPr txBox="1"/>
          <p:nvPr/>
        </p:nvSpPr>
        <p:spPr>
          <a:xfrm>
            <a:off x="868680" y="5394960"/>
            <a:ext cx="4754880" cy="3657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Dr. Juhi Baroi</a:t>
            </a:r>
            <a:endParaRPr lang="en-US" sz="1700" dirty="0"/>
          </a:p>
        </p:txBody>
      </p:sp>
      <p:sp>
        <p:nvSpPr>
          <p:cNvPr id="13" name="Text 10"/>
          <p:cNvSpPr txBox="1"/>
          <p:nvPr/>
        </p:nvSpPr>
        <p:spPr>
          <a:xfrm>
            <a:off x="6309360" y="4389120"/>
            <a:ext cx="3200400" cy="274320"/>
          </a:xfrm>
          <a:prstGeom prst="rect">
            <a:avLst/>
          </a:prstGeom>
          <a:noFill/>
          <a:ln/>
        </p:spPr>
        <p:txBody>
          <a:bodyPr wrap="square" lIns="0" tIns="0" rIns="0" bIns="0" rtlCol="0" anchor="t"/>
          <a:lstStyle/>
          <a:p>
            <a:pPr indent="0" marL="0">
              <a:buNone/>
            </a:pPr>
            <a:r>
              <a:rPr lang="en-US" sz="1100" b="1" spc="200" kern="0" dirty="0">
                <a:solidFill>
                  <a:srgbClr val="E0A526"/>
                </a:solidFill>
                <a:latin typeface="Calibri" pitchFamily="34" charset="0"/>
                <a:ea typeface="Calibri" pitchFamily="34" charset="-122"/>
                <a:cs typeface="Calibri" pitchFamily="34" charset="-120"/>
              </a:rPr>
              <a:t>TEAM</a:t>
            </a:r>
            <a:endParaRPr lang="en-US" sz="1100" dirty="0"/>
          </a:p>
        </p:txBody>
      </p:sp>
      <p:sp>
        <p:nvSpPr>
          <p:cNvPr id="14" name="Text 11"/>
          <p:cNvSpPr txBox="1"/>
          <p:nvPr/>
        </p:nvSpPr>
        <p:spPr>
          <a:xfrm>
            <a:off x="6309360" y="4663440"/>
            <a:ext cx="2377440" cy="34747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Pratik</a:t>
            </a:r>
            <a:endParaRPr lang="en-US" sz="1600" dirty="0"/>
          </a:p>
        </p:txBody>
      </p:sp>
      <p:sp>
        <p:nvSpPr>
          <p:cNvPr id="15" name="Text 12"/>
          <p:cNvSpPr txBox="1"/>
          <p:nvPr/>
        </p:nvSpPr>
        <p:spPr>
          <a:xfrm>
            <a:off x="8686800" y="4663440"/>
            <a:ext cx="2743200" cy="347472"/>
          </a:xfrm>
          <a:prstGeom prst="rect">
            <a:avLst/>
          </a:prstGeom>
          <a:noFill/>
          <a:ln/>
        </p:spPr>
        <p:txBody>
          <a:bodyPr wrap="square" lIns="0" tIns="0" rIns="0" bIns="0" rtlCol="0" anchor="ctr"/>
          <a:lstStyle/>
          <a:p>
            <a:pPr indent="0" marL="0">
              <a:buNone/>
            </a:pPr>
            <a:r>
              <a:rPr lang="en-US" sz="1500" dirty="0">
                <a:solidFill>
                  <a:srgbClr val="C9D6EA"/>
                </a:solidFill>
                <a:latin typeface="Calibri" pitchFamily="34" charset="0"/>
                <a:ea typeface="Calibri" pitchFamily="34" charset="-122"/>
                <a:cs typeface="Calibri" pitchFamily="34" charset="-120"/>
              </a:rPr>
              <a:t>25BCE0337</a:t>
            </a:r>
            <a:endParaRPr lang="en-US" sz="1500" dirty="0"/>
          </a:p>
        </p:txBody>
      </p:sp>
      <p:sp>
        <p:nvSpPr>
          <p:cNvPr id="16" name="Text 13"/>
          <p:cNvSpPr txBox="1"/>
          <p:nvPr/>
        </p:nvSpPr>
        <p:spPr>
          <a:xfrm>
            <a:off x="6309360" y="5047488"/>
            <a:ext cx="2377440" cy="34747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Adarsh</a:t>
            </a:r>
            <a:endParaRPr lang="en-US" sz="1600" dirty="0"/>
          </a:p>
        </p:txBody>
      </p:sp>
      <p:sp>
        <p:nvSpPr>
          <p:cNvPr id="17" name="Text 14"/>
          <p:cNvSpPr txBox="1"/>
          <p:nvPr/>
        </p:nvSpPr>
        <p:spPr>
          <a:xfrm>
            <a:off x="8686800" y="5047488"/>
            <a:ext cx="2743200" cy="347472"/>
          </a:xfrm>
          <a:prstGeom prst="rect">
            <a:avLst/>
          </a:prstGeom>
          <a:noFill/>
          <a:ln/>
        </p:spPr>
        <p:txBody>
          <a:bodyPr wrap="square" lIns="0" tIns="0" rIns="0" bIns="0" rtlCol="0" anchor="ctr"/>
          <a:lstStyle/>
          <a:p>
            <a:pPr indent="0" marL="0">
              <a:buNone/>
            </a:pPr>
            <a:r>
              <a:rPr lang="en-US" sz="1500" dirty="0">
                <a:solidFill>
                  <a:srgbClr val="C9D6EA"/>
                </a:solidFill>
                <a:latin typeface="Calibri" pitchFamily="34" charset="0"/>
                <a:ea typeface="Calibri" pitchFamily="34" charset="-122"/>
                <a:cs typeface="Calibri" pitchFamily="34" charset="-120"/>
              </a:rPr>
              <a:t>25BCE0401</a:t>
            </a:r>
            <a:endParaRPr lang="en-US" sz="1500" dirty="0"/>
          </a:p>
        </p:txBody>
      </p:sp>
      <p:sp>
        <p:nvSpPr>
          <p:cNvPr id="18" name="Text 15"/>
          <p:cNvSpPr txBox="1"/>
          <p:nvPr/>
        </p:nvSpPr>
        <p:spPr>
          <a:xfrm>
            <a:off x="6309360" y="5431536"/>
            <a:ext cx="2377440" cy="34747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Arunya</a:t>
            </a:r>
            <a:endParaRPr lang="en-US" sz="1600" dirty="0"/>
          </a:p>
        </p:txBody>
      </p:sp>
      <p:sp>
        <p:nvSpPr>
          <p:cNvPr id="19" name="Text 16"/>
          <p:cNvSpPr txBox="1"/>
          <p:nvPr/>
        </p:nvSpPr>
        <p:spPr>
          <a:xfrm>
            <a:off x="8686800" y="5431536"/>
            <a:ext cx="2743200" cy="347472"/>
          </a:xfrm>
          <a:prstGeom prst="rect">
            <a:avLst/>
          </a:prstGeom>
          <a:noFill/>
          <a:ln/>
        </p:spPr>
        <p:txBody>
          <a:bodyPr wrap="square" lIns="0" tIns="0" rIns="0" bIns="0" rtlCol="0" anchor="ctr"/>
          <a:lstStyle/>
          <a:p>
            <a:pPr indent="0" marL="0">
              <a:buNone/>
            </a:pPr>
            <a:r>
              <a:rPr lang="en-US" sz="1500" dirty="0">
                <a:solidFill>
                  <a:srgbClr val="C9D6EA"/>
                </a:solidFill>
                <a:latin typeface="Calibri" pitchFamily="34" charset="0"/>
                <a:ea typeface="Calibri" pitchFamily="34" charset="-122"/>
                <a:cs typeface="Calibri" pitchFamily="34" charset="-120"/>
              </a:rPr>
              <a:t>25BCE0344</a:t>
            </a:r>
            <a:endParaRPr lang="en-US" sz="1500" dirty="0"/>
          </a:p>
        </p:txBody>
      </p:sp>
      <p:sp>
        <p:nvSpPr>
          <p:cNvPr id="20" name="Text 17"/>
          <p:cNvSpPr txBox="1"/>
          <p:nvPr/>
        </p:nvSpPr>
        <p:spPr>
          <a:xfrm>
            <a:off x="548640" y="6263640"/>
            <a:ext cx="5486400" cy="274320"/>
          </a:xfrm>
          <a:prstGeom prst="rect">
            <a:avLst/>
          </a:prstGeom>
          <a:noFill/>
          <a:ln/>
        </p:spPr>
        <p:txBody>
          <a:bodyPr wrap="square" lIns="0" tIns="0" rIns="0" bIns="0" rtlCol="0" anchor="t"/>
          <a:lstStyle/>
          <a:p>
            <a:pPr indent="0" marL="0">
              <a:buNone/>
            </a:pPr>
            <a:r>
              <a:rPr lang="en-US" sz="1100" dirty="0">
                <a:solidFill>
                  <a:srgbClr val="C9D6EA"/>
                </a:solidFill>
                <a:latin typeface="Calibri" pitchFamily="34" charset="0"/>
                <a:ea typeface="Calibri" pitchFamily="34" charset="-122"/>
                <a:cs typeface="Calibri" pitchFamily="34" charset="-120"/>
              </a:rPr>
              <a:t>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THE NAME</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VARSA stands for</a:t>
            </a:r>
            <a:endParaRPr lang="en-US" sz="3200" dirty="0"/>
          </a:p>
        </p:txBody>
      </p:sp>
      <p:sp>
        <p:nvSpPr>
          <p:cNvPr id="5" name="Shape 2"/>
          <p:cNvSpPr/>
          <p:nvPr/>
        </p:nvSpPr>
        <p:spPr>
          <a:xfrm>
            <a:off x="548640" y="1737360"/>
            <a:ext cx="2035454" cy="3337560"/>
          </a:xfrm>
          <a:prstGeom prst="rect">
            <a:avLst/>
          </a:prstGeom>
          <a:solidFill>
            <a:srgbClr val="EEF3FA"/>
          </a:solidFill>
          <a:ln w="12700">
            <a:solidFill>
              <a:srgbClr val="FFFFFF">
                <a:alpha val="0"/>
              </a:srgbClr>
            </a:solidFill>
            <a:prstDash val="solid"/>
          </a:ln>
        </p:spPr>
      </p:sp>
      <p:sp>
        <p:nvSpPr>
          <p:cNvPr id="6" name="Shape 3"/>
          <p:cNvSpPr/>
          <p:nvPr/>
        </p:nvSpPr>
        <p:spPr>
          <a:xfrm>
            <a:off x="548640" y="1737360"/>
            <a:ext cx="2035454" cy="1143000"/>
          </a:xfrm>
          <a:prstGeom prst="rect">
            <a:avLst/>
          </a:prstGeom>
          <a:solidFill>
            <a:srgbClr val="0B1F3A"/>
          </a:solidFill>
          <a:ln w="12700">
            <a:solidFill>
              <a:srgbClr val="FFFFFF">
                <a:alpha val="0"/>
              </a:srgbClr>
            </a:solidFill>
            <a:prstDash val="solid"/>
          </a:ln>
        </p:spPr>
      </p:sp>
      <p:sp>
        <p:nvSpPr>
          <p:cNvPr id="7" name="Text 4"/>
          <p:cNvSpPr txBox="1"/>
          <p:nvPr/>
        </p:nvSpPr>
        <p:spPr>
          <a:xfrm>
            <a:off x="548640" y="1737360"/>
            <a:ext cx="2035454" cy="1143000"/>
          </a:xfrm>
          <a:prstGeom prst="rect">
            <a:avLst/>
          </a:prstGeom>
          <a:noFill/>
          <a:ln/>
        </p:spPr>
        <p:txBody>
          <a:bodyPr wrap="square" lIns="0" tIns="0" rIns="0" bIns="0" rtlCol="0" anchor="ctr"/>
          <a:lstStyle/>
          <a:p>
            <a:pPr algn="ctr" indent="0" marL="0">
              <a:buNone/>
            </a:pPr>
            <a:r>
              <a:rPr lang="en-US" sz="5600" b="1" dirty="0">
                <a:solidFill>
                  <a:srgbClr val="E0A526"/>
                </a:solidFill>
                <a:latin typeface="Cambria" pitchFamily="34" charset="0"/>
                <a:ea typeface="Cambria" pitchFamily="34" charset="-122"/>
                <a:cs typeface="Cambria" pitchFamily="34" charset="-120"/>
              </a:rPr>
              <a:t>V</a:t>
            </a:r>
            <a:endParaRPr lang="en-US" sz="5600" dirty="0"/>
          </a:p>
        </p:txBody>
      </p:sp>
      <p:sp>
        <p:nvSpPr>
          <p:cNvPr id="8" name="Text 5"/>
          <p:cNvSpPr txBox="1"/>
          <p:nvPr/>
        </p:nvSpPr>
        <p:spPr>
          <a:xfrm>
            <a:off x="731520" y="3017520"/>
            <a:ext cx="1669694" cy="4114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Variability</a:t>
            </a:r>
            <a:endParaRPr lang="en-US" sz="1800" dirty="0"/>
          </a:p>
        </p:txBody>
      </p:sp>
      <p:sp>
        <p:nvSpPr>
          <p:cNvPr id="9" name="Text 6"/>
          <p:cNvSpPr txBox="1"/>
          <p:nvPr/>
        </p:nvSpPr>
        <p:spPr>
          <a:xfrm>
            <a:off x="731520" y="3474720"/>
            <a:ext cx="1669694" cy="150876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How much annual rainfall swings: CV runs from 12% to 41% across regions</a:t>
            </a:r>
            <a:endParaRPr lang="en-US" sz="1400" dirty="0"/>
          </a:p>
        </p:txBody>
      </p:sp>
      <p:sp>
        <p:nvSpPr>
          <p:cNvPr id="10" name="Shape 7"/>
          <p:cNvSpPr/>
          <p:nvPr/>
        </p:nvSpPr>
        <p:spPr>
          <a:xfrm>
            <a:off x="2812694" y="1737360"/>
            <a:ext cx="2035454" cy="3337560"/>
          </a:xfrm>
          <a:prstGeom prst="rect">
            <a:avLst/>
          </a:prstGeom>
          <a:solidFill>
            <a:srgbClr val="EEF3FA"/>
          </a:solidFill>
          <a:ln w="12700">
            <a:solidFill>
              <a:srgbClr val="FFFFFF">
                <a:alpha val="0"/>
              </a:srgbClr>
            </a:solidFill>
            <a:prstDash val="solid"/>
          </a:ln>
        </p:spPr>
      </p:sp>
      <p:sp>
        <p:nvSpPr>
          <p:cNvPr id="11" name="Shape 8"/>
          <p:cNvSpPr/>
          <p:nvPr/>
        </p:nvSpPr>
        <p:spPr>
          <a:xfrm>
            <a:off x="2812694" y="1737360"/>
            <a:ext cx="2035454" cy="1143000"/>
          </a:xfrm>
          <a:prstGeom prst="rect">
            <a:avLst/>
          </a:prstGeom>
          <a:solidFill>
            <a:srgbClr val="0B1F3A"/>
          </a:solidFill>
          <a:ln w="12700">
            <a:solidFill>
              <a:srgbClr val="FFFFFF">
                <a:alpha val="0"/>
              </a:srgbClr>
            </a:solidFill>
            <a:prstDash val="solid"/>
          </a:ln>
        </p:spPr>
      </p:sp>
      <p:sp>
        <p:nvSpPr>
          <p:cNvPr id="12" name="Text 9"/>
          <p:cNvSpPr txBox="1"/>
          <p:nvPr/>
        </p:nvSpPr>
        <p:spPr>
          <a:xfrm>
            <a:off x="2812694" y="1737360"/>
            <a:ext cx="2035454" cy="1143000"/>
          </a:xfrm>
          <a:prstGeom prst="rect">
            <a:avLst/>
          </a:prstGeom>
          <a:noFill/>
          <a:ln/>
        </p:spPr>
        <p:txBody>
          <a:bodyPr wrap="square" lIns="0" tIns="0" rIns="0" bIns="0" rtlCol="0" anchor="ctr"/>
          <a:lstStyle/>
          <a:p>
            <a:pPr algn="ctr" indent="0" marL="0">
              <a:buNone/>
            </a:pPr>
            <a:r>
              <a:rPr lang="en-US" sz="5600" b="1" dirty="0">
                <a:solidFill>
                  <a:srgbClr val="E0A526"/>
                </a:solidFill>
                <a:latin typeface="Cambria" pitchFamily="34" charset="0"/>
                <a:ea typeface="Cambria" pitchFamily="34" charset="-122"/>
                <a:cs typeface="Cambria" pitchFamily="34" charset="-120"/>
              </a:rPr>
              <a:t>A</a:t>
            </a:r>
            <a:endParaRPr lang="en-US" sz="5600" dirty="0"/>
          </a:p>
        </p:txBody>
      </p:sp>
      <p:sp>
        <p:nvSpPr>
          <p:cNvPr id="13" name="Text 10"/>
          <p:cNvSpPr txBox="1"/>
          <p:nvPr/>
        </p:nvSpPr>
        <p:spPr>
          <a:xfrm>
            <a:off x="2995574" y="3017520"/>
            <a:ext cx="1669694" cy="4114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Anomalies</a:t>
            </a:r>
            <a:endParaRPr lang="en-US" sz="1800" dirty="0"/>
          </a:p>
        </p:txBody>
      </p:sp>
      <p:sp>
        <p:nvSpPr>
          <p:cNvPr id="14" name="Text 11"/>
          <p:cNvSpPr txBox="1"/>
          <p:nvPr/>
        </p:nvSpPr>
        <p:spPr>
          <a:xfrm>
            <a:off x="2995574" y="3474720"/>
            <a:ext cx="1669694" cy="150876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Unusually dry years: 23 of 115 fell below 90% of normal; driest was 1972</a:t>
            </a:r>
            <a:endParaRPr lang="en-US" sz="1400" dirty="0"/>
          </a:p>
        </p:txBody>
      </p:sp>
      <p:sp>
        <p:nvSpPr>
          <p:cNvPr id="15" name="Shape 12"/>
          <p:cNvSpPr/>
          <p:nvPr/>
        </p:nvSpPr>
        <p:spPr>
          <a:xfrm>
            <a:off x="5076749" y="1737360"/>
            <a:ext cx="2035454" cy="3337560"/>
          </a:xfrm>
          <a:prstGeom prst="rect">
            <a:avLst/>
          </a:prstGeom>
          <a:solidFill>
            <a:srgbClr val="EEF3FA"/>
          </a:solidFill>
          <a:ln w="12700">
            <a:solidFill>
              <a:srgbClr val="FFFFFF">
                <a:alpha val="0"/>
              </a:srgbClr>
            </a:solidFill>
            <a:prstDash val="solid"/>
          </a:ln>
        </p:spPr>
      </p:sp>
      <p:sp>
        <p:nvSpPr>
          <p:cNvPr id="16" name="Shape 13"/>
          <p:cNvSpPr/>
          <p:nvPr/>
        </p:nvSpPr>
        <p:spPr>
          <a:xfrm>
            <a:off x="5076749" y="1737360"/>
            <a:ext cx="2035454" cy="1143000"/>
          </a:xfrm>
          <a:prstGeom prst="rect">
            <a:avLst/>
          </a:prstGeom>
          <a:solidFill>
            <a:srgbClr val="0B1F3A"/>
          </a:solidFill>
          <a:ln w="12700">
            <a:solidFill>
              <a:srgbClr val="FFFFFF">
                <a:alpha val="0"/>
              </a:srgbClr>
            </a:solidFill>
            <a:prstDash val="solid"/>
          </a:ln>
        </p:spPr>
      </p:sp>
      <p:sp>
        <p:nvSpPr>
          <p:cNvPr id="17" name="Text 14"/>
          <p:cNvSpPr txBox="1"/>
          <p:nvPr/>
        </p:nvSpPr>
        <p:spPr>
          <a:xfrm>
            <a:off x="5076749" y="1737360"/>
            <a:ext cx="2035454" cy="1143000"/>
          </a:xfrm>
          <a:prstGeom prst="rect">
            <a:avLst/>
          </a:prstGeom>
          <a:noFill/>
          <a:ln/>
        </p:spPr>
        <p:txBody>
          <a:bodyPr wrap="square" lIns="0" tIns="0" rIns="0" bIns="0" rtlCol="0" anchor="ctr"/>
          <a:lstStyle/>
          <a:p>
            <a:pPr algn="ctr" indent="0" marL="0">
              <a:buNone/>
            </a:pPr>
            <a:r>
              <a:rPr lang="en-US" sz="5600" b="1" dirty="0">
                <a:solidFill>
                  <a:srgbClr val="E0A526"/>
                </a:solidFill>
                <a:latin typeface="Cambria" pitchFamily="34" charset="0"/>
                <a:ea typeface="Cambria" pitchFamily="34" charset="-122"/>
                <a:cs typeface="Cambria" pitchFamily="34" charset="-120"/>
              </a:rPr>
              <a:t>R</a:t>
            </a:r>
            <a:endParaRPr lang="en-US" sz="5600" dirty="0"/>
          </a:p>
        </p:txBody>
      </p:sp>
      <p:sp>
        <p:nvSpPr>
          <p:cNvPr id="18" name="Text 15"/>
          <p:cNvSpPr txBox="1"/>
          <p:nvPr/>
        </p:nvSpPr>
        <p:spPr>
          <a:xfrm>
            <a:off x="5259629" y="3017520"/>
            <a:ext cx="1669694" cy="4114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Regional</a:t>
            </a:r>
            <a:endParaRPr lang="en-US" sz="1800" dirty="0"/>
          </a:p>
        </p:txBody>
      </p:sp>
      <p:sp>
        <p:nvSpPr>
          <p:cNvPr id="19" name="Text 16"/>
          <p:cNvSpPr txBox="1"/>
          <p:nvPr/>
        </p:nvSpPr>
        <p:spPr>
          <a:xfrm>
            <a:off x="5259629" y="3474720"/>
            <a:ext cx="1669694" cy="150876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Differences across 36 subdivisions: region explains 87% of monsoon variance</a:t>
            </a:r>
            <a:endParaRPr lang="en-US" sz="1400" dirty="0"/>
          </a:p>
        </p:txBody>
      </p:sp>
      <p:sp>
        <p:nvSpPr>
          <p:cNvPr id="20" name="Shape 17"/>
          <p:cNvSpPr/>
          <p:nvPr/>
        </p:nvSpPr>
        <p:spPr>
          <a:xfrm>
            <a:off x="7340803" y="1737360"/>
            <a:ext cx="2035454" cy="3337560"/>
          </a:xfrm>
          <a:prstGeom prst="rect">
            <a:avLst/>
          </a:prstGeom>
          <a:solidFill>
            <a:srgbClr val="EEF3FA"/>
          </a:solidFill>
          <a:ln w="12700">
            <a:solidFill>
              <a:srgbClr val="FFFFFF">
                <a:alpha val="0"/>
              </a:srgbClr>
            </a:solidFill>
            <a:prstDash val="solid"/>
          </a:ln>
        </p:spPr>
      </p:sp>
      <p:sp>
        <p:nvSpPr>
          <p:cNvPr id="21" name="Shape 18"/>
          <p:cNvSpPr/>
          <p:nvPr/>
        </p:nvSpPr>
        <p:spPr>
          <a:xfrm>
            <a:off x="7340803" y="1737360"/>
            <a:ext cx="2035454" cy="1143000"/>
          </a:xfrm>
          <a:prstGeom prst="rect">
            <a:avLst/>
          </a:prstGeom>
          <a:solidFill>
            <a:srgbClr val="0B1F3A"/>
          </a:solidFill>
          <a:ln w="12700">
            <a:solidFill>
              <a:srgbClr val="FFFFFF">
                <a:alpha val="0"/>
              </a:srgbClr>
            </a:solidFill>
            <a:prstDash val="solid"/>
          </a:ln>
        </p:spPr>
      </p:sp>
      <p:sp>
        <p:nvSpPr>
          <p:cNvPr id="22" name="Text 19"/>
          <p:cNvSpPr txBox="1"/>
          <p:nvPr/>
        </p:nvSpPr>
        <p:spPr>
          <a:xfrm>
            <a:off x="7340803" y="1737360"/>
            <a:ext cx="2035454" cy="1143000"/>
          </a:xfrm>
          <a:prstGeom prst="rect">
            <a:avLst/>
          </a:prstGeom>
          <a:noFill/>
          <a:ln/>
        </p:spPr>
        <p:txBody>
          <a:bodyPr wrap="square" lIns="0" tIns="0" rIns="0" bIns="0" rtlCol="0" anchor="ctr"/>
          <a:lstStyle/>
          <a:p>
            <a:pPr algn="ctr" indent="0" marL="0">
              <a:buNone/>
            </a:pPr>
            <a:r>
              <a:rPr lang="en-US" sz="5600" b="1" dirty="0">
                <a:solidFill>
                  <a:srgbClr val="E0A526"/>
                </a:solidFill>
                <a:latin typeface="Cambria" pitchFamily="34" charset="0"/>
                <a:ea typeface="Cambria" pitchFamily="34" charset="-122"/>
                <a:cs typeface="Cambria" pitchFamily="34" charset="-120"/>
              </a:rPr>
              <a:t>S</a:t>
            </a:r>
            <a:endParaRPr lang="en-US" sz="5600" dirty="0"/>
          </a:p>
        </p:txBody>
      </p:sp>
      <p:sp>
        <p:nvSpPr>
          <p:cNvPr id="23" name="Text 20"/>
          <p:cNvSpPr txBox="1"/>
          <p:nvPr/>
        </p:nvSpPr>
        <p:spPr>
          <a:xfrm>
            <a:off x="7523683" y="3017520"/>
            <a:ext cx="1669694" cy="4114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Statistics</a:t>
            </a:r>
            <a:endParaRPr lang="en-US" sz="1800" dirty="0"/>
          </a:p>
        </p:txBody>
      </p:sp>
      <p:sp>
        <p:nvSpPr>
          <p:cNvPr id="24" name="Text 21"/>
          <p:cNvSpPr txBox="1"/>
          <p:nvPr/>
        </p:nvSpPr>
        <p:spPr>
          <a:xfrm>
            <a:off x="7523683" y="3474720"/>
            <a:ext cx="1669694" cy="150876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Distributions, Welch ANOVA, confidence intervals and trend tests</a:t>
            </a:r>
            <a:endParaRPr lang="en-US" sz="1400" dirty="0"/>
          </a:p>
        </p:txBody>
      </p:sp>
      <p:sp>
        <p:nvSpPr>
          <p:cNvPr id="25" name="Shape 22"/>
          <p:cNvSpPr/>
          <p:nvPr/>
        </p:nvSpPr>
        <p:spPr>
          <a:xfrm>
            <a:off x="9604858" y="1737360"/>
            <a:ext cx="2035454" cy="3337560"/>
          </a:xfrm>
          <a:prstGeom prst="rect">
            <a:avLst/>
          </a:prstGeom>
          <a:solidFill>
            <a:srgbClr val="EEF3FA"/>
          </a:solidFill>
          <a:ln w="12700">
            <a:solidFill>
              <a:srgbClr val="FFFFFF">
                <a:alpha val="0"/>
              </a:srgbClr>
            </a:solidFill>
            <a:prstDash val="solid"/>
          </a:ln>
        </p:spPr>
      </p:sp>
      <p:sp>
        <p:nvSpPr>
          <p:cNvPr id="26" name="Shape 23"/>
          <p:cNvSpPr/>
          <p:nvPr/>
        </p:nvSpPr>
        <p:spPr>
          <a:xfrm>
            <a:off x="9604858" y="1737360"/>
            <a:ext cx="2035454" cy="1143000"/>
          </a:xfrm>
          <a:prstGeom prst="rect">
            <a:avLst/>
          </a:prstGeom>
          <a:solidFill>
            <a:srgbClr val="0B1F3A"/>
          </a:solidFill>
          <a:ln w="12700">
            <a:solidFill>
              <a:srgbClr val="FFFFFF">
                <a:alpha val="0"/>
              </a:srgbClr>
            </a:solidFill>
            <a:prstDash val="solid"/>
          </a:ln>
        </p:spPr>
      </p:sp>
      <p:sp>
        <p:nvSpPr>
          <p:cNvPr id="27" name="Text 24"/>
          <p:cNvSpPr txBox="1"/>
          <p:nvPr/>
        </p:nvSpPr>
        <p:spPr>
          <a:xfrm>
            <a:off x="9604858" y="1737360"/>
            <a:ext cx="2035454" cy="1143000"/>
          </a:xfrm>
          <a:prstGeom prst="rect">
            <a:avLst/>
          </a:prstGeom>
          <a:noFill/>
          <a:ln/>
        </p:spPr>
        <p:txBody>
          <a:bodyPr wrap="square" lIns="0" tIns="0" rIns="0" bIns="0" rtlCol="0" anchor="ctr"/>
          <a:lstStyle/>
          <a:p>
            <a:pPr algn="ctr" indent="0" marL="0">
              <a:buNone/>
            </a:pPr>
            <a:r>
              <a:rPr lang="en-US" sz="5600" b="1" dirty="0">
                <a:solidFill>
                  <a:srgbClr val="E0A526"/>
                </a:solidFill>
                <a:latin typeface="Cambria" pitchFamily="34" charset="0"/>
                <a:ea typeface="Cambria" pitchFamily="34" charset="-122"/>
                <a:cs typeface="Cambria" pitchFamily="34" charset="-120"/>
              </a:rPr>
              <a:t>A</a:t>
            </a:r>
            <a:endParaRPr lang="en-US" sz="5600" dirty="0"/>
          </a:p>
        </p:txBody>
      </p:sp>
      <p:sp>
        <p:nvSpPr>
          <p:cNvPr id="28" name="Text 25"/>
          <p:cNvSpPr txBox="1"/>
          <p:nvPr/>
        </p:nvSpPr>
        <p:spPr>
          <a:xfrm>
            <a:off x="9787738" y="3017520"/>
            <a:ext cx="1669694" cy="4114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Analysis</a:t>
            </a:r>
            <a:endParaRPr lang="en-US" sz="1800" dirty="0"/>
          </a:p>
        </p:txBody>
      </p:sp>
      <p:sp>
        <p:nvSpPr>
          <p:cNvPr id="29" name="Text 26"/>
          <p:cNvSpPr txBox="1"/>
          <p:nvPr/>
        </p:nvSpPr>
        <p:spPr>
          <a:xfrm>
            <a:off x="9787738" y="3474720"/>
            <a:ext cx="1669694" cy="150876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Reproducible and assumption-checked, with correction for 36 tests</a:t>
            </a:r>
            <a:endParaRPr lang="en-US" sz="1400" dirty="0"/>
          </a:p>
        </p:txBody>
      </p:sp>
      <p:sp>
        <p:nvSpPr>
          <p:cNvPr id="30" name="Shape 27"/>
          <p:cNvSpPr/>
          <p:nvPr/>
        </p:nvSpPr>
        <p:spPr>
          <a:xfrm>
            <a:off x="548640" y="5257800"/>
            <a:ext cx="11091672" cy="777240"/>
          </a:xfrm>
          <a:prstGeom prst="rect">
            <a:avLst/>
          </a:prstGeom>
          <a:solidFill>
            <a:srgbClr val="0B1F3A"/>
          </a:solidFill>
          <a:ln w="12700">
            <a:solidFill>
              <a:srgbClr val="FFFFFF">
                <a:alpha val="0"/>
              </a:srgbClr>
            </a:solidFill>
            <a:prstDash val="solid"/>
          </a:ln>
        </p:spPr>
      </p:sp>
      <p:sp>
        <p:nvSpPr>
          <p:cNvPr id="31" name="Text 28"/>
          <p:cNvSpPr txBox="1"/>
          <p:nvPr/>
        </p:nvSpPr>
        <p:spPr>
          <a:xfrm>
            <a:off x="868680" y="5257800"/>
            <a:ext cx="10424160" cy="77724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Variability, Anomalies and Regional Statistics of Indian Rainfall</a:t>
            </a:r>
            <a:endParaRPr lang="en-US" sz="2000" dirty="0"/>
          </a:p>
        </p:txBody>
      </p:sp>
      <p:sp>
        <p:nvSpPr>
          <p:cNvPr id="32" name="Text 29"/>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33" name="Text 30"/>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OVERVIEW</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Where this review takes you</a:t>
            </a:r>
            <a:endParaRPr lang="en-US" sz="3200" dirty="0"/>
          </a:p>
        </p:txBody>
      </p:sp>
      <p:sp>
        <p:nvSpPr>
          <p:cNvPr id="5" name="Shape 2"/>
          <p:cNvSpPr/>
          <p:nvPr/>
        </p:nvSpPr>
        <p:spPr>
          <a:xfrm>
            <a:off x="548640" y="1783080"/>
            <a:ext cx="5454396" cy="1280160"/>
          </a:xfrm>
          <a:prstGeom prst="rect">
            <a:avLst/>
          </a:prstGeom>
          <a:solidFill>
            <a:srgbClr val="EEF3FA"/>
          </a:solidFill>
          <a:ln w="12700">
            <a:solidFill>
              <a:srgbClr val="FFFFFF">
                <a:alpha val="0"/>
              </a:srgbClr>
            </a:solidFill>
            <a:prstDash val="solid"/>
          </a:ln>
        </p:spPr>
      </p:sp>
      <p:sp>
        <p:nvSpPr>
          <p:cNvPr id="6" name="Shape 3"/>
          <p:cNvSpPr/>
          <p:nvPr/>
        </p:nvSpPr>
        <p:spPr>
          <a:xfrm>
            <a:off x="822960" y="2130552"/>
            <a:ext cx="585216" cy="585216"/>
          </a:xfrm>
          <a:prstGeom prst="ellipse">
            <a:avLst/>
          </a:prstGeom>
          <a:solidFill>
            <a:srgbClr val="E0A526"/>
          </a:solidFill>
          <a:ln w="12700">
            <a:solidFill>
              <a:srgbClr val="FFFFFF">
                <a:alpha val="0"/>
              </a:srgbClr>
            </a:solidFill>
            <a:prstDash val="solid"/>
          </a:ln>
        </p:spPr>
      </p:sp>
      <p:sp>
        <p:nvSpPr>
          <p:cNvPr id="7" name="Text 4"/>
          <p:cNvSpPr txBox="1"/>
          <p:nvPr/>
        </p:nvSpPr>
        <p:spPr>
          <a:xfrm>
            <a:off x="822960" y="2130552"/>
            <a:ext cx="585216" cy="585216"/>
          </a:xfrm>
          <a:prstGeom prst="rect">
            <a:avLst/>
          </a:prstGeom>
          <a:noFill/>
          <a:ln/>
        </p:spPr>
        <p:txBody>
          <a:bodyPr wrap="square" lIns="0" tIns="0" rIns="0" bIns="0" rtlCol="0" anchor="ctr"/>
          <a:lstStyle/>
          <a:p>
            <a:pPr algn="ctr" indent="0" marL="0">
              <a:buNone/>
            </a:pPr>
            <a:r>
              <a:rPr lang="en-US" sz="2000" b="1" dirty="0">
                <a:solidFill>
                  <a:srgbClr val="0B1F3A"/>
                </a:solidFill>
                <a:latin typeface="Cambria" pitchFamily="34" charset="0"/>
                <a:ea typeface="Cambria" pitchFamily="34" charset="-122"/>
                <a:cs typeface="Cambria" pitchFamily="34" charset="-120"/>
              </a:rPr>
              <a:t>1</a:t>
            </a:r>
            <a:endParaRPr lang="en-US" sz="2000" dirty="0"/>
          </a:p>
        </p:txBody>
      </p:sp>
      <p:sp>
        <p:nvSpPr>
          <p:cNvPr id="8" name="Text 5"/>
          <p:cNvSpPr txBox="1"/>
          <p:nvPr/>
        </p:nvSpPr>
        <p:spPr>
          <a:xfrm>
            <a:off x="1645920" y="1984248"/>
            <a:ext cx="4114800" cy="411480"/>
          </a:xfrm>
          <a:prstGeom prst="rect">
            <a:avLst/>
          </a:prstGeom>
          <a:noFill/>
          <a:ln/>
        </p:spPr>
        <p:txBody>
          <a:bodyPr wrap="square" lIns="0" tIns="0" rIns="0" bIns="0" rtlCol="0" anchor="ctr"/>
          <a:lstStyle/>
          <a:p>
            <a:pPr indent="0" marL="0">
              <a:buNone/>
            </a:pPr>
            <a:r>
              <a:rPr lang="en-US" sz="1900" b="1" dirty="0">
                <a:solidFill>
                  <a:srgbClr val="0B1F3A"/>
                </a:solidFill>
                <a:latin typeface="Cambria" pitchFamily="34" charset="0"/>
                <a:ea typeface="Cambria" pitchFamily="34" charset="-122"/>
                <a:cs typeface="Cambria" pitchFamily="34" charset="-120"/>
              </a:rPr>
              <a:t>Motivation and aim</a:t>
            </a:r>
            <a:endParaRPr lang="en-US" sz="1900" dirty="0"/>
          </a:p>
        </p:txBody>
      </p:sp>
      <p:sp>
        <p:nvSpPr>
          <p:cNvPr id="9" name="Text 6"/>
          <p:cNvSpPr txBox="1"/>
          <p:nvPr/>
        </p:nvSpPr>
        <p:spPr>
          <a:xfrm>
            <a:off x="1645920" y="2441448"/>
            <a:ext cx="4114800" cy="5029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Why rainfall variability matters and what we ask of the data</a:t>
            </a:r>
            <a:endParaRPr lang="en-US" sz="1400" dirty="0"/>
          </a:p>
        </p:txBody>
      </p:sp>
      <p:sp>
        <p:nvSpPr>
          <p:cNvPr id="10" name="Shape 7"/>
          <p:cNvSpPr/>
          <p:nvPr/>
        </p:nvSpPr>
        <p:spPr>
          <a:xfrm>
            <a:off x="6185916" y="1783080"/>
            <a:ext cx="5454396" cy="1280160"/>
          </a:xfrm>
          <a:prstGeom prst="rect">
            <a:avLst/>
          </a:prstGeom>
          <a:solidFill>
            <a:srgbClr val="EEF3FA"/>
          </a:solidFill>
          <a:ln w="12700">
            <a:solidFill>
              <a:srgbClr val="FFFFFF">
                <a:alpha val="0"/>
              </a:srgbClr>
            </a:solidFill>
            <a:prstDash val="solid"/>
          </a:ln>
        </p:spPr>
      </p:sp>
      <p:sp>
        <p:nvSpPr>
          <p:cNvPr id="11" name="Shape 8"/>
          <p:cNvSpPr/>
          <p:nvPr/>
        </p:nvSpPr>
        <p:spPr>
          <a:xfrm>
            <a:off x="6460236" y="2130552"/>
            <a:ext cx="585216" cy="585216"/>
          </a:xfrm>
          <a:prstGeom prst="ellipse">
            <a:avLst/>
          </a:prstGeom>
          <a:solidFill>
            <a:srgbClr val="2A9D8F"/>
          </a:solidFill>
          <a:ln w="12700">
            <a:solidFill>
              <a:srgbClr val="FFFFFF">
                <a:alpha val="0"/>
              </a:srgbClr>
            </a:solidFill>
            <a:prstDash val="solid"/>
          </a:ln>
        </p:spPr>
      </p:sp>
      <p:sp>
        <p:nvSpPr>
          <p:cNvPr id="12" name="Text 9"/>
          <p:cNvSpPr txBox="1"/>
          <p:nvPr/>
        </p:nvSpPr>
        <p:spPr>
          <a:xfrm>
            <a:off x="6460236" y="2130552"/>
            <a:ext cx="585216" cy="585216"/>
          </a:xfrm>
          <a:prstGeom prst="rect">
            <a:avLst/>
          </a:prstGeom>
          <a:noFill/>
          <a:ln/>
        </p:spPr>
        <p:txBody>
          <a:bodyPr wrap="square" lIns="0" tIns="0" rIns="0" bIns="0" rtlCol="0" anchor="ctr"/>
          <a:lstStyle/>
          <a:p>
            <a:pPr algn="ctr" indent="0" marL="0">
              <a:buNone/>
            </a:pPr>
            <a:r>
              <a:rPr lang="en-US" sz="2000" b="1" dirty="0">
                <a:solidFill>
                  <a:srgbClr val="0B1F3A"/>
                </a:solidFill>
                <a:latin typeface="Cambria" pitchFamily="34" charset="0"/>
                <a:ea typeface="Cambria" pitchFamily="34" charset="-122"/>
                <a:cs typeface="Cambria" pitchFamily="34" charset="-120"/>
              </a:rPr>
              <a:t>2</a:t>
            </a:r>
            <a:endParaRPr lang="en-US" sz="2000" dirty="0"/>
          </a:p>
        </p:txBody>
      </p:sp>
      <p:sp>
        <p:nvSpPr>
          <p:cNvPr id="13" name="Text 10"/>
          <p:cNvSpPr txBox="1"/>
          <p:nvPr/>
        </p:nvSpPr>
        <p:spPr>
          <a:xfrm>
            <a:off x="7283196" y="1984248"/>
            <a:ext cx="4114800" cy="411480"/>
          </a:xfrm>
          <a:prstGeom prst="rect">
            <a:avLst/>
          </a:prstGeom>
          <a:noFill/>
          <a:ln/>
        </p:spPr>
        <p:txBody>
          <a:bodyPr wrap="square" lIns="0" tIns="0" rIns="0" bIns="0" rtlCol="0" anchor="ctr"/>
          <a:lstStyle/>
          <a:p>
            <a:pPr indent="0" marL="0">
              <a:buNone/>
            </a:pPr>
            <a:r>
              <a:rPr lang="en-US" sz="1900" b="1" dirty="0">
                <a:solidFill>
                  <a:srgbClr val="0B1F3A"/>
                </a:solidFill>
                <a:latin typeface="Cambria" pitchFamily="34" charset="0"/>
                <a:ea typeface="Cambria" pitchFamily="34" charset="-122"/>
                <a:cs typeface="Cambria" pitchFamily="34" charset="-120"/>
              </a:rPr>
              <a:t>Data</a:t>
            </a:r>
            <a:endParaRPr lang="en-US" sz="1900" dirty="0"/>
          </a:p>
        </p:txBody>
      </p:sp>
      <p:sp>
        <p:nvSpPr>
          <p:cNvPr id="14" name="Text 11"/>
          <p:cNvSpPr txBox="1"/>
          <p:nvPr/>
        </p:nvSpPr>
        <p:spPr>
          <a:xfrm>
            <a:off x="7283196" y="2441448"/>
            <a:ext cx="4114800" cy="5029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The 1901–2015 IMD dataset: coverage, gaps and quality</a:t>
            </a:r>
            <a:endParaRPr lang="en-US" sz="1400" dirty="0"/>
          </a:p>
        </p:txBody>
      </p:sp>
      <p:sp>
        <p:nvSpPr>
          <p:cNvPr id="15" name="Shape 12"/>
          <p:cNvSpPr/>
          <p:nvPr/>
        </p:nvSpPr>
        <p:spPr>
          <a:xfrm>
            <a:off x="548640" y="3246120"/>
            <a:ext cx="5454396" cy="1280160"/>
          </a:xfrm>
          <a:prstGeom prst="rect">
            <a:avLst/>
          </a:prstGeom>
          <a:solidFill>
            <a:srgbClr val="EEF3FA"/>
          </a:solidFill>
          <a:ln w="12700">
            <a:solidFill>
              <a:srgbClr val="FFFFFF">
                <a:alpha val="0"/>
              </a:srgbClr>
            </a:solidFill>
            <a:prstDash val="solid"/>
          </a:ln>
        </p:spPr>
      </p:sp>
      <p:sp>
        <p:nvSpPr>
          <p:cNvPr id="16" name="Shape 13"/>
          <p:cNvSpPr/>
          <p:nvPr/>
        </p:nvSpPr>
        <p:spPr>
          <a:xfrm>
            <a:off x="822960" y="3593592"/>
            <a:ext cx="585216" cy="585216"/>
          </a:xfrm>
          <a:prstGeom prst="ellipse">
            <a:avLst/>
          </a:prstGeom>
          <a:solidFill>
            <a:srgbClr val="E0A526"/>
          </a:solidFill>
          <a:ln w="12700">
            <a:solidFill>
              <a:srgbClr val="FFFFFF">
                <a:alpha val="0"/>
              </a:srgbClr>
            </a:solidFill>
            <a:prstDash val="solid"/>
          </a:ln>
        </p:spPr>
      </p:sp>
      <p:sp>
        <p:nvSpPr>
          <p:cNvPr id="17" name="Text 14"/>
          <p:cNvSpPr txBox="1"/>
          <p:nvPr/>
        </p:nvSpPr>
        <p:spPr>
          <a:xfrm>
            <a:off x="822960" y="3593592"/>
            <a:ext cx="585216" cy="585216"/>
          </a:xfrm>
          <a:prstGeom prst="rect">
            <a:avLst/>
          </a:prstGeom>
          <a:noFill/>
          <a:ln/>
        </p:spPr>
        <p:txBody>
          <a:bodyPr wrap="square" lIns="0" tIns="0" rIns="0" bIns="0" rtlCol="0" anchor="ctr"/>
          <a:lstStyle/>
          <a:p>
            <a:pPr algn="ctr" indent="0" marL="0">
              <a:buNone/>
            </a:pPr>
            <a:r>
              <a:rPr lang="en-US" sz="2000" b="1" dirty="0">
                <a:solidFill>
                  <a:srgbClr val="0B1F3A"/>
                </a:solidFill>
                <a:latin typeface="Cambria" pitchFamily="34" charset="0"/>
                <a:ea typeface="Cambria" pitchFamily="34" charset="-122"/>
                <a:cs typeface="Cambria" pitchFamily="34" charset="-120"/>
              </a:rPr>
              <a:t>3</a:t>
            </a:r>
            <a:endParaRPr lang="en-US" sz="2000" dirty="0"/>
          </a:p>
        </p:txBody>
      </p:sp>
      <p:sp>
        <p:nvSpPr>
          <p:cNvPr id="18" name="Text 15"/>
          <p:cNvSpPr txBox="1"/>
          <p:nvPr/>
        </p:nvSpPr>
        <p:spPr>
          <a:xfrm>
            <a:off x="1645920" y="3447288"/>
            <a:ext cx="4114800" cy="411480"/>
          </a:xfrm>
          <a:prstGeom prst="rect">
            <a:avLst/>
          </a:prstGeom>
          <a:noFill/>
          <a:ln/>
        </p:spPr>
        <p:txBody>
          <a:bodyPr wrap="square" lIns="0" tIns="0" rIns="0" bIns="0" rtlCol="0" anchor="ctr"/>
          <a:lstStyle/>
          <a:p>
            <a:pPr indent="0" marL="0">
              <a:buNone/>
            </a:pPr>
            <a:r>
              <a:rPr lang="en-US" sz="1900" b="1" dirty="0">
                <a:solidFill>
                  <a:srgbClr val="0B1F3A"/>
                </a:solidFill>
                <a:latin typeface="Cambria" pitchFamily="34" charset="0"/>
                <a:ea typeface="Cambria" pitchFamily="34" charset="-122"/>
                <a:cs typeface="Cambria" pitchFamily="34" charset="-120"/>
              </a:rPr>
              <a:t>Method</a:t>
            </a:r>
            <a:endParaRPr lang="en-US" sz="1900" dirty="0"/>
          </a:p>
        </p:txBody>
      </p:sp>
      <p:sp>
        <p:nvSpPr>
          <p:cNvPr id="19" name="Text 16"/>
          <p:cNvSpPr txBox="1"/>
          <p:nvPr/>
        </p:nvSpPr>
        <p:spPr>
          <a:xfrm>
            <a:off x="1645920" y="3904488"/>
            <a:ext cx="4114800" cy="5029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Which test answers which question, and why</a:t>
            </a:r>
            <a:endParaRPr lang="en-US" sz="1400" dirty="0"/>
          </a:p>
        </p:txBody>
      </p:sp>
      <p:sp>
        <p:nvSpPr>
          <p:cNvPr id="20" name="Shape 17"/>
          <p:cNvSpPr/>
          <p:nvPr/>
        </p:nvSpPr>
        <p:spPr>
          <a:xfrm>
            <a:off x="6185916" y="3246120"/>
            <a:ext cx="5454396" cy="1280160"/>
          </a:xfrm>
          <a:prstGeom prst="rect">
            <a:avLst/>
          </a:prstGeom>
          <a:solidFill>
            <a:srgbClr val="EEF3FA"/>
          </a:solidFill>
          <a:ln w="12700">
            <a:solidFill>
              <a:srgbClr val="FFFFFF">
                <a:alpha val="0"/>
              </a:srgbClr>
            </a:solidFill>
            <a:prstDash val="solid"/>
          </a:ln>
        </p:spPr>
      </p:sp>
      <p:sp>
        <p:nvSpPr>
          <p:cNvPr id="21" name="Shape 18"/>
          <p:cNvSpPr/>
          <p:nvPr/>
        </p:nvSpPr>
        <p:spPr>
          <a:xfrm>
            <a:off x="6460236" y="3593592"/>
            <a:ext cx="585216" cy="585216"/>
          </a:xfrm>
          <a:prstGeom prst="ellipse">
            <a:avLst/>
          </a:prstGeom>
          <a:solidFill>
            <a:srgbClr val="2A9D8F"/>
          </a:solidFill>
          <a:ln w="12700">
            <a:solidFill>
              <a:srgbClr val="FFFFFF">
                <a:alpha val="0"/>
              </a:srgbClr>
            </a:solidFill>
            <a:prstDash val="solid"/>
          </a:ln>
        </p:spPr>
      </p:sp>
      <p:sp>
        <p:nvSpPr>
          <p:cNvPr id="22" name="Text 19"/>
          <p:cNvSpPr txBox="1"/>
          <p:nvPr/>
        </p:nvSpPr>
        <p:spPr>
          <a:xfrm>
            <a:off x="6460236" y="3593592"/>
            <a:ext cx="585216" cy="585216"/>
          </a:xfrm>
          <a:prstGeom prst="rect">
            <a:avLst/>
          </a:prstGeom>
          <a:noFill/>
          <a:ln/>
        </p:spPr>
        <p:txBody>
          <a:bodyPr wrap="square" lIns="0" tIns="0" rIns="0" bIns="0" rtlCol="0" anchor="ctr"/>
          <a:lstStyle/>
          <a:p>
            <a:pPr algn="ctr" indent="0" marL="0">
              <a:buNone/>
            </a:pPr>
            <a:r>
              <a:rPr lang="en-US" sz="2000" b="1" dirty="0">
                <a:solidFill>
                  <a:srgbClr val="0B1F3A"/>
                </a:solidFill>
                <a:latin typeface="Cambria" pitchFamily="34" charset="0"/>
                <a:ea typeface="Cambria" pitchFamily="34" charset="-122"/>
                <a:cs typeface="Cambria" pitchFamily="34" charset="-120"/>
              </a:rPr>
              <a:t>4</a:t>
            </a:r>
            <a:endParaRPr lang="en-US" sz="2000" dirty="0"/>
          </a:p>
        </p:txBody>
      </p:sp>
      <p:sp>
        <p:nvSpPr>
          <p:cNvPr id="23" name="Text 20"/>
          <p:cNvSpPr txBox="1"/>
          <p:nvPr/>
        </p:nvSpPr>
        <p:spPr>
          <a:xfrm>
            <a:off x="7283196" y="3447288"/>
            <a:ext cx="4114800" cy="411480"/>
          </a:xfrm>
          <a:prstGeom prst="rect">
            <a:avLst/>
          </a:prstGeom>
          <a:noFill/>
          <a:ln/>
        </p:spPr>
        <p:txBody>
          <a:bodyPr wrap="square" lIns="0" tIns="0" rIns="0" bIns="0" rtlCol="0" anchor="ctr"/>
          <a:lstStyle/>
          <a:p>
            <a:pPr indent="0" marL="0">
              <a:buNone/>
            </a:pPr>
            <a:r>
              <a:rPr lang="en-US" sz="1900" b="1" dirty="0">
                <a:solidFill>
                  <a:srgbClr val="0B1F3A"/>
                </a:solidFill>
                <a:latin typeface="Cambria" pitchFamily="34" charset="0"/>
                <a:ea typeface="Cambria" pitchFamily="34" charset="-122"/>
                <a:cs typeface="Cambria" pitchFamily="34" charset="-120"/>
              </a:rPr>
              <a:t>Preliminary results</a:t>
            </a:r>
            <a:endParaRPr lang="en-US" sz="1900" dirty="0"/>
          </a:p>
        </p:txBody>
      </p:sp>
      <p:sp>
        <p:nvSpPr>
          <p:cNvPr id="24" name="Text 21"/>
          <p:cNvSpPr txBox="1"/>
          <p:nvPr/>
        </p:nvSpPr>
        <p:spPr>
          <a:xfrm>
            <a:off x="7283196" y="3904488"/>
            <a:ext cx="4114800" cy="5029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Seasonality, regions, distributions, trends and drought risk</a:t>
            </a:r>
            <a:endParaRPr lang="en-US" sz="1400" dirty="0"/>
          </a:p>
        </p:txBody>
      </p:sp>
      <p:sp>
        <p:nvSpPr>
          <p:cNvPr id="25" name="Shape 22"/>
          <p:cNvSpPr/>
          <p:nvPr/>
        </p:nvSpPr>
        <p:spPr>
          <a:xfrm>
            <a:off x="548640" y="4709160"/>
            <a:ext cx="5454396" cy="1280160"/>
          </a:xfrm>
          <a:prstGeom prst="rect">
            <a:avLst/>
          </a:prstGeom>
          <a:solidFill>
            <a:srgbClr val="EEF3FA"/>
          </a:solidFill>
          <a:ln w="12700">
            <a:solidFill>
              <a:srgbClr val="FFFFFF">
                <a:alpha val="0"/>
              </a:srgbClr>
            </a:solidFill>
            <a:prstDash val="solid"/>
          </a:ln>
        </p:spPr>
      </p:sp>
      <p:sp>
        <p:nvSpPr>
          <p:cNvPr id="26" name="Shape 23"/>
          <p:cNvSpPr/>
          <p:nvPr/>
        </p:nvSpPr>
        <p:spPr>
          <a:xfrm>
            <a:off x="822960" y="5056632"/>
            <a:ext cx="585216" cy="585216"/>
          </a:xfrm>
          <a:prstGeom prst="ellipse">
            <a:avLst/>
          </a:prstGeom>
          <a:solidFill>
            <a:srgbClr val="E0A526"/>
          </a:solidFill>
          <a:ln w="12700">
            <a:solidFill>
              <a:srgbClr val="FFFFFF">
                <a:alpha val="0"/>
              </a:srgbClr>
            </a:solidFill>
            <a:prstDash val="solid"/>
          </a:ln>
        </p:spPr>
      </p:sp>
      <p:sp>
        <p:nvSpPr>
          <p:cNvPr id="27" name="Text 24"/>
          <p:cNvSpPr txBox="1"/>
          <p:nvPr/>
        </p:nvSpPr>
        <p:spPr>
          <a:xfrm>
            <a:off x="822960" y="5056632"/>
            <a:ext cx="585216" cy="585216"/>
          </a:xfrm>
          <a:prstGeom prst="rect">
            <a:avLst/>
          </a:prstGeom>
          <a:noFill/>
          <a:ln/>
        </p:spPr>
        <p:txBody>
          <a:bodyPr wrap="square" lIns="0" tIns="0" rIns="0" bIns="0" rtlCol="0" anchor="ctr"/>
          <a:lstStyle/>
          <a:p>
            <a:pPr algn="ctr" indent="0" marL="0">
              <a:buNone/>
            </a:pPr>
            <a:r>
              <a:rPr lang="en-US" sz="2000" b="1" dirty="0">
                <a:solidFill>
                  <a:srgbClr val="0B1F3A"/>
                </a:solidFill>
                <a:latin typeface="Cambria" pitchFamily="34" charset="0"/>
                <a:ea typeface="Cambria" pitchFamily="34" charset="-122"/>
                <a:cs typeface="Cambria" pitchFamily="34" charset="-120"/>
              </a:rPr>
              <a:t>5</a:t>
            </a:r>
            <a:endParaRPr lang="en-US" sz="2000" dirty="0"/>
          </a:p>
        </p:txBody>
      </p:sp>
      <p:sp>
        <p:nvSpPr>
          <p:cNvPr id="28" name="Text 25"/>
          <p:cNvSpPr txBox="1"/>
          <p:nvPr/>
        </p:nvSpPr>
        <p:spPr>
          <a:xfrm>
            <a:off x="1645920" y="4910328"/>
            <a:ext cx="4114800" cy="411480"/>
          </a:xfrm>
          <a:prstGeom prst="rect">
            <a:avLst/>
          </a:prstGeom>
          <a:noFill/>
          <a:ln/>
        </p:spPr>
        <p:txBody>
          <a:bodyPr wrap="square" lIns="0" tIns="0" rIns="0" bIns="0" rtlCol="0" anchor="ctr"/>
          <a:lstStyle/>
          <a:p>
            <a:pPr indent="0" marL="0">
              <a:buNone/>
            </a:pPr>
            <a:r>
              <a:rPr lang="en-US" sz="1900" b="1" dirty="0">
                <a:solidFill>
                  <a:srgbClr val="0B1F3A"/>
                </a:solidFill>
                <a:latin typeface="Cambria" pitchFamily="34" charset="0"/>
                <a:ea typeface="Cambria" pitchFamily="34" charset="-122"/>
                <a:cs typeface="Cambria" pitchFamily="34" charset="-120"/>
              </a:rPr>
              <a:t>Statistical care</a:t>
            </a:r>
            <a:endParaRPr lang="en-US" sz="1900" dirty="0"/>
          </a:p>
        </p:txBody>
      </p:sp>
      <p:sp>
        <p:nvSpPr>
          <p:cNvPr id="29" name="Text 26"/>
          <p:cNvSpPr txBox="1"/>
          <p:nvPr/>
        </p:nvSpPr>
        <p:spPr>
          <a:xfrm>
            <a:off x="1645920" y="5367528"/>
            <a:ext cx="4114800" cy="5029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Unequal variances, many tests and correlated regions</a:t>
            </a:r>
            <a:endParaRPr lang="en-US" sz="1400" dirty="0"/>
          </a:p>
        </p:txBody>
      </p:sp>
      <p:sp>
        <p:nvSpPr>
          <p:cNvPr id="30" name="Shape 27"/>
          <p:cNvSpPr/>
          <p:nvPr/>
        </p:nvSpPr>
        <p:spPr>
          <a:xfrm>
            <a:off x="6185916" y="4709160"/>
            <a:ext cx="5454396" cy="1280160"/>
          </a:xfrm>
          <a:prstGeom prst="rect">
            <a:avLst/>
          </a:prstGeom>
          <a:solidFill>
            <a:srgbClr val="EEF3FA"/>
          </a:solidFill>
          <a:ln w="12700">
            <a:solidFill>
              <a:srgbClr val="FFFFFF">
                <a:alpha val="0"/>
              </a:srgbClr>
            </a:solidFill>
            <a:prstDash val="solid"/>
          </a:ln>
        </p:spPr>
      </p:sp>
      <p:sp>
        <p:nvSpPr>
          <p:cNvPr id="31" name="Shape 28"/>
          <p:cNvSpPr/>
          <p:nvPr/>
        </p:nvSpPr>
        <p:spPr>
          <a:xfrm>
            <a:off x="6460236" y="5056632"/>
            <a:ext cx="585216" cy="585216"/>
          </a:xfrm>
          <a:prstGeom prst="ellipse">
            <a:avLst/>
          </a:prstGeom>
          <a:solidFill>
            <a:srgbClr val="2A9D8F"/>
          </a:solidFill>
          <a:ln w="12700">
            <a:solidFill>
              <a:srgbClr val="FFFFFF">
                <a:alpha val="0"/>
              </a:srgbClr>
            </a:solidFill>
            <a:prstDash val="solid"/>
          </a:ln>
        </p:spPr>
      </p:sp>
      <p:sp>
        <p:nvSpPr>
          <p:cNvPr id="32" name="Text 29"/>
          <p:cNvSpPr txBox="1"/>
          <p:nvPr/>
        </p:nvSpPr>
        <p:spPr>
          <a:xfrm>
            <a:off x="6460236" y="5056632"/>
            <a:ext cx="585216" cy="585216"/>
          </a:xfrm>
          <a:prstGeom prst="rect">
            <a:avLst/>
          </a:prstGeom>
          <a:noFill/>
          <a:ln/>
        </p:spPr>
        <p:txBody>
          <a:bodyPr wrap="square" lIns="0" tIns="0" rIns="0" bIns="0" rtlCol="0" anchor="ctr"/>
          <a:lstStyle/>
          <a:p>
            <a:pPr algn="ctr" indent="0" marL="0">
              <a:buNone/>
            </a:pPr>
            <a:r>
              <a:rPr lang="en-US" sz="2000" b="1" dirty="0">
                <a:solidFill>
                  <a:srgbClr val="0B1F3A"/>
                </a:solidFill>
                <a:latin typeface="Cambria" pitchFamily="34" charset="0"/>
                <a:ea typeface="Cambria" pitchFamily="34" charset="-122"/>
                <a:cs typeface="Cambria" pitchFamily="34" charset="-120"/>
              </a:rPr>
              <a:t>6</a:t>
            </a:r>
            <a:endParaRPr lang="en-US" sz="2000" dirty="0"/>
          </a:p>
        </p:txBody>
      </p:sp>
      <p:sp>
        <p:nvSpPr>
          <p:cNvPr id="33" name="Text 30"/>
          <p:cNvSpPr txBox="1"/>
          <p:nvPr/>
        </p:nvSpPr>
        <p:spPr>
          <a:xfrm>
            <a:off x="7283196" y="4910328"/>
            <a:ext cx="4114800" cy="411480"/>
          </a:xfrm>
          <a:prstGeom prst="rect">
            <a:avLst/>
          </a:prstGeom>
          <a:noFill/>
          <a:ln/>
        </p:spPr>
        <p:txBody>
          <a:bodyPr wrap="square" lIns="0" tIns="0" rIns="0" bIns="0" rtlCol="0" anchor="ctr"/>
          <a:lstStyle/>
          <a:p>
            <a:pPr indent="0" marL="0">
              <a:buNone/>
            </a:pPr>
            <a:r>
              <a:rPr lang="en-US" sz="1900" b="1" dirty="0">
                <a:solidFill>
                  <a:srgbClr val="0B1F3A"/>
                </a:solidFill>
                <a:latin typeface="Cambria" pitchFamily="34" charset="0"/>
                <a:ea typeface="Cambria" pitchFamily="34" charset="-122"/>
                <a:cs typeface="Cambria" pitchFamily="34" charset="-120"/>
              </a:rPr>
              <a:t>Deliverables and next steps</a:t>
            </a:r>
            <a:endParaRPr lang="en-US" sz="1900" dirty="0"/>
          </a:p>
        </p:txBody>
      </p:sp>
      <p:sp>
        <p:nvSpPr>
          <p:cNvPr id="34" name="Text 31"/>
          <p:cNvSpPr txBox="1"/>
          <p:nvPr/>
        </p:nvSpPr>
        <p:spPr>
          <a:xfrm>
            <a:off x="7283196" y="5367528"/>
            <a:ext cx="4114800" cy="5029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Workflow, limits and what remains to be done</a:t>
            </a:r>
            <a:endParaRPr lang="en-US" sz="1400" dirty="0"/>
          </a:p>
        </p:txBody>
      </p:sp>
      <p:sp>
        <p:nvSpPr>
          <p:cNvPr id="35" name="Text 3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36" name="Text 33"/>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01  ·  MOTIVATION</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Rainfall is seasonal, uneven and easy to misread</a:t>
            </a:r>
            <a:endParaRPr lang="en-US" sz="3200" dirty="0"/>
          </a:p>
        </p:txBody>
      </p:sp>
      <p:sp>
        <p:nvSpPr>
          <p:cNvPr id="5" name="Text 2"/>
          <p:cNvSpPr txBox="1"/>
          <p:nvPr/>
        </p:nvSpPr>
        <p:spPr>
          <a:xfrm>
            <a:off x="548640" y="1737360"/>
            <a:ext cx="5669280" cy="2194560"/>
          </a:xfrm>
          <a:prstGeom prst="rect">
            <a:avLst/>
          </a:prstGeom>
          <a:noFill/>
          <a:ln/>
        </p:spPr>
        <p:txBody>
          <a:bodyPr wrap="square" lIns="0" tIns="0" rIns="0" bIns="0" rtlCol="0" anchor="t"/>
          <a:lstStyle/>
          <a:p>
            <a:pPr indent="0" marL="0">
              <a:buNone/>
            </a:pPr>
            <a:r>
              <a:rPr lang="en-US" sz="1800" dirty="0">
                <a:solidFill>
                  <a:srgbClr val="1E2A3A"/>
                </a:solidFill>
                <a:latin typeface="Calibri" pitchFamily="34" charset="0"/>
                <a:ea typeface="Calibri" pitchFamily="34" charset="-122"/>
                <a:cs typeface="Calibri" pitchFamily="34" charset="-120"/>
              </a:rPr>
              <a:t>India’s rainfall arrives in a few intense months, and a single national average hides how reliable it is in each region. Dry years are part of the record, but how often they occur, and where, matters for farming and water planning. This project asks what the historical record can and cannot tell us, using statistics that quantify uncertainty.</a:t>
            </a:r>
            <a:endParaRPr lang="en-US" sz="1800" dirty="0"/>
          </a:p>
        </p:txBody>
      </p:sp>
      <p:sp>
        <p:nvSpPr>
          <p:cNvPr id="6" name="Text 3"/>
          <p:cNvSpPr txBox="1"/>
          <p:nvPr/>
        </p:nvSpPr>
        <p:spPr>
          <a:xfrm>
            <a:off x="548640" y="4023360"/>
            <a:ext cx="56692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Relevant to agricultural planning and water-resource management</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Regional analysis reveals patterns that national averages hide</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A significant-looking result is not automatically strong evidence</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Probability models let us state how confident each claim is</a:t>
            </a:r>
            <a:endParaRPr lang="en-US" sz="1600" dirty="0"/>
          </a:p>
        </p:txBody>
      </p:sp>
      <p:sp>
        <p:nvSpPr>
          <p:cNvPr id="7" name="Shape 4"/>
          <p:cNvSpPr/>
          <p:nvPr/>
        </p:nvSpPr>
        <p:spPr>
          <a:xfrm>
            <a:off x="6766560" y="1737360"/>
            <a:ext cx="2286000" cy="1737360"/>
          </a:xfrm>
          <a:prstGeom prst="rect">
            <a:avLst/>
          </a:prstGeom>
          <a:solidFill>
            <a:srgbClr val="EEF3FA"/>
          </a:solidFill>
          <a:ln w="12700">
            <a:solidFill>
              <a:srgbClr val="FFFFFF">
                <a:alpha val="0"/>
              </a:srgbClr>
            </a:solidFill>
            <a:prstDash val="solid"/>
          </a:ln>
        </p:spPr>
      </p:sp>
      <p:sp>
        <p:nvSpPr>
          <p:cNvPr id="8" name="Text 5"/>
          <p:cNvSpPr txBox="1"/>
          <p:nvPr/>
        </p:nvSpPr>
        <p:spPr>
          <a:xfrm>
            <a:off x="7040880" y="1874520"/>
            <a:ext cx="1737360" cy="868680"/>
          </a:xfrm>
          <a:prstGeom prst="rect">
            <a:avLst/>
          </a:prstGeom>
          <a:noFill/>
          <a:ln/>
        </p:spPr>
        <p:txBody>
          <a:bodyPr wrap="square" lIns="0" tIns="0" rIns="0" bIns="0" rtlCol="0" anchor="b"/>
          <a:lstStyle/>
          <a:p>
            <a:pPr indent="0" marL="0">
              <a:buNone/>
            </a:pPr>
            <a:r>
              <a:rPr lang="en-US" sz="3400" b="1" dirty="0">
                <a:solidFill>
                  <a:srgbClr val="0B1F3A"/>
                </a:solidFill>
                <a:latin typeface="Cambria" pitchFamily="34" charset="0"/>
                <a:ea typeface="Cambria" pitchFamily="34" charset="-122"/>
                <a:cs typeface="Cambria" pitchFamily="34" charset="-120"/>
              </a:rPr>
              <a:t>75.2%</a:t>
            </a:r>
            <a:endParaRPr lang="en-US" sz="3400" dirty="0"/>
          </a:p>
        </p:txBody>
      </p:sp>
      <p:sp>
        <p:nvSpPr>
          <p:cNvPr id="9" name="Text 6"/>
          <p:cNvSpPr txBox="1"/>
          <p:nvPr/>
        </p:nvSpPr>
        <p:spPr>
          <a:xfrm>
            <a:off x="7040880" y="2710282"/>
            <a:ext cx="1737360" cy="660197"/>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of annual rain falls in June–September</a:t>
            </a:r>
            <a:endParaRPr lang="en-US" sz="1400" dirty="0"/>
          </a:p>
        </p:txBody>
      </p:sp>
      <p:sp>
        <p:nvSpPr>
          <p:cNvPr id="10" name="Shape 7"/>
          <p:cNvSpPr/>
          <p:nvPr/>
        </p:nvSpPr>
        <p:spPr>
          <a:xfrm>
            <a:off x="9326880" y="1737360"/>
            <a:ext cx="2286000" cy="1737360"/>
          </a:xfrm>
          <a:prstGeom prst="rect">
            <a:avLst/>
          </a:prstGeom>
          <a:solidFill>
            <a:srgbClr val="EEF3FA"/>
          </a:solidFill>
          <a:ln w="12700">
            <a:solidFill>
              <a:srgbClr val="FFFFFF">
                <a:alpha val="0"/>
              </a:srgbClr>
            </a:solidFill>
            <a:prstDash val="solid"/>
          </a:ln>
        </p:spPr>
      </p:sp>
      <p:sp>
        <p:nvSpPr>
          <p:cNvPr id="11" name="Text 8"/>
          <p:cNvSpPr txBox="1"/>
          <p:nvPr/>
        </p:nvSpPr>
        <p:spPr>
          <a:xfrm>
            <a:off x="9601200" y="1874520"/>
            <a:ext cx="1737360" cy="868680"/>
          </a:xfrm>
          <a:prstGeom prst="rect">
            <a:avLst/>
          </a:prstGeom>
          <a:noFill/>
          <a:ln/>
        </p:spPr>
        <p:txBody>
          <a:bodyPr wrap="square" lIns="0" tIns="0" rIns="0" bIns="0" rtlCol="0" anchor="b"/>
          <a:lstStyle/>
          <a:p>
            <a:pPr indent="0" marL="0">
              <a:buNone/>
            </a:pPr>
            <a:r>
              <a:rPr lang="en-US" sz="3400" b="1" dirty="0">
                <a:solidFill>
                  <a:srgbClr val="0B1F3A"/>
                </a:solidFill>
                <a:latin typeface="Cambria" pitchFamily="34" charset="0"/>
                <a:ea typeface="Cambria" pitchFamily="34" charset="-122"/>
                <a:cs typeface="Cambria" pitchFamily="34" charset="-120"/>
              </a:rPr>
              <a:t>36</a:t>
            </a:r>
            <a:endParaRPr lang="en-US" sz="3400" dirty="0"/>
          </a:p>
        </p:txBody>
      </p:sp>
      <p:sp>
        <p:nvSpPr>
          <p:cNvPr id="12" name="Text 9"/>
          <p:cNvSpPr txBox="1"/>
          <p:nvPr/>
        </p:nvSpPr>
        <p:spPr>
          <a:xfrm>
            <a:off x="9601200" y="2710282"/>
            <a:ext cx="1737360" cy="660197"/>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meteorological subdivisions</a:t>
            </a:r>
            <a:endParaRPr lang="en-US" sz="1400" dirty="0"/>
          </a:p>
        </p:txBody>
      </p:sp>
      <p:sp>
        <p:nvSpPr>
          <p:cNvPr id="13" name="Shape 10"/>
          <p:cNvSpPr/>
          <p:nvPr/>
        </p:nvSpPr>
        <p:spPr>
          <a:xfrm>
            <a:off x="6766560" y="3749040"/>
            <a:ext cx="2286000" cy="1737360"/>
          </a:xfrm>
          <a:prstGeom prst="rect">
            <a:avLst/>
          </a:prstGeom>
          <a:solidFill>
            <a:srgbClr val="EEF3FA"/>
          </a:solidFill>
          <a:ln w="12700">
            <a:solidFill>
              <a:srgbClr val="FFFFFF">
                <a:alpha val="0"/>
              </a:srgbClr>
            </a:solidFill>
            <a:prstDash val="solid"/>
          </a:ln>
        </p:spPr>
      </p:sp>
      <p:sp>
        <p:nvSpPr>
          <p:cNvPr id="14" name="Text 11"/>
          <p:cNvSpPr txBox="1"/>
          <p:nvPr/>
        </p:nvSpPr>
        <p:spPr>
          <a:xfrm>
            <a:off x="7040880" y="3886200"/>
            <a:ext cx="1737360" cy="868680"/>
          </a:xfrm>
          <a:prstGeom prst="rect">
            <a:avLst/>
          </a:prstGeom>
          <a:noFill/>
          <a:ln/>
        </p:spPr>
        <p:txBody>
          <a:bodyPr wrap="square" lIns="0" tIns="0" rIns="0" bIns="0" rtlCol="0" anchor="b"/>
          <a:lstStyle/>
          <a:p>
            <a:pPr indent="0" marL="0">
              <a:buNone/>
            </a:pPr>
            <a:r>
              <a:rPr lang="en-US" sz="3400" b="1" dirty="0">
                <a:solidFill>
                  <a:srgbClr val="0B1F3A"/>
                </a:solidFill>
                <a:latin typeface="Cambria" pitchFamily="34" charset="0"/>
                <a:ea typeface="Cambria" pitchFamily="34" charset="-122"/>
                <a:cs typeface="Cambria" pitchFamily="34" charset="-120"/>
              </a:rPr>
              <a:t>115</a:t>
            </a:r>
            <a:endParaRPr lang="en-US" sz="3400" dirty="0"/>
          </a:p>
        </p:txBody>
      </p:sp>
      <p:sp>
        <p:nvSpPr>
          <p:cNvPr id="15" name="Text 12"/>
          <p:cNvSpPr txBox="1"/>
          <p:nvPr/>
        </p:nvSpPr>
        <p:spPr>
          <a:xfrm>
            <a:off x="7040880" y="4721962"/>
            <a:ext cx="1737360" cy="660197"/>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years of monthly records (1901–2015)</a:t>
            </a:r>
            <a:endParaRPr lang="en-US" sz="1400" dirty="0"/>
          </a:p>
        </p:txBody>
      </p:sp>
      <p:sp>
        <p:nvSpPr>
          <p:cNvPr id="16" name="Shape 13"/>
          <p:cNvSpPr/>
          <p:nvPr/>
        </p:nvSpPr>
        <p:spPr>
          <a:xfrm>
            <a:off x="9326880" y="3749040"/>
            <a:ext cx="2286000" cy="1737360"/>
          </a:xfrm>
          <a:prstGeom prst="rect">
            <a:avLst/>
          </a:prstGeom>
          <a:solidFill>
            <a:srgbClr val="EEF3FA"/>
          </a:solidFill>
          <a:ln w="12700">
            <a:solidFill>
              <a:srgbClr val="FFFFFF">
                <a:alpha val="0"/>
              </a:srgbClr>
            </a:solidFill>
            <a:prstDash val="solid"/>
          </a:ln>
        </p:spPr>
      </p:sp>
      <p:sp>
        <p:nvSpPr>
          <p:cNvPr id="17" name="Text 14"/>
          <p:cNvSpPr txBox="1"/>
          <p:nvPr/>
        </p:nvSpPr>
        <p:spPr>
          <a:xfrm>
            <a:off x="9601200" y="3886200"/>
            <a:ext cx="1737360" cy="868680"/>
          </a:xfrm>
          <a:prstGeom prst="rect">
            <a:avLst/>
          </a:prstGeom>
          <a:noFill/>
          <a:ln/>
        </p:spPr>
        <p:txBody>
          <a:bodyPr wrap="square" lIns="0" tIns="0" rIns="0" bIns="0" rtlCol="0" anchor="b"/>
          <a:lstStyle/>
          <a:p>
            <a:pPr indent="0" marL="0">
              <a:buNone/>
            </a:pPr>
            <a:r>
              <a:rPr lang="en-US" sz="2600" b="1" dirty="0">
                <a:solidFill>
                  <a:srgbClr val="0B1F3A"/>
                </a:solidFill>
                <a:latin typeface="Cambria" pitchFamily="34" charset="0"/>
                <a:ea typeface="Cambria" pitchFamily="34" charset="-122"/>
                <a:cs typeface="Cambria" pitchFamily="34" charset="-120"/>
              </a:rPr>
              <a:t>23 of 115</a:t>
            </a:r>
            <a:endParaRPr lang="en-US" sz="2600" dirty="0"/>
          </a:p>
        </p:txBody>
      </p:sp>
      <p:sp>
        <p:nvSpPr>
          <p:cNvPr id="18" name="Text 15"/>
          <p:cNvSpPr txBox="1"/>
          <p:nvPr/>
        </p:nvSpPr>
        <p:spPr>
          <a:xfrm>
            <a:off x="9601200" y="4721962"/>
            <a:ext cx="1737360" cy="660197"/>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years below 90% of the all-India normal</a:t>
            </a:r>
            <a:endParaRPr lang="en-US" sz="1400" dirty="0"/>
          </a:p>
        </p:txBody>
      </p:sp>
      <p:sp>
        <p:nvSpPr>
          <p:cNvPr id="19" name="Text 16"/>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20" name="Text 17"/>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02  ·  AIM</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Aim, objectives and research questions</a:t>
            </a:r>
            <a:endParaRPr lang="en-US" sz="3200" dirty="0"/>
          </a:p>
        </p:txBody>
      </p:sp>
      <p:sp>
        <p:nvSpPr>
          <p:cNvPr id="5" name="Shape 2"/>
          <p:cNvSpPr/>
          <p:nvPr/>
        </p:nvSpPr>
        <p:spPr>
          <a:xfrm>
            <a:off x="548640" y="1691640"/>
            <a:ext cx="11091672" cy="960120"/>
          </a:xfrm>
          <a:prstGeom prst="rect">
            <a:avLst/>
          </a:prstGeom>
          <a:solidFill>
            <a:srgbClr val="0B1F3A"/>
          </a:solidFill>
          <a:ln w="12700">
            <a:solidFill>
              <a:srgbClr val="FFFFFF">
                <a:alpha val="0"/>
              </a:srgbClr>
            </a:solidFill>
            <a:prstDash val="solid"/>
          </a:ln>
        </p:spPr>
      </p:sp>
      <p:sp>
        <p:nvSpPr>
          <p:cNvPr id="6" name="Text 3"/>
          <p:cNvSpPr txBox="1"/>
          <p:nvPr/>
        </p:nvSpPr>
        <p:spPr>
          <a:xfrm>
            <a:off x="868680" y="1691640"/>
            <a:ext cx="10515600" cy="96012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To statistically analyse historical rainfall across India’s subdivisions: seasonality, regional variability, rainfall distributions and long-term trends.</a:t>
            </a:r>
            <a:endParaRPr lang="en-US" sz="1800" dirty="0"/>
          </a:p>
        </p:txBody>
      </p:sp>
      <p:sp>
        <p:nvSpPr>
          <p:cNvPr id="7" name="Shape 4"/>
          <p:cNvSpPr/>
          <p:nvPr/>
        </p:nvSpPr>
        <p:spPr>
          <a:xfrm>
            <a:off x="548640" y="2880360"/>
            <a:ext cx="5454396" cy="1463040"/>
          </a:xfrm>
          <a:prstGeom prst="rect">
            <a:avLst/>
          </a:prstGeom>
          <a:solidFill>
            <a:srgbClr val="EEF3FA"/>
          </a:solidFill>
          <a:ln w="12700">
            <a:solidFill>
              <a:srgbClr val="FFFFFF">
                <a:alpha val="0"/>
              </a:srgbClr>
            </a:solidFill>
            <a:prstDash val="solid"/>
          </a:ln>
        </p:spPr>
      </p:sp>
      <p:sp>
        <p:nvSpPr>
          <p:cNvPr id="8" name="Text 5"/>
          <p:cNvSpPr txBox="1"/>
          <p:nvPr/>
        </p:nvSpPr>
        <p:spPr>
          <a:xfrm>
            <a:off x="868680" y="3108960"/>
            <a:ext cx="1097280" cy="365760"/>
          </a:xfrm>
          <a:prstGeom prst="rect">
            <a:avLst/>
          </a:prstGeom>
          <a:noFill/>
          <a:ln/>
        </p:spPr>
        <p:txBody>
          <a:bodyPr wrap="square" lIns="0" tIns="0" rIns="0" bIns="0" rtlCol="0" anchor="t"/>
          <a:lstStyle/>
          <a:p>
            <a:pPr indent="0" marL="0">
              <a:buNone/>
            </a:pPr>
            <a:r>
              <a:rPr lang="en-US" sz="1800" b="1" dirty="0">
                <a:solidFill>
                  <a:srgbClr val="9A6A00"/>
                </a:solidFill>
                <a:latin typeface="Cambria" pitchFamily="34" charset="0"/>
                <a:ea typeface="Cambria" pitchFamily="34" charset="-122"/>
                <a:cs typeface="Cambria" pitchFamily="34" charset="-120"/>
              </a:rPr>
              <a:t>RQ1</a:t>
            </a:r>
            <a:endParaRPr lang="en-US" sz="1800" dirty="0"/>
          </a:p>
        </p:txBody>
      </p:sp>
      <p:sp>
        <p:nvSpPr>
          <p:cNvPr id="9" name="Text 6"/>
          <p:cNvSpPr txBox="1"/>
          <p:nvPr/>
        </p:nvSpPr>
        <p:spPr>
          <a:xfrm>
            <a:off x="868680" y="3520440"/>
            <a:ext cx="4846320" cy="685800"/>
          </a:xfrm>
          <a:prstGeom prst="rect">
            <a:avLst/>
          </a:prstGeom>
          <a:noFill/>
          <a:ln/>
        </p:spPr>
        <p:txBody>
          <a:bodyPr wrap="square" lIns="0" tIns="0" rIns="0" bIns="0" rtlCol="0" anchor="t"/>
          <a:lstStyle/>
          <a:p>
            <a:pPr indent="0" marL="0">
              <a:buNone/>
            </a:pPr>
            <a:r>
              <a:rPr lang="en-US" sz="1700" dirty="0">
                <a:solidFill>
                  <a:srgbClr val="0B1F3A"/>
                </a:solidFill>
                <a:latin typeface="Calibri" pitchFamily="34" charset="0"/>
                <a:ea typeface="Calibri" pitchFamily="34" charset="-122"/>
                <a:cs typeface="Calibri" pitchFamily="34" charset="-120"/>
              </a:rPr>
              <a:t>How concentrated is rainfall in the June–September monsoon?</a:t>
            </a:r>
            <a:endParaRPr lang="en-US" sz="1700" dirty="0"/>
          </a:p>
        </p:txBody>
      </p:sp>
      <p:sp>
        <p:nvSpPr>
          <p:cNvPr id="10" name="Shape 7"/>
          <p:cNvSpPr/>
          <p:nvPr/>
        </p:nvSpPr>
        <p:spPr>
          <a:xfrm>
            <a:off x="6185916" y="2880360"/>
            <a:ext cx="5454396" cy="1463040"/>
          </a:xfrm>
          <a:prstGeom prst="rect">
            <a:avLst/>
          </a:prstGeom>
          <a:solidFill>
            <a:srgbClr val="EEF3FA"/>
          </a:solidFill>
          <a:ln w="12700">
            <a:solidFill>
              <a:srgbClr val="FFFFFF">
                <a:alpha val="0"/>
              </a:srgbClr>
            </a:solidFill>
            <a:prstDash val="solid"/>
          </a:ln>
        </p:spPr>
      </p:sp>
      <p:sp>
        <p:nvSpPr>
          <p:cNvPr id="11" name="Text 8"/>
          <p:cNvSpPr txBox="1"/>
          <p:nvPr/>
        </p:nvSpPr>
        <p:spPr>
          <a:xfrm>
            <a:off x="6505956" y="3108960"/>
            <a:ext cx="1097280" cy="365760"/>
          </a:xfrm>
          <a:prstGeom prst="rect">
            <a:avLst/>
          </a:prstGeom>
          <a:noFill/>
          <a:ln/>
        </p:spPr>
        <p:txBody>
          <a:bodyPr wrap="square" lIns="0" tIns="0" rIns="0" bIns="0" rtlCol="0" anchor="t"/>
          <a:lstStyle/>
          <a:p>
            <a:pPr indent="0" marL="0">
              <a:buNone/>
            </a:pPr>
            <a:r>
              <a:rPr lang="en-US" sz="1800" b="1" dirty="0">
                <a:solidFill>
                  <a:srgbClr val="9A6A00"/>
                </a:solidFill>
                <a:latin typeface="Cambria" pitchFamily="34" charset="0"/>
                <a:ea typeface="Cambria" pitchFamily="34" charset="-122"/>
                <a:cs typeface="Cambria" pitchFamily="34" charset="-120"/>
              </a:rPr>
              <a:t>RQ2</a:t>
            </a:r>
            <a:endParaRPr lang="en-US" sz="1800" dirty="0"/>
          </a:p>
        </p:txBody>
      </p:sp>
      <p:sp>
        <p:nvSpPr>
          <p:cNvPr id="12" name="Text 9"/>
          <p:cNvSpPr txBox="1"/>
          <p:nvPr/>
        </p:nvSpPr>
        <p:spPr>
          <a:xfrm>
            <a:off x="6505956" y="3520440"/>
            <a:ext cx="4846320" cy="685800"/>
          </a:xfrm>
          <a:prstGeom prst="rect">
            <a:avLst/>
          </a:prstGeom>
          <a:noFill/>
          <a:ln/>
        </p:spPr>
        <p:txBody>
          <a:bodyPr wrap="square" lIns="0" tIns="0" rIns="0" bIns="0" rtlCol="0" anchor="t"/>
          <a:lstStyle/>
          <a:p>
            <a:pPr indent="0" marL="0">
              <a:buNone/>
            </a:pPr>
            <a:r>
              <a:rPr lang="en-US" sz="1700" dirty="0">
                <a:solidFill>
                  <a:srgbClr val="0B1F3A"/>
                </a:solidFill>
                <a:latin typeface="Calibri" pitchFamily="34" charset="0"/>
                <a:ea typeface="Calibri" pitchFamily="34" charset="-122"/>
                <a:cs typeface="Calibri" pitchFamily="34" charset="-120"/>
              </a:rPr>
              <a:t>How much does annual variability differ between subdivisions?</a:t>
            </a:r>
            <a:endParaRPr lang="en-US" sz="1700" dirty="0"/>
          </a:p>
        </p:txBody>
      </p:sp>
      <p:sp>
        <p:nvSpPr>
          <p:cNvPr id="13" name="Shape 10"/>
          <p:cNvSpPr/>
          <p:nvPr/>
        </p:nvSpPr>
        <p:spPr>
          <a:xfrm>
            <a:off x="548640" y="4526280"/>
            <a:ext cx="5454396" cy="1463040"/>
          </a:xfrm>
          <a:prstGeom prst="rect">
            <a:avLst/>
          </a:prstGeom>
          <a:solidFill>
            <a:srgbClr val="EEF3FA"/>
          </a:solidFill>
          <a:ln w="12700">
            <a:solidFill>
              <a:srgbClr val="FFFFFF">
                <a:alpha val="0"/>
              </a:srgbClr>
            </a:solidFill>
            <a:prstDash val="solid"/>
          </a:ln>
        </p:spPr>
      </p:sp>
      <p:sp>
        <p:nvSpPr>
          <p:cNvPr id="14" name="Text 11"/>
          <p:cNvSpPr txBox="1"/>
          <p:nvPr/>
        </p:nvSpPr>
        <p:spPr>
          <a:xfrm>
            <a:off x="868680" y="4754880"/>
            <a:ext cx="1097280" cy="365760"/>
          </a:xfrm>
          <a:prstGeom prst="rect">
            <a:avLst/>
          </a:prstGeom>
          <a:noFill/>
          <a:ln/>
        </p:spPr>
        <p:txBody>
          <a:bodyPr wrap="square" lIns="0" tIns="0" rIns="0" bIns="0" rtlCol="0" anchor="t"/>
          <a:lstStyle/>
          <a:p>
            <a:pPr indent="0" marL="0">
              <a:buNone/>
            </a:pPr>
            <a:r>
              <a:rPr lang="en-US" sz="1800" b="1" dirty="0">
                <a:solidFill>
                  <a:srgbClr val="9A6A00"/>
                </a:solidFill>
                <a:latin typeface="Cambria" pitchFamily="34" charset="0"/>
                <a:ea typeface="Cambria" pitchFamily="34" charset="-122"/>
                <a:cs typeface="Cambria" pitchFamily="34" charset="-120"/>
              </a:rPr>
              <a:t>RQ3</a:t>
            </a:r>
            <a:endParaRPr lang="en-US" sz="1800" dirty="0"/>
          </a:p>
        </p:txBody>
      </p:sp>
      <p:sp>
        <p:nvSpPr>
          <p:cNvPr id="15" name="Text 12"/>
          <p:cNvSpPr txBox="1"/>
          <p:nvPr/>
        </p:nvSpPr>
        <p:spPr>
          <a:xfrm>
            <a:off x="868680" y="5166360"/>
            <a:ext cx="4846320" cy="685800"/>
          </a:xfrm>
          <a:prstGeom prst="rect">
            <a:avLst/>
          </a:prstGeom>
          <a:noFill/>
          <a:ln/>
        </p:spPr>
        <p:txBody>
          <a:bodyPr wrap="square" lIns="0" tIns="0" rIns="0" bIns="0" rtlCol="0" anchor="t"/>
          <a:lstStyle/>
          <a:p>
            <a:pPr indent="0" marL="0">
              <a:buNone/>
            </a:pPr>
            <a:r>
              <a:rPr lang="en-US" sz="1700" dirty="0">
                <a:solidFill>
                  <a:srgbClr val="0B1F3A"/>
                </a:solidFill>
                <a:latin typeface="Calibri" pitchFamily="34" charset="0"/>
                <a:ea typeface="Calibri" pitchFamily="34" charset="-122"/>
                <a:cs typeface="Calibri" pitchFamily="34" charset="-120"/>
              </a:rPr>
              <a:t>Which probability distributions describe rainfall totals well?</a:t>
            </a:r>
            <a:endParaRPr lang="en-US" sz="1700" dirty="0"/>
          </a:p>
        </p:txBody>
      </p:sp>
      <p:sp>
        <p:nvSpPr>
          <p:cNvPr id="16" name="Shape 13"/>
          <p:cNvSpPr/>
          <p:nvPr/>
        </p:nvSpPr>
        <p:spPr>
          <a:xfrm>
            <a:off x="6185916" y="4526280"/>
            <a:ext cx="5454396" cy="1463040"/>
          </a:xfrm>
          <a:prstGeom prst="rect">
            <a:avLst/>
          </a:prstGeom>
          <a:solidFill>
            <a:srgbClr val="EEF3FA"/>
          </a:solidFill>
          <a:ln w="12700">
            <a:solidFill>
              <a:srgbClr val="FFFFFF">
                <a:alpha val="0"/>
              </a:srgbClr>
            </a:solidFill>
            <a:prstDash val="solid"/>
          </a:ln>
        </p:spPr>
      </p:sp>
      <p:sp>
        <p:nvSpPr>
          <p:cNvPr id="17" name="Text 14"/>
          <p:cNvSpPr txBox="1"/>
          <p:nvPr/>
        </p:nvSpPr>
        <p:spPr>
          <a:xfrm>
            <a:off x="6505956" y="4754880"/>
            <a:ext cx="1097280" cy="365760"/>
          </a:xfrm>
          <a:prstGeom prst="rect">
            <a:avLst/>
          </a:prstGeom>
          <a:noFill/>
          <a:ln/>
        </p:spPr>
        <p:txBody>
          <a:bodyPr wrap="square" lIns="0" tIns="0" rIns="0" bIns="0" rtlCol="0" anchor="t"/>
          <a:lstStyle/>
          <a:p>
            <a:pPr indent="0" marL="0">
              <a:buNone/>
            </a:pPr>
            <a:r>
              <a:rPr lang="en-US" sz="1800" b="1" dirty="0">
                <a:solidFill>
                  <a:srgbClr val="9A6A00"/>
                </a:solidFill>
                <a:latin typeface="Cambria" pitchFamily="34" charset="0"/>
                <a:ea typeface="Cambria" pitchFamily="34" charset="-122"/>
                <a:cs typeface="Cambria" pitchFamily="34" charset="-120"/>
              </a:rPr>
              <a:t>RQ4</a:t>
            </a:r>
            <a:endParaRPr lang="en-US" sz="1800" dirty="0"/>
          </a:p>
        </p:txBody>
      </p:sp>
      <p:sp>
        <p:nvSpPr>
          <p:cNvPr id="18" name="Text 15"/>
          <p:cNvSpPr txBox="1"/>
          <p:nvPr/>
        </p:nvSpPr>
        <p:spPr>
          <a:xfrm>
            <a:off x="6505956" y="5166360"/>
            <a:ext cx="4846320" cy="685800"/>
          </a:xfrm>
          <a:prstGeom prst="rect">
            <a:avLst/>
          </a:prstGeom>
          <a:noFill/>
          <a:ln/>
        </p:spPr>
        <p:txBody>
          <a:bodyPr wrap="square" lIns="0" tIns="0" rIns="0" bIns="0" rtlCol="0" anchor="t"/>
          <a:lstStyle/>
          <a:p>
            <a:pPr indent="0" marL="0">
              <a:buNone/>
            </a:pPr>
            <a:r>
              <a:rPr lang="en-US" sz="1700" dirty="0">
                <a:solidFill>
                  <a:srgbClr val="0B1F3A"/>
                </a:solidFill>
                <a:latin typeface="Calibri" pitchFamily="34" charset="0"/>
                <a:ea typeface="Calibri" pitchFamily="34" charset="-122"/>
                <a:cs typeface="Calibri" pitchFamily="34" charset="-120"/>
              </a:rPr>
              <a:t>Which subdivisions show a long-term trend after multiple-testing correction?</a:t>
            </a:r>
            <a:endParaRPr lang="en-US" sz="1700" dirty="0"/>
          </a:p>
        </p:txBody>
      </p:sp>
      <p:sp>
        <p:nvSpPr>
          <p:cNvPr id="19" name="Text 16"/>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20" name="Text 17"/>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02  ·  OBJECTIVES</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the analysis will deliver</a:t>
            </a:r>
            <a:endParaRPr lang="en-US" sz="3200" dirty="0"/>
          </a:p>
        </p:txBody>
      </p:sp>
      <p:sp>
        <p:nvSpPr>
          <p:cNvPr id="5" name="Shape 2"/>
          <p:cNvSpPr/>
          <p:nvPr/>
        </p:nvSpPr>
        <p:spPr>
          <a:xfrm>
            <a:off x="548640" y="1783080"/>
            <a:ext cx="3520440" cy="1828800"/>
          </a:xfrm>
          <a:prstGeom prst="rect">
            <a:avLst/>
          </a:prstGeom>
          <a:solidFill>
            <a:srgbClr val="EEF3FA"/>
          </a:solidFill>
          <a:ln w="12700">
            <a:solidFill>
              <a:srgbClr val="FFFFFF">
                <a:alpha val="0"/>
              </a:srgbClr>
            </a:solidFill>
            <a:prstDash val="solid"/>
          </a:ln>
        </p:spPr>
      </p:sp>
      <p:sp>
        <p:nvSpPr>
          <p:cNvPr id="6" name="Shape 3"/>
          <p:cNvSpPr/>
          <p:nvPr/>
        </p:nvSpPr>
        <p:spPr>
          <a:xfrm>
            <a:off x="822960" y="2057400"/>
            <a:ext cx="566928" cy="566928"/>
          </a:xfrm>
          <a:prstGeom prst="ellipse">
            <a:avLst/>
          </a:prstGeom>
          <a:solidFill>
            <a:srgbClr val="E0A526"/>
          </a:solidFill>
          <a:ln w="12700">
            <a:solidFill>
              <a:srgbClr val="FFFFFF">
                <a:alpha val="0"/>
              </a:srgbClr>
            </a:solidFill>
            <a:prstDash val="solid"/>
          </a:ln>
        </p:spPr>
      </p:sp>
      <p:sp>
        <p:nvSpPr>
          <p:cNvPr id="7" name="Text 4"/>
          <p:cNvSpPr txBox="1"/>
          <p:nvPr/>
        </p:nvSpPr>
        <p:spPr>
          <a:xfrm>
            <a:off x="822960" y="205740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1554480" y="2057400"/>
            <a:ext cx="2377440" cy="566928"/>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Describe</a:t>
            </a:r>
            <a:endParaRPr lang="en-US" sz="2000" dirty="0"/>
          </a:p>
        </p:txBody>
      </p:sp>
      <p:sp>
        <p:nvSpPr>
          <p:cNvPr id="9" name="Text 6"/>
          <p:cNvSpPr txBox="1"/>
          <p:nvPr/>
        </p:nvSpPr>
        <p:spPr>
          <a:xfrm>
            <a:off x="822960" y="2788920"/>
            <a:ext cx="3017520" cy="731520"/>
          </a:xfrm>
          <a:prstGeom prst="rect">
            <a:avLst/>
          </a:prstGeom>
          <a:noFill/>
          <a:ln/>
        </p:spPr>
        <p:txBody>
          <a:bodyPr wrap="square" lIns="0" tIns="0" rIns="0" bIns="0" rtlCol="0" anchor="t"/>
          <a:lstStyle/>
          <a:p>
            <a:pPr indent="0" marL="0">
              <a:buNone/>
            </a:pPr>
            <a:r>
              <a:rPr lang="en-US" sz="1500" dirty="0">
                <a:solidFill>
                  <a:srgbClr val="1E2A3A"/>
                </a:solidFill>
                <a:latin typeface="Calibri" pitchFamily="34" charset="0"/>
                <a:ea typeface="Calibri" pitchFamily="34" charset="-122"/>
                <a:cs typeface="Calibri" pitchFamily="34" charset="-120"/>
              </a:rPr>
              <a:t>Monthly and seasonal rainfall patterns across subdivisions</a:t>
            </a:r>
            <a:endParaRPr lang="en-US" sz="1500" dirty="0"/>
          </a:p>
        </p:txBody>
      </p:sp>
      <p:sp>
        <p:nvSpPr>
          <p:cNvPr id="10" name="Shape 7"/>
          <p:cNvSpPr/>
          <p:nvPr/>
        </p:nvSpPr>
        <p:spPr>
          <a:xfrm>
            <a:off x="4297680" y="1783080"/>
            <a:ext cx="3520440" cy="1828800"/>
          </a:xfrm>
          <a:prstGeom prst="rect">
            <a:avLst/>
          </a:prstGeom>
          <a:solidFill>
            <a:srgbClr val="EEF3FA"/>
          </a:solidFill>
          <a:ln w="12700">
            <a:solidFill>
              <a:srgbClr val="FFFFFF">
                <a:alpha val="0"/>
              </a:srgbClr>
            </a:solidFill>
            <a:prstDash val="solid"/>
          </a:ln>
        </p:spPr>
      </p:sp>
      <p:sp>
        <p:nvSpPr>
          <p:cNvPr id="11" name="Shape 8"/>
          <p:cNvSpPr/>
          <p:nvPr/>
        </p:nvSpPr>
        <p:spPr>
          <a:xfrm>
            <a:off x="4572000" y="2057400"/>
            <a:ext cx="566928" cy="566928"/>
          </a:xfrm>
          <a:prstGeom prst="ellipse">
            <a:avLst/>
          </a:prstGeom>
          <a:solidFill>
            <a:srgbClr val="2A9D8F"/>
          </a:solidFill>
          <a:ln w="12700">
            <a:solidFill>
              <a:srgbClr val="FFFFFF">
                <a:alpha val="0"/>
              </a:srgbClr>
            </a:solidFill>
            <a:prstDash val="solid"/>
          </a:ln>
        </p:spPr>
      </p:sp>
      <p:sp>
        <p:nvSpPr>
          <p:cNvPr id="12" name="Text 9"/>
          <p:cNvSpPr txBox="1"/>
          <p:nvPr/>
        </p:nvSpPr>
        <p:spPr>
          <a:xfrm>
            <a:off x="4572000" y="205740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5303520" y="2057400"/>
            <a:ext cx="2377440" cy="566928"/>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Compare</a:t>
            </a:r>
            <a:endParaRPr lang="en-US" sz="2000" dirty="0"/>
          </a:p>
        </p:txBody>
      </p:sp>
      <p:sp>
        <p:nvSpPr>
          <p:cNvPr id="14" name="Text 11"/>
          <p:cNvSpPr txBox="1"/>
          <p:nvPr/>
        </p:nvSpPr>
        <p:spPr>
          <a:xfrm>
            <a:off x="4572000" y="2788920"/>
            <a:ext cx="3017520" cy="731520"/>
          </a:xfrm>
          <a:prstGeom prst="rect">
            <a:avLst/>
          </a:prstGeom>
          <a:noFill/>
          <a:ln/>
        </p:spPr>
        <p:txBody>
          <a:bodyPr wrap="square" lIns="0" tIns="0" rIns="0" bIns="0" rtlCol="0" anchor="t"/>
          <a:lstStyle/>
          <a:p>
            <a:pPr indent="0" marL="0">
              <a:buNone/>
            </a:pPr>
            <a:r>
              <a:rPr lang="en-US" sz="1500" dirty="0">
                <a:solidFill>
                  <a:srgbClr val="1E2A3A"/>
                </a:solidFill>
                <a:latin typeface="Calibri" pitchFamily="34" charset="0"/>
                <a:ea typeface="Calibri" pitchFamily="34" charset="-122"/>
                <a:cs typeface="Calibri" pitchFamily="34" charset="-120"/>
              </a:rPr>
              <a:t>Average rainfall and relative variability (CV) by region</a:t>
            </a:r>
            <a:endParaRPr lang="en-US" sz="1500" dirty="0"/>
          </a:p>
        </p:txBody>
      </p:sp>
      <p:sp>
        <p:nvSpPr>
          <p:cNvPr id="15" name="Shape 12"/>
          <p:cNvSpPr/>
          <p:nvPr/>
        </p:nvSpPr>
        <p:spPr>
          <a:xfrm>
            <a:off x="8046720" y="1783080"/>
            <a:ext cx="3520440" cy="1828800"/>
          </a:xfrm>
          <a:prstGeom prst="rect">
            <a:avLst/>
          </a:prstGeom>
          <a:solidFill>
            <a:srgbClr val="EEF3FA"/>
          </a:solidFill>
          <a:ln w="12700">
            <a:solidFill>
              <a:srgbClr val="FFFFFF">
                <a:alpha val="0"/>
              </a:srgbClr>
            </a:solidFill>
            <a:prstDash val="solid"/>
          </a:ln>
        </p:spPr>
      </p:sp>
      <p:sp>
        <p:nvSpPr>
          <p:cNvPr id="16" name="Shape 13"/>
          <p:cNvSpPr/>
          <p:nvPr/>
        </p:nvSpPr>
        <p:spPr>
          <a:xfrm>
            <a:off x="8321040" y="2057400"/>
            <a:ext cx="566928" cy="566928"/>
          </a:xfrm>
          <a:prstGeom prst="ellipse">
            <a:avLst/>
          </a:prstGeom>
          <a:solidFill>
            <a:srgbClr val="E0A526"/>
          </a:solidFill>
          <a:ln w="12700">
            <a:solidFill>
              <a:srgbClr val="FFFFFF">
                <a:alpha val="0"/>
              </a:srgbClr>
            </a:solidFill>
            <a:prstDash val="solid"/>
          </a:ln>
        </p:spPr>
      </p:sp>
      <p:sp>
        <p:nvSpPr>
          <p:cNvPr id="17" name="Text 14"/>
          <p:cNvSpPr txBox="1"/>
          <p:nvPr/>
        </p:nvSpPr>
        <p:spPr>
          <a:xfrm>
            <a:off x="8321040" y="205740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mbria" pitchFamily="34" charset="0"/>
                <a:ea typeface="Cambria" pitchFamily="34" charset="-122"/>
                <a:cs typeface="Cambria" pitchFamily="34" charset="-120"/>
              </a:rPr>
              <a:t>3</a:t>
            </a:r>
            <a:endParaRPr lang="en-US" sz="1800" dirty="0"/>
          </a:p>
        </p:txBody>
      </p:sp>
      <p:sp>
        <p:nvSpPr>
          <p:cNvPr id="18" name="Text 15"/>
          <p:cNvSpPr txBox="1"/>
          <p:nvPr/>
        </p:nvSpPr>
        <p:spPr>
          <a:xfrm>
            <a:off x="9052560" y="2057400"/>
            <a:ext cx="2377440" cy="566928"/>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Model</a:t>
            </a:r>
            <a:endParaRPr lang="en-US" sz="2000" dirty="0"/>
          </a:p>
        </p:txBody>
      </p:sp>
      <p:sp>
        <p:nvSpPr>
          <p:cNvPr id="19" name="Text 16"/>
          <p:cNvSpPr txBox="1"/>
          <p:nvPr/>
        </p:nvSpPr>
        <p:spPr>
          <a:xfrm>
            <a:off x="8321040" y="2788920"/>
            <a:ext cx="3017520" cy="731520"/>
          </a:xfrm>
          <a:prstGeom prst="rect">
            <a:avLst/>
          </a:prstGeom>
          <a:noFill/>
          <a:ln/>
        </p:spPr>
        <p:txBody>
          <a:bodyPr wrap="square" lIns="0" tIns="0" rIns="0" bIns="0" rtlCol="0" anchor="t"/>
          <a:lstStyle/>
          <a:p>
            <a:pPr indent="0" marL="0">
              <a:buNone/>
            </a:pPr>
            <a:r>
              <a:rPr lang="en-US" sz="1500" dirty="0">
                <a:solidFill>
                  <a:srgbClr val="1E2A3A"/>
                </a:solidFill>
                <a:latin typeface="Calibri" pitchFamily="34" charset="0"/>
                <a:ea typeface="Calibri" pitchFamily="34" charset="-122"/>
                <a:cs typeface="Calibri" pitchFamily="34" charset="-120"/>
              </a:rPr>
              <a:t>Candidate distributions for rainfall totals, judged on fit</a:t>
            </a:r>
            <a:endParaRPr lang="en-US" sz="1500" dirty="0"/>
          </a:p>
        </p:txBody>
      </p:sp>
      <p:sp>
        <p:nvSpPr>
          <p:cNvPr id="20" name="Shape 17"/>
          <p:cNvSpPr/>
          <p:nvPr/>
        </p:nvSpPr>
        <p:spPr>
          <a:xfrm>
            <a:off x="548640" y="3840480"/>
            <a:ext cx="3520440" cy="1828800"/>
          </a:xfrm>
          <a:prstGeom prst="rect">
            <a:avLst/>
          </a:prstGeom>
          <a:solidFill>
            <a:srgbClr val="EEF3FA"/>
          </a:solidFill>
          <a:ln w="12700">
            <a:solidFill>
              <a:srgbClr val="FFFFFF">
                <a:alpha val="0"/>
              </a:srgbClr>
            </a:solidFill>
            <a:prstDash val="solid"/>
          </a:ln>
        </p:spPr>
      </p:sp>
      <p:sp>
        <p:nvSpPr>
          <p:cNvPr id="21" name="Shape 18"/>
          <p:cNvSpPr/>
          <p:nvPr/>
        </p:nvSpPr>
        <p:spPr>
          <a:xfrm>
            <a:off x="822960" y="4114800"/>
            <a:ext cx="566928" cy="566928"/>
          </a:xfrm>
          <a:prstGeom prst="ellipse">
            <a:avLst/>
          </a:prstGeom>
          <a:solidFill>
            <a:srgbClr val="2A9D8F"/>
          </a:solidFill>
          <a:ln w="12700">
            <a:solidFill>
              <a:srgbClr val="FFFFFF">
                <a:alpha val="0"/>
              </a:srgbClr>
            </a:solidFill>
            <a:prstDash val="solid"/>
          </a:ln>
        </p:spPr>
      </p:sp>
      <p:sp>
        <p:nvSpPr>
          <p:cNvPr id="22" name="Text 19"/>
          <p:cNvSpPr txBox="1"/>
          <p:nvPr/>
        </p:nvSpPr>
        <p:spPr>
          <a:xfrm>
            <a:off x="822960" y="411480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mbria" pitchFamily="34" charset="0"/>
                <a:ea typeface="Cambria" pitchFamily="34" charset="-122"/>
                <a:cs typeface="Cambria" pitchFamily="34" charset="-120"/>
              </a:rPr>
              <a:t>4</a:t>
            </a:r>
            <a:endParaRPr lang="en-US" sz="1800" dirty="0"/>
          </a:p>
        </p:txBody>
      </p:sp>
      <p:sp>
        <p:nvSpPr>
          <p:cNvPr id="23" name="Text 20"/>
          <p:cNvSpPr txBox="1"/>
          <p:nvPr/>
        </p:nvSpPr>
        <p:spPr>
          <a:xfrm>
            <a:off x="1554480" y="4114800"/>
            <a:ext cx="2377440" cy="566928"/>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Test</a:t>
            </a:r>
            <a:endParaRPr lang="en-US" sz="2000" dirty="0"/>
          </a:p>
        </p:txBody>
      </p:sp>
      <p:sp>
        <p:nvSpPr>
          <p:cNvPr id="24" name="Text 21"/>
          <p:cNvSpPr txBox="1"/>
          <p:nvPr/>
        </p:nvSpPr>
        <p:spPr>
          <a:xfrm>
            <a:off x="822960" y="4846320"/>
            <a:ext cx="3017520" cy="731520"/>
          </a:xfrm>
          <a:prstGeom prst="rect">
            <a:avLst/>
          </a:prstGeom>
          <a:noFill/>
          <a:ln/>
        </p:spPr>
        <p:txBody>
          <a:bodyPr wrap="square" lIns="0" tIns="0" rIns="0" bIns="0" rtlCol="0" anchor="t"/>
          <a:lstStyle/>
          <a:p>
            <a:pPr indent="0" marL="0">
              <a:buNone/>
            </a:pPr>
            <a:r>
              <a:rPr lang="en-US" sz="1500" dirty="0">
                <a:solidFill>
                  <a:srgbClr val="1E2A3A"/>
                </a:solidFill>
                <a:latin typeface="Calibri" pitchFamily="34" charset="0"/>
                <a:ea typeface="Calibri" pitchFamily="34" charset="-122"/>
                <a:cs typeface="Calibri" pitchFamily="34" charset="-120"/>
              </a:rPr>
              <a:t>Whether rainfall differs by region and between two periods</a:t>
            </a:r>
            <a:endParaRPr lang="en-US" sz="1500" dirty="0"/>
          </a:p>
        </p:txBody>
      </p:sp>
      <p:sp>
        <p:nvSpPr>
          <p:cNvPr id="25" name="Shape 22"/>
          <p:cNvSpPr/>
          <p:nvPr/>
        </p:nvSpPr>
        <p:spPr>
          <a:xfrm>
            <a:off x="4297680" y="3840480"/>
            <a:ext cx="3520440" cy="1828800"/>
          </a:xfrm>
          <a:prstGeom prst="rect">
            <a:avLst/>
          </a:prstGeom>
          <a:solidFill>
            <a:srgbClr val="EEF3FA"/>
          </a:solidFill>
          <a:ln w="12700">
            <a:solidFill>
              <a:srgbClr val="FFFFFF">
                <a:alpha val="0"/>
              </a:srgbClr>
            </a:solidFill>
            <a:prstDash val="solid"/>
          </a:ln>
        </p:spPr>
      </p:sp>
      <p:sp>
        <p:nvSpPr>
          <p:cNvPr id="26" name="Shape 23"/>
          <p:cNvSpPr/>
          <p:nvPr/>
        </p:nvSpPr>
        <p:spPr>
          <a:xfrm>
            <a:off x="4572000" y="4114800"/>
            <a:ext cx="566928" cy="566928"/>
          </a:xfrm>
          <a:prstGeom prst="ellipse">
            <a:avLst/>
          </a:prstGeom>
          <a:solidFill>
            <a:srgbClr val="E0A526"/>
          </a:solidFill>
          <a:ln w="12700">
            <a:solidFill>
              <a:srgbClr val="FFFFFF">
                <a:alpha val="0"/>
              </a:srgbClr>
            </a:solidFill>
            <a:prstDash val="solid"/>
          </a:ln>
        </p:spPr>
      </p:sp>
      <p:sp>
        <p:nvSpPr>
          <p:cNvPr id="27" name="Text 24"/>
          <p:cNvSpPr txBox="1"/>
          <p:nvPr/>
        </p:nvSpPr>
        <p:spPr>
          <a:xfrm>
            <a:off x="4572000" y="411480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mbria" pitchFamily="34" charset="0"/>
                <a:ea typeface="Cambria" pitchFamily="34" charset="-122"/>
                <a:cs typeface="Cambria" pitchFamily="34" charset="-120"/>
              </a:rPr>
              <a:t>5</a:t>
            </a:r>
            <a:endParaRPr lang="en-US" sz="1800" dirty="0"/>
          </a:p>
        </p:txBody>
      </p:sp>
      <p:sp>
        <p:nvSpPr>
          <p:cNvPr id="28" name="Text 25"/>
          <p:cNvSpPr txBox="1"/>
          <p:nvPr/>
        </p:nvSpPr>
        <p:spPr>
          <a:xfrm>
            <a:off x="5303520" y="4114800"/>
            <a:ext cx="2377440" cy="566928"/>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Trend</a:t>
            </a:r>
            <a:endParaRPr lang="en-US" sz="2000" dirty="0"/>
          </a:p>
        </p:txBody>
      </p:sp>
      <p:sp>
        <p:nvSpPr>
          <p:cNvPr id="29" name="Text 26"/>
          <p:cNvSpPr txBox="1"/>
          <p:nvPr/>
        </p:nvSpPr>
        <p:spPr>
          <a:xfrm>
            <a:off x="4572000" y="4846320"/>
            <a:ext cx="3017520" cy="731520"/>
          </a:xfrm>
          <a:prstGeom prst="rect">
            <a:avLst/>
          </a:prstGeom>
          <a:noFill/>
          <a:ln/>
        </p:spPr>
        <p:txBody>
          <a:bodyPr wrap="square" lIns="0" tIns="0" rIns="0" bIns="0" rtlCol="0" anchor="t"/>
          <a:lstStyle/>
          <a:p>
            <a:pPr indent="0" marL="0">
              <a:buNone/>
            </a:pPr>
            <a:r>
              <a:rPr lang="en-US" sz="1500" dirty="0">
                <a:solidFill>
                  <a:srgbClr val="1E2A3A"/>
                </a:solidFill>
                <a:latin typeface="Calibri" pitchFamily="34" charset="0"/>
                <a:ea typeface="Calibri" pitchFamily="34" charset="-122"/>
                <a:cs typeface="Calibri" pitchFamily="34" charset="-120"/>
              </a:rPr>
              <a:t>Long-term trends, with correction for multiple testing</a:t>
            </a:r>
            <a:endParaRPr lang="en-US" sz="1500" dirty="0"/>
          </a:p>
        </p:txBody>
      </p:sp>
      <p:sp>
        <p:nvSpPr>
          <p:cNvPr id="30" name="Shape 27"/>
          <p:cNvSpPr/>
          <p:nvPr/>
        </p:nvSpPr>
        <p:spPr>
          <a:xfrm>
            <a:off x="8046720" y="3840480"/>
            <a:ext cx="3520440" cy="1828800"/>
          </a:xfrm>
          <a:prstGeom prst="rect">
            <a:avLst/>
          </a:prstGeom>
          <a:solidFill>
            <a:srgbClr val="EEF3FA"/>
          </a:solidFill>
          <a:ln w="12700">
            <a:solidFill>
              <a:srgbClr val="FFFFFF">
                <a:alpha val="0"/>
              </a:srgbClr>
            </a:solidFill>
            <a:prstDash val="solid"/>
          </a:ln>
        </p:spPr>
      </p:sp>
      <p:sp>
        <p:nvSpPr>
          <p:cNvPr id="31" name="Shape 28"/>
          <p:cNvSpPr/>
          <p:nvPr/>
        </p:nvSpPr>
        <p:spPr>
          <a:xfrm>
            <a:off x="8321040" y="4114800"/>
            <a:ext cx="566928" cy="566928"/>
          </a:xfrm>
          <a:prstGeom prst="ellipse">
            <a:avLst/>
          </a:prstGeom>
          <a:solidFill>
            <a:srgbClr val="2A9D8F"/>
          </a:solidFill>
          <a:ln w="12700">
            <a:solidFill>
              <a:srgbClr val="FFFFFF">
                <a:alpha val="0"/>
              </a:srgbClr>
            </a:solidFill>
            <a:prstDash val="solid"/>
          </a:ln>
        </p:spPr>
      </p:sp>
      <p:sp>
        <p:nvSpPr>
          <p:cNvPr id="32" name="Text 29"/>
          <p:cNvSpPr txBox="1"/>
          <p:nvPr/>
        </p:nvSpPr>
        <p:spPr>
          <a:xfrm>
            <a:off x="8321040" y="411480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mbria" pitchFamily="34" charset="0"/>
                <a:ea typeface="Cambria" pitchFamily="34" charset="-122"/>
                <a:cs typeface="Cambria" pitchFamily="34" charset="-120"/>
              </a:rPr>
              <a:t>6</a:t>
            </a:r>
            <a:endParaRPr lang="en-US" sz="1800" dirty="0"/>
          </a:p>
        </p:txBody>
      </p:sp>
      <p:sp>
        <p:nvSpPr>
          <p:cNvPr id="33" name="Text 30"/>
          <p:cNvSpPr txBox="1"/>
          <p:nvPr/>
        </p:nvSpPr>
        <p:spPr>
          <a:xfrm>
            <a:off x="9052560" y="4114800"/>
            <a:ext cx="2377440" cy="566928"/>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Communicate</a:t>
            </a:r>
            <a:endParaRPr lang="en-US" sz="2000" dirty="0"/>
          </a:p>
        </p:txBody>
      </p:sp>
      <p:sp>
        <p:nvSpPr>
          <p:cNvPr id="34" name="Text 31"/>
          <p:cNvSpPr txBox="1"/>
          <p:nvPr/>
        </p:nvSpPr>
        <p:spPr>
          <a:xfrm>
            <a:off x="8321040" y="4846320"/>
            <a:ext cx="3017520" cy="731520"/>
          </a:xfrm>
          <a:prstGeom prst="rect">
            <a:avLst/>
          </a:prstGeom>
          <a:noFill/>
          <a:ln/>
        </p:spPr>
        <p:txBody>
          <a:bodyPr wrap="square" lIns="0" tIns="0" rIns="0" bIns="0" rtlCol="0" anchor="t"/>
          <a:lstStyle/>
          <a:p>
            <a:pPr indent="0" marL="0">
              <a:buNone/>
            </a:pPr>
            <a:r>
              <a:rPr lang="en-US" sz="1500" dirty="0">
                <a:solidFill>
                  <a:srgbClr val="1E2A3A"/>
                </a:solidFill>
                <a:latin typeface="Calibri" pitchFamily="34" charset="0"/>
                <a:ea typeface="Calibri" pitchFamily="34" charset="-122"/>
                <a:cs typeface="Calibri" pitchFamily="34" charset="-120"/>
              </a:rPr>
              <a:t>Clear plots, tables, and a dashboard prototype if time allows</a:t>
            </a:r>
            <a:endParaRPr lang="en-US" sz="1500" dirty="0"/>
          </a:p>
        </p:txBody>
      </p:sp>
      <p:sp>
        <p:nvSpPr>
          <p:cNvPr id="35" name="Text 3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36" name="Text 33"/>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03  ·  DATA</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Dataset and data quality</a:t>
            </a:r>
            <a:endParaRPr lang="en-US" sz="3200" dirty="0"/>
          </a:p>
        </p:txBody>
      </p:sp>
      <p:sp>
        <p:nvSpPr>
          <p:cNvPr id="5" name="Shape 2"/>
          <p:cNvSpPr/>
          <p:nvPr/>
        </p:nvSpPr>
        <p:spPr>
          <a:xfrm>
            <a:off x="548640" y="1737360"/>
            <a:ext cx="3383280" cy="1554480"/>
          </a:xfrm>
          <a:prstGeom prst="rect">
            <a:avLst/>
          </a:prstGeom>
          <a:solidFill>
            <a:srgbClr val="EEF3FA"/>
          </a:solidFill>
          <a:ln w="12700">
            <a:solidFill>
              <a:srgbClr val="FFFFFF">
                <a:alpha val="0"/>
              </a:srgbClr>
            </a:solidFill>
            <a:prstDash val="solid"/>
          </a:ln>
        </p:spPr>
      </p:sp>
      <p:sp>
        <p:nvSpPr>
          <p:cNvPr id="6" name="Text 3"/>
          <p:cNvSpPr txBox="1"/>
          <p:nvPr/>
        </p:nvSpPr>
        <p:spPr>
          <a:xfrm>
            <a:off x="822960" y="1874520"/>
            <a:ext cx="2834640" cy="777240"/>
          </a:xfrm>
          <a:prstGeom prst="rect">
            <a:avLst/>
          </a:prstGeom>
          <a:noFill/>
          <a:ln/>
        </p:spPr>
        <p:txBody>
          <a:bodyPr wrap="square" lIns="0" tIns="0" rIns="0" bIns="0" rtlCol="0" anchor="b"/>
          <a:lstStyle/>
          <a:p>
            <a:pPr indent="0" marL="0">
              <a:buNone/>
            </a:pPr>
            <a:r>
              <a:rPr lang="en-US" sz="3000" b="1" dirty="0">
                <a:solidFill>
                  <a:srgbClr val="0B1F3A"/>
                </a:solidFill>
                <a:latin typeface="Cambria" pitchFamily="34" charset="0"/>
                <a:ea typeface="Cambria" pitchFamily="34" charset="-122"/>
                <a:cs typeface="Cambria" pitchFamily="34" charset="-120"/>
              </a:rPr>
              <a:t>4,116 × 19</a:t>
            </a:r>
            <a:endParaRPr lang="en-US" sz="3000" dirty="0"/>
          </a:p>
        </p:txBody>
      </p:sp>
      <p:sp>
        <p:nvSpPr>
          <p:cNvPr id="7" name="Text 4"/>
          <p:cNvSpPr txBox="1"/>
          <p:nvPr/>
        </p:nvSpPr>
        <p:spPr>
          <a:xfrm>
            <a:off x="822960" y="2607869"/>
            <a:ext cx="2834640" cy="590702"/>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rows × columns, CSV (about 428 KB)</a:t>
            </a:r>
            <a:endParaRPr lang="en-US" sz="1400" dirty="0"/>
          </a:p>
        </p:txBody>
      </p:sp>
      <p:sp>
        <p:nvSpPr>
          <p:cNvPr id="8" name="Shape 5"/>
          <p:cNvSpPr/>
          <p:nvPr/>
        </p:nvSpPr>
        <p:spPr>
          <a:xfrm>
            <a:off x="548640" y="3520440"/>
            <a:ext cx="3383280" cy="1554480"/>
          </a:xfrm>
          <a:prstGeom prst="rect">
            <a:avLst/>
          </a:prstGeom>
          <a:solidFill>
            <a:srgbClr val="EEF3FA"/>
          </a:solidFill>
          <a:ln w="12700">
            <a:solidFill>
              <a:srgbClr val="FFFFFF">
                <a:alpha val="0"/>
              </a:srgbClr>
            </a:solidFill>
            <a:prstDash val="solid"/>
          </a:ln>
        </p:spPr>
      </p:sp>
      <p:sp>
        <p:nvSpPr>
          <p:cNvPr id="9" name="Text 6"/>
          <p:cNvSpPr txBox="1"/>
          <p:nvPr/>
        </p:nvSpPr>
        <p:spPr>
          <a:xfrm>
            <a:off x="822960" y="3657600"/>
            <a:ext cx="2834640" cy="777240"/>
          </a:xfrm>
          <a:prstGeom prst="rect">
            <a:avLst/>
          </a:prstGeom>
          <a:noFill/>
          <a:ln/>
        </p:spPr>
        <p:txBody>
          <a:bodyPr wrap="square" lIns="0" tIns="0" rIns="0" bIns="0" rtlCol="0" anchor="b"/>
          <a:lstStyle/>
          <a:p>
            <a:pPr indent="0" marL="0">
              <a:buNone/>
            </a:pPr>
            <a:r>
              <a:rPr lang="en-US" sz="3000" b="1" dirty="0">
                <a:solidFill>
                  <a:srgbClr val="0B1F3A"/>
                </a:solidFill>
                <a:latin typeface="Cambria" pitchFamily="34" charset="0"/>
                <a:ea typeface="Cambria" pitchFamily="34" charset="-122"/>
                <a:cs typeface="Cambria" pitchFamily="34" charset="-120"/>
              </a:rPr>
              <a:t>36 × 115</a:t>
            </a:r>
            <a:endParaRPr lang="en-US" sz="3000" dirty="0"/>
          </a:p>
        </p:txBody>
      </p:sp>
      <p:sp>
        <p:nvSpPr>
          <p:cNvPr id="10" name="Text 7"/>
          <p:cNvSpPr txBox="1"/>
          <p:nvPr/>
        </p:nvSpPr>
        <p:spPr>
          <a:xfrm>
            <a:off x="822960" y="4390949"/>
            <a:ext cx="2834640" cy="590702"/>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subdivisions × years, monthly / seasonal / annual</a:t>
            </a:r>
            <a:endParaRPr lang="en-US" sz="1400" dirty="0"/>
          </a:p>
        </p:txBody>
      </p:sp>
      <p:sp>
        <p:nvSpPr>
          <p:cNvPr id="11" name="Text 8"/>
          <p:cNvSpPr txBox="1"/>
          <p:nvPr/>
        </p:nvSpPr>
        <p:spPr>
          <a:xfrm>
            <a:off x="4480560" y="1737360"/>
            <a:ext cx="7132320" cy="365760"/>
          </a:xfrm>
          <a:prstGeom prst="rect">
            <a:avLst/>
          </a:prstGeom>
          <a:noFill/>
          <a:ln/>
        </p:spPr>
        <p:txBody>
          <a:bodyPr wrap="square" lIns="0" tIns="0" rIns="0" bIns="0" rtlCol="0" anchor="t"/>
          <a:lstStyle/>
          <a:p>
            <a:pPr indent="0" marL="0">
              <a:buNone/>
            </a:pPr>
            <a:r>
              <a:rPr lang="en-US" sz="2000" b="1" dirty="0">
                <a:solidFill>
                  <a:srgbClr val="0B1F3A"/>
                </a:solidFill>
                <a:latin typeface="Cambria" pitchFamily="34" charset="0"/>
                <a:ea typeface="Cambria" pitchFamily="34" charset="-122"/>
                <a:cs typeface="Cambria" pitchFamily="34" charset="-120"/>
              </a:rPr>
              <a:t>Coverage and quality</a:t>
            </a:r>
            <a:endParaRPr lang="en-US" sz="2000" dirty="0"/>
          </a:p>
        </p:txBody>
      </p:sp>
      <p:sp>
        <p:nvSpPr>
          <p:cNvPr id="12" name="Text 9"/>
          <p:cNvSpPr txBox="1"/>
          <p:nvPr/>
        </p:nvSpPr>
        <p:spPr>
          <a:xfrm>
            <a:off x="4480560" y="2240280"/>
            <a:ext cx="713232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Source: India Meteorological Department (IMD) rainfall, published through India’s Open Government Data platform</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26 rows lack annual totals; some monthly columns have gaps</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Coverage is uneven: Arunachal Pradesh starts in 1916; some island series are shorter</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Aggregated data: daily extremes cannot be analysed</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Each row is one subdivision-year, with 12 monthly, 4 seasonal and 1 annual column</a:t>
            </a:r>
            <a:endParaRPr lang="en-US" sz="1600" dirty="0"/>
          </a:p>
        </p:txBody>
      </p:sp>
      <p:sp>
        <p:nvSpPr>
          <p:cNvPr id="13" name="Text 10"/>
          <p:cNvSpPr txBox="1"/>
          <p:nvPr/>
        </p:nvSpPr>
        <p:spPr>
          <a:xfrm>
            <a:off x="4480560" y="5303520"/>
            <a:ext cx="7132320" cy="73152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Analysed copy: a verified mirror of the OGD file (Kaggle, CC BY-SA 4.0). Official page: data.gov.in, “Area-weighted monthly, seasonal and annual rainfall, 36 subdivisions, 1901–2015”.</a:t>
            </a:r>
            <a:endParaRPr lang="en-US" sz="1200" dirty="0"/>
          </a:p>
        </p:txBody>
      </p:sp>
      <p:sp>
        <p:nvSpPr>
          <p:cNvPr id="14" name="Text 11"/>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15" name="Text 12"/>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04  ·  METHOD</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Each test is chosen for its question and assumptions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743200"/>
                <a:gridCol w="5120640"/>
                <a:gridCol w="3227832"/>
              </a:tblGrid>
              <a:tr h="43891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Research task</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Statistical method</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1F3A"/>
                    </a:solidFill>
                  </a:tcPr>
                </a:tc>
              </a:tr>
              <a:tr h="438912">
                <a:tc>
                  <a:txBody>
                    <a:bodyPr/>
                    <a:lstStyle/>
                    <a:p>
                      <a:pPr indent="0" marL="0">
                        <a:buNone/>
                      </a:pPr>
                      <a:r>
                        <a:rPr lang="en-US" sz="1400" b="1" dirty="0">
                          <a:solidFill>
                            <a:srgbClr val="1E2A3A"/>
                          </a:solidFill>
                          <a:latin typeface="Calibri" pitchFamily="34" charset="0"/>
                          <a:ea typeface="Calibri" pitchFamily="34" charset="-122"/>
                          <a:cs typeface="Calibri" pitchFamily="34" charset="-120"/>
                        </a:rPr>
                        <a:t>Describe patterns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Mean, median, SD, coefficient of variation</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Level and relative variability</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E2A3A"/>
                          </a:solidFill>
                          <a:latin typeface="Calibri" pitchFamily="34" charset="0"/>
                          <a:ea typeface="Calibri" pitchFamily="34" charset="-122"/>
                          <a:cs typeface="Calibri" pitchFamily="34" charset="-120"/>
                        </a:rPr>
                        <a:t>Examine seasonality</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Monthly summaries; one-way ANOVA with checks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Compare months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r>
              <a:tr h="438912">
                <a:tc>
                  <a:txBody>
                    <a:bodyPr/>
                    <a:lstStyle/>
                    <a:p>
                      <a:pPr indent="0" marL="0">
                        <a:buNone/>
                      </a:pPr>
                      <a:r>
                        <a:rPr lang="en-US" sz="1400" b="1" dirty="0">
                          <a:solidFill>
                            <a:srgbClr val="1E2A3A"/>
                          </a:solidFill>
                          <a:latin typeface="Calibri" pitchFamily="34" charset="0"/>
                          <a:ea typeface="Calibri" pitchFamily="34" charset="-122"/>
                          <a:cs typeface="Calibri" pitchFamily="34" charset="-120"/>
                        </a:rPr>
                        <a:t>Compare subdivisions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Welch ANOVA and Games–Howell post-hoc</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Groups with unequal variances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E2A3A"/>
                          </a:solidFill>
                          <a:latin typeface="Calibri" pitchFamily="34" charset="0"/>
                          <a:ea typeface="Calibri" pitchFamily="34" charset="-122"/>
                          <a:cs typeface="Calibri" pitchFamily="34" charset="-120"/>
                        </a:rPr>
                        <a:t>Model totals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Normal, Gamma, Weibull, Lognormal fits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Distributional fit</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r>
              <a:tr h="438912">
                <a:tc>
                  <a:txBody>
                    <a:bodyPr/>
                    <a:lstStyle/>
                    <a:p>
                      <a:pPr indent="0" marL="0">
                        <a:buNone/>
                      </a:pPr>
                      <a:r>
                        <a:rPr lang="en-US" sz="1400" b="1" dirty="0">
                          <a:solidFill>
                            <a:srgbClr val="1E2A3A"/>
                          </a:solidFill>
                          <a:latin typeface="Calibri" pitchFamily="34" charset="0"/>
                          <a:ea typeface="Calibri" pitchFamily="34" charset="-122"/>
                          <a:cs typeface="Calibri" pitchFamily="34" charset="-120"/>
                        </a:rPr>
                        <a:t>Compare periods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Confidence intervals and two-sample test</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Period differences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E2A3A"/>
                          </a:solidFill>
                          <a:latin typeface="Calibri" pitchFamily="34" charset="0"/>
                          <a:ea typeface="Calibri" pitchFamily="34" charset="-122"/>
                          <a:cs typeface="Calibri" pitchFamily="34" charset="-120"/>
                        </a:rPr>
                        <a:t>Examine trends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Linear regression; Mann–Kendall and Sen slope</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Direction and size of trend</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r>
              <a:tr h="438912">
                <a:tc>
                  <a:txBody>
                    <a:bodyPr/>
                    <a:lstStyle/>
                    <a:p>
                      <a:pPr indent="0" marL="0">
                        <a:buNone/>
                      </a:pPr>
                      <a:r>
                        <a:rPr lang="en-US" sz="1400" b="1" dirty="0">
                          <a:solidFill>
                            <a:srgbClr val="1E2A3A"/>
                          </a:solidFill>
                          <a:latin typeface="Calibri" pitchFamily="34" charset="0"/>
                          <a:ea typeface="Calibri" pitchFamily="34" charset="-122"/>
                          <a:cs typeface="Calibri" pitchFamily="34" charset="-120"/>
                        </a:rPr>
                        <a:t>Many tests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Benjamini–Hochberg false-discovery-rate control</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Fewer false positives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E2A3A"/>
                          </a:solidFill>
                          <a:latin typeface="Calibri" pitchFamily="34" charset="0"/>
                          <a:ea typeface="Calibri" pitchFamily="34" charset="-122"/>
                          <a:cs typeface="Calibri" pitchFamily="34" charset="-120"/>
                        </a:rPr>
                        <a:t>Validate</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Residual diagnostics, sensitivity checks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c>
                  <a:txBody>
                    <a:bodyPr/>
                    <a:lstStyle/>
                    <a:p>
                      <a:pPr indent="0" marL="0">
                        <a:buNone/>
                      </a:pPr>
                      <a:r>
                        <a:rPr lang="en-US" sz="1400" dirty="0">
                          <a:solidFill>
                            <a:srgbClr val="1E2A3A"/>
                          </a:solidFill>
                          <a:latin typeface="Calibri" pitchFamily="34" charset="0"/>
                          <a:ea typeface="Calibri" pitchFamily="34" charset="-122"/>
                          <a:cs typeface="Calibri" pitchFamily="34" charset="-120"/>
                        </a:rPr>
                        <a:t>Trustworthy conclusions</a:t>
                      </a:r>
                      <a:endParaRPr lang="en-US" sz="1400" dirty="0">
                        <a:latin typeface="Calibri" charset="0"/>
                        <a:ea typeface="Calibri" charset="0"/>
                        <a:cs typeface="Calibri" charset="0"/>
                      </a:endParaRPr>
                    </a:p>
                  </a:txBody>
                  <a:tcPr marL="101600" marR="101600" marT="50800" marB="5080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A"/>
                    </a:solidFill>
                  </a:tcPr>
                </a:tc>
              </a:tr>
            </a:tbl>
          </a:graphicData>
        </a:graphic>
      </p:graphicFrame>
      <p:sp>
        <p:nvSpPr>
          <p:cNvPr id="6" name="Text 2"/>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i="1" dirty="0">
                <a:solidFill>
                  <a:srgbClr val="5B6B82"/>
                </a:solidFill>
                <a:latin typeface="Calibri" pitchFamily="34" charset="0"/>
                <a:ea typeface="Calibri" pitchFamily="34" charset="-122"/>
                <a:cs typeface="Calibri" pitchFamily="34" charset="-120"/>
              </a:rPr>
              <a:t>Association is not causation: these methods describe patterns, not drivers.</a:t>
            </a:r>
            <a:endParaRPr lang="en-US" sz="1400" dirty="0"/>
          </a:p>
        </p:txBody>
      </p:sp>
      <p:sp>
        <p:nvSpPr>
          <p:cNvPr id="7" name="Text 3"/>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8" name="Text 4"/>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05  ·  PRELIMINARY RESULTS</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monsoon dominates the rainfall year</a:t>
            </a:r>
            <a:endParaRPr lang="en-US" sz="3200" dirty="0"/>
          </a:p>
        </p:txBody>
      </p:sp>
      <p:pic>
        <p:nvPicPr>
          <p:cNvPr id="5" name="Image 1" descr="/home/claude/amorfati3735/stats-project-research/research/figures/01_seasonality.png">    </p:cNvPr>
          <p:cNvPicPr>
            <a:picLocks noChangeAspect="1"/>
          </p:cNvPicPr>
          <p:nvPr/>
        </p:nvPicPr>
        <p:blipFill>
          <a:blip r:embed="rId2"/>
          <a:stretch>
            <a:fillRect/>
          </a:stretch>
        </p:blipFill>
        <p:spPr>
          <a:xfrm>
            <a:off x="548640" y="1600200"/>
            <a:ext cx="11091672" cy="4033335"/>
          </a:xfrm>
          <a:prstGeom prst="rect">
            <a:avLst/>
          </a:prstGeom>
        </p:spPr>
      </p:pic>
      <p:sp>
        <p:nvSpPr>
          <p:cNvPr id="6" name="Shape 2"/>
          <p:cNvSpPr/>
          <p:nvPr/>
        </p:nvSpPr>
        <p:spPr>
          <a:xfrm>
            <a:off x="548640" y="5669280"/>
            <a:ext cx="3593592" cy="621792"/>
          </a:xfrm>
          <a:prstGeom prst="rect">
            <a:avLst/>
          </a:prstGeom>
          <a:solidFill>
            <a:srgbClr val="EEF3FA"/>
          </a:solidFill>
          <a:ln w="12700">
            <a:solidFill>
              <a:srgbClr val="FFFFFF">
                <a:alpha val="0"/>
              </a:srgbClr>
            </a:solidFill>
            <a:prstDash val="solid"/>
          </a:ln>
        </p:spPr>
      </p:sp>
      <p:sp>
        <p:nvSpPr>
          <p:cNvPr id="7" name="Text 3"/>
          <p:cNvSpPr txBox="1"/>
          <p:nvPr/>
        </p:nvSpPr>
        <p:spPr>
          <a:xfrm>
            <a:off x="777240" y="5669280"/>
            <a:ext cx="1737360" cy="621792"/>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75.2%</a:t>
            </a:r>
            <a:endParaRPr lang="en-US" sz="1800" dirty="0"/>
          </a:p>
        </p:txBody>
      </p:sp>
      <p:sp>
        <p:nvSpPr>
          <p:cNvPr id="8" name="Text 4"/>
          <p:cNvSpPr txBox="1"/>
          <p:nvPr/>
        </p:nvSpPr>
        <p:spPr>
          <a:xfrm>
            <a:off x="2468880" y="5669280"/>
            <a:ext cx="1554480" cy="621792"/>
          </a:xfrm>
          <a:prstGeom prst="rect">
            <a:avLst/>
          </a:prstGeom>
          <a:noFill/>
          <a:ln/>
        </p:spPr>
        <p:txBody>
          <a:bodyPr wrap="square" lIns="0" tIns="0" rIns="0" bIns="0" rtlCol="0" anchor="ctr"/>
          <a:lstStyle/>
          <a:p>
            <a:pPr indent="0" marL="0">
              <a:buNone/>
            </a:pPr>
            <a:r>
              <a:rPr lang="en-US" sz="1200" dirty="0">
                <a:solidFill>
                  <a:srgbClr val="1E2A3A"/>
                </a:solidFill>
                <a:latin typeface="Calibri" pitchFamily="34" charset="0"/>
                <a:ea typeface="Calibri" pitchFamily="34" charset="-122"/>
                <a:cs typeface="Calibri" pitchFamily="34" charset="-120"/>
              </a:rPr>
              <a:t>of annual rain falls June–September</a:t>
            </a:r>
            <a:endParaRPr lang="en-US" sz="1200" dirty="0"/>
          </a:p>
        </p:txBody>
      </p:sp>
      <p:sp>
        <p:nvSpPr>
          <p:cNvPr id="9" name="Shape 5"/>
          <p:cNvSpPr/>
          <p:nvPr/>
        </p:nvSpPr>
        <p:spPr>
          <a:xfrm>
            <a:off x="4288536" y="5669280"/>
            <a:ext cx="3593592" cy="621792"/>
          </a:xfrm>
          <a:prstGeom prst="rect">
            <a:avLst/>
          </a:prstGeom>
          <a:solidFill>
            <a:srgbClr val="EEF3FA"/>
          </a:solidFill>
          <a:ln w="12700">
            <a:solidFill>
              <a:srgbClr val="FFFFFF">
                <a:alpha val="0"/>
              </a:srgbClr>
            </a:solidFill>
            <a:prstDash val="solid"/>
          </a:ln>
        </p:spPr>
      </p:sp>
      <p:sp>
        <p:nvSpPr>
          <p:cNvPr id="10" name="Text 6"/>
          <p:cNvSpPr txBox="1"/>
          <p:nvPr/>
        </p:nvSpPr>
        <p:spPr>
          <a:xfrm>
            <a:off x="4517136" y="5669280"/>
            <a:ext cx="1737360" cy="621792"/>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19 → 347 mm</a:t>
            </a:r>
            <a:endParaRPr lang="en-US" sz="1800" dirty="0"/>
          </a:p>
        </p:txBody>
      </p:sp>
      <p:sp>
        <p:nvSpPr>
          <p:cNvPr id="11" name="Text 7"/>
          <p:cNvSpPr txBox="1"/>
          <p:nvPr/>
        </p:nvSpPr>
        <p:spPr>
          <a:xfrm>
            <a:off x="6208776" y="5669280"/>
            <a:ext cx="1554480" cy="621792"/>
          </a:xfrm>
          <a:prstGeom prst="rect">
            <a:avLst/>
          </a:prstGeom>
          <a:noFill/>
          <a:ln/>
        </p:spPr>
        <p:txBody>
          <a:bodyPr wrap="square" lIns="0" tIns="0" rIns="0" bIns="0" rtlCol="0" anchor="ctr"/>
          <a:lstStyle/>
          <a:p>
            <a:pPr indent="0" marL="0">
              <a:buNone/>
            </a:pPr>
            <a:r>
              <a:rPr lang="en-US" sz="1200" dirty="0">
                <a:solidFill>
                  <a:srgbClr val="1E2A3A"/>
                </a:solidFill>
                <a:latin typeface="Calibri" pitchFamily="34" charset="0"/>
                <a:ea typeface="Calibri" pitchFamily="34" charset="-122"/>
                <a:cs typeface="Calibri" pitchFamily="34" charset="-120"/>
              </a:rPr>
              <a:t>average monthly rain, January to July</a:t>
            </a:r>
            <a:endParaRPr lang="en-US" sz="1200" dirty="0"/>
          </a:p>
        </p:txBody>
      </p:sp>
      <p:sp>
        <p:nvSpPr>
          <p:cNvPr id="12" name="Shape 8"/>
          <p:cNvSpPr/>
          <p:nvPr/>
        </p:nvSpPr>
        <p:spPr>
          <a:xfrm>
            <a:off x="8028432" y="5669280"/>
            <a:ext cx="3593592" cy="621792"/>
          </a:xfrm>
          <a:prstGeom prst="rect">
            <a:avLst/>
          </a:prstGeom>
          <a:solidFill>
            <a:srgbClr val="EEF3FA"/>
          </a:solidFill>
          <a:ln w="12700">
            <a:solidFill>
              <a:srgbClr val="FFFFFF">
                <a:alpha val="0"/>
              </a:srgbClr>
            </a:solidFill>
            <a:prstDash val="solid"/>
          </a:ln>
        </p:spPr>
      </p:sp>
      <p:sp>
        <p:nvSpPr>
          <p:cNvPr id="13" name="Text 9"/>
          <p:cNvSpPr txBox="1"/>
          <p:nvPr/>
        </p:nvSpPr>
        <p:spPr>
          <a:xfrm>
            <a:off x="8257032" y="5669280"/>
            <a:ext cx="1737360" cy="621792"/>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η² = 0.41</a:t>
            </a:r>
            <a:endParaRPr lang="en-US" sz="1800" dirty="0"/>
          </a:p>
        </p:txBody>
      </p:sp>
      <p:sp>
        <p:nvSpPr>
          <p:cNvPr id="14" name="Text 10"/>
          <p:cNvSpPr txBox="1"/>
          <p:nvPr/>
        </p:nvSpPr>
        <p:spPr>
          <a:xfrm>
            <a:off x="9948672" y="5669280"/>
            <a:ext cx="1554480" cy="621792"/>
          </a:xfrm>
          <a:prstGeom prst="rect">
            <a:avLst/>
          </a:prstGeom>
          <a:noFill/>
          <a:ln/>
        </p:spPr>
        <p:txBody>
          <a:bodyPr wrap="square" lIns="0" tIns="0" rIns="0" bIns="0" rtlCol="0" anchor="ctr"/>
          <a:lstStyle/>
          <a:p>
            <a:pPr indent="0" marL="0">
              <a:buNone/>
            </a:pPr>
            <a:r>
              <a:rPr lang="en-US" sz="1200" dirty="0">
                <a:solidFill>
                  <a:srgbClr val="1E2A3A"/>
                </a:solidFill>
                <a:latin typeface="Calibri" pitchFamily="34" charset="0"/>
                <a:ea typeface="Calibri" pitchFamily="34" charset="-122"/>
                <a:cs typeface="Calibri" pitchFamily="34" charset="-120"/>
              </a:rPr>
              <a:t>variance in rainfall explained by month</a:t>
            </a:r>
            <a:endParaRPr lang="en-US" sz="1200" dirty="0"/>
          </a:p>
        </p:txBody>
      </p:sp>
      <p:sp>
        <p:nvSpPr>
          <p:cNvPr id="15" name="Text 11"/>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16" name="Text 12"/>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05  ·  PRELIMINARY RESULTS</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Regions differ strongly, in size and in reliability</a:t>
            </a:r>
            <a:endParaRPr lang="en-US" sz="3200" dirty="0"/>
          </a:p>
        </p:txBody>
      </p:sp>
      <p:pic>
        <p:nvPicPr>
          <p:cNvPr id="5" name="Image 1" descr="/home/claude/amorfati3735/stats-project-research/research/figures/04_variability_cv.png">    </p:cNvPr>
          <p:cNvPicPr>
            <a:picLocks noChangeAspect="1"/>
          </p:cNvPicPr>
          <p:nvPr/>
        </p:nvPicPr>
        <p:blipFill>
          <a:blip r:embed="rId2"/>
          <a:stretch>
            <a:fillRect/>
          </a:stretch>
        </p:blipFill>
        <p:spPr>
          <a:xfrm>
            <a:off x="548640" y="1737360"/>
            <a:ext cx="6309360" cy="4206240"/>
          </a:xfrm>
          <a:prstGeom prst="rect">
            <a:avLst/>
          </a:prstGeom>
        </p:spPr>
      </p:pic>
      <p:sp>
        <p:nvSpPr>
          <p:cNvPr id="6" name="Shape 2"/>
          <p:cNvSpPr/>
          <p:nvPr/>
        </p:nvSpPr>
        <p:spPr>
          <a:xfrm>
            <a:off x="7178040" y="1737360"/>
            <a:ext cx="2011680" cy="1325880"/>
          </a:xfrm>
          <a:prstGeom prst="rect">
            <a:avLst/>
          </a:prstGeom>
          <a:solidFill>
            <a:srgbClr val="EEF3FA"/>
          </a:solidFill>
          <a:ln w="12700">
            <a:solidFill>
              <a:srgbClr val="FFFFFF">
                <a:alpha val="0"/>
              </a:srgbClr>
            </a:solidFill>
            <a:prstDash val="solid"/>
          </a:ln>
        </p:spPr>
      </p:sp>
      <p:sp>
        <p:nvSpPr>
          <p:cNvPr id="7" name="Text 3"/>
          <p:cNvSpPr txBox="1"/>
          <p:nvPr/>
        </p:nvSpPr>
        <p:spPr>
          <a:xfrm>
            <a:off x="7452360" y="1874520"/>
            <a:ext cx="1463040" cy="662940"/>
          </a:xfrm>
          <a:prstGeom prst="rect">
            <a:avLst/>
          </a:prstGeom>
          <a:noFill/>
          <a:ln/>
        </p:spPr>
        <p:txBody>
          <a:bodyPr wrap="square" lIns="0" tIns="0" rIns="0" bIns="0" rtlCol="0" anchor="b"/>
          <a:lstStyle/>
          <a:p>
            <a:pPr indent="0" marL="0">
              <a:buNone/>
            </a:pPr>
            <a:r>
              <a:rPr lang="en-US" sz="2400" b="1" dirty="0">
                <a:solidFill>
                  <a:srgbClr val="0B1F3A"/>
                </a:solidFill>
                <a:latin typeface="Cambria" pitchFamily="34" charset="0"/>
                <a:ea typeface="Cambria" pitchFamily="34" charset="-122"/>
                <a:cs typeface="Cambria" pitchFamily="34" charset="-120"/>
              </a:rPr>
              <a:t>η² = 0.87</a:t>
            </a:r>
            <a:endParaRPr lang="en-US" sz="2400" dirty="0"/>
          </a:p>
        </p:txBody>
      </p:sp>
      <p:sp>
        <p:nvSpPr>
          <p:cNvPr id="8" name="Text 4"/>
          <p:cNvSpPr txBox="1"/>
          <p:nvPr/>
        </p:nvSpPr>
        <p:spPr>
          <a:xfrm>
            <a:off x="7452360" y="2479853"/>
            <a:ext cx="1463040" cy="503834"/>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variance explained by region</a:t>
            </a:r>
            <a:endParaRPr lang="en-US" sz="1400" dirty="0"/>
          </a:p>
        </p:txBody>
      </p:sp>
      <p:sp>
        <p:nvSpPr>
          <p:cNvPr id="9" name="Shape 5"/>
          <p:cNvSpPr/>
          <p:nvPr/>
        </p:nvSpPr>
        <p:spPr>
          <a:xfrm>
            <a:off x="9372600" y="1737360"/>
            <a:ext cx="2267712" cy="1325880"/>
          </a:xfrm>
          <a:prstGeom prst="rect">
            <a:avLst/>
          </a:prstGeom>
          <a:solidFill>
            <a:srgbClr val="EEF3FA"/>
          </a:solidFill>
          <a:ln w="12700">
            <a:solidFill>
              <a:srgbClr val="FFFFFF">
                <a:alpha val="0"/>
              </a:srgbClr>
            </a:solidFill>
            <a:prstDash val="solid"/>
          </a:ln>
        </p:spPr>
      </p:sp>
      <p:sp>
        <p:nvSpPr>
          <p:cNvPr id="10" name="Text 6"/>
          <p:cNvSpPr txBox="1"/>
          <p:nvPr/>
        </p:nvSpPr>
        <p:spPr>
          <a:xfrm>
            <a:off x="9646920" y="1874520"/>
            <a:ext cx="1719072" cy="662940"/>
          </a:xfrm>
          <a:prstGeom prst="rect">
            <a:avLst/>
          </a:prstGeom>
          <a:noFill/>
          <a:ln/>
        </p:spPr>
        <p:txBody>
          <a:bodyPr wrap="square" lIns="0" tIns="0" rIns="0" bIns="0" rtlCol="0" anchor="b"/>
          <a:lstStyle/>
          <a:p>
            <a:pPr indent="0" marL="0">
              <a:buNone/>
            </a:pPr>
            <a:r>
              <a:rPr lang="en-US" sz="2400" b="1" dirty="0">
                <a:solidFill>
                  <a:srgbClr val="0B1F3A"/>
                </a:solidFill>
                <a:latin typeface="Cambria" pitchFamily="34" charset="0"/>
                <a:ea typeface="Cambria" pitchFamily="34" charset="-122"/>
                <a:cs typeface="Cambria" pitchFamily="34" charset="-120"/>
              </a:rPr>
              <a:t>F = 811.5</a:t>
            </a:r>
            <a:endParaRPr lang="en-US" sz="2400" dirty="0"/>
          </a:p>
        </p:txBody>
      </p:sp>
      <p:sp>
        <p:nvSpPr>
          <p:cNvPr id="11" name="Text 7"/>
          <p:cNvSpPr txBox="1"/>
          <p:nvPr/>
        </p:nvSpPr>
        <p:spPr>
          <a:xfrm>
            <a:off x="9646920" y="2479853"/>
            <a:ext cx="1719072" cy="503834"/>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ANOVA, Jun–Sep by division</a:t>
            </a:r>
            <a:endParaRPr lang="en-US" sz="1400" dirty="0"/>
          </a:p>
        </p:txBody>
      </p:sp>
      <p:sp>
        <p:nvSpPr>
          <p:cNvPr id="12" name="Shape 8"/>
          <p:cNvSpPr/>
          <p:nvPr/>
        </p:nvSpPr>
        <p:spPr>
          <a:xfrm>
            <a:off x="7178040" y="3246120"/>
            <a:ext cx="4462272" cy="2697480"/>
          </a:xfrm>
          <a:prstGeom prst="rect">
            <a:avLst/>
          </a:prstGeom>
          <a:solidFill>
            <a:srgbClr val="EEF3FA"/>
          </a:solidFill>
          <a:ln w="12700">
            <a:solidFill>
              <a:srgbClr val="FFFFFF">
                <a:alpha val="0"/>
              </a:srgbClr>
            </a:solidFill>
            <a:prstDash val="solid"/>
          </a:ln>
        </p:spPr>
      </p:sp>
      <p:sp>
        <p:nvSpPr>
          <p:cNvPr id="13" name="Text 9"/>
          <p:cNvSpPr txBox="1"/>
          <p:nvPr/>
        </p:nvSpPr>
        <p:spPr>
          <a:xfrm>
            <a:off x="7452360" y="3383280"/>
            <a:ext cx="3931920" cy="365760"/>
          </a:xfrm>
          <a:prstGeom prst="rect">
            <a:avLst/>
          </a:prstGeom>
          <a:noFill/>
          <a:ln/>
        </p:spPr>
        <p:txBody>
          <a:bodyPr wrap="square" lIns="0" tIns="0" rIns="0" bIns="0" rtlCol="0" anchor="t"/>
          <a:lstStyle/>
          <a:p>
            <a:pPr indent="0" marL="0">
              <a:buNone/>
            </a:pPr>
            <a:r>
              <a:rPr lang="en-US" sz="1700" b="1" dirty="0">
                <a:solidFill>
                  <a:srgbClr val="0B1F3A"/>
                </a:solidFill>
                <a:latin typeface="Cambria" pitchFamily="34" charset="0"/>
                <a:ea typeface="Cambria" pitchFamily="34" charset="-122"/>
                <a:cs typeface="Cambria" pitchFamily="34" charset="-120"/>
              </a:rPr>
              <a:t>Why Welch, not ordinary, ANOVA</a:t>
            </a:r>
            <a:endParaRPr lang="en-US" sz="1700" dirty="0"/>
          </a:p>
        </p:txBody>
      </p:sp>
      <p:sp>
        <p:nvSpPr>
          <p:cNvPr id="14" name="Text 10"/>
          <p:cNvSpPr txBox="1"/>
          <p:nvPr/>
        </p:nvSpPr>
        <p:spPr>
          <a:xfrm>
            <a:off x="7452360" y="3840480"/>
            <a:ext cx="39319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A3A"/>
                </a:solidFill>
                <a:latin typeface="Calibri" pitchFamily="34" charset="0"/>
                <a:ea typeface="Calibri" pitchFamily="34" charset="-122"/>
                <a:cs typeface="Calibri" pitchFamily="34" charset="-120"/>
              </a:rPr>
              <a:t>Levene test: W = 53.4, p ≈ 0, so variances differ</a:t>
            </a:r>
            <a:endParaRPr lang="en-US" sz="1400" dirty="0"/>
          </a:p>
          <a:p>
            <a:pPr marL="342900" indent="-342900">
              <a:spcAft>
                <a:spcPts val="800"/>
              </a:spcAft>
              <a:buSzPct val="100000"/>
              <a:buChar char="•"/>
            </a:pPr>
            <a:r>
              <a:rPr lang="en-US" sz="1400" dirty="0">
                <a:solidFill>
                  <a:srgbClr val="1E2A3A"/>
                </a:solidFill>
                <a:latin typeface="Calibri" pitchFamily="34" charset="0"/>
                <a:ea typeface="Calibri" pitchFamily="34" charset="-122"/>
                <a:cs typeface="Calibri" pitchFamily="34" charset="-120"/>
              </a:rPr>
              <a:t>Welch ANOVA with Games–Howell post-hoc is the right test</a:t>
            </a:r>
            <a:endParaRPr lang="en-US" sz="1400" dirty="0"/>
          </a:p>
          <a:p>
            <a:pPr marL="342900" indent="-342900">
              <a:spcAft>
                <a:spcPts val="800"/>
              </a:spcAft>
              <a:buSzPct val="100000"/>
              <a:buChar char="•"/>
            </a:pPr>
            <a:r>
              <a:rPr lang="en-US" sz="1400" dirty="0">
                <a:solidFill>
                  <a:srgbClr val="1E2A3A"/>
                </a:solidFill>
                <a:latin typeface="Calibri" pitchFamily="34" charset="0"/>
                <a:ea typeface="Calibri" pitchFamily="34" charset="-122"/>
                <a:cs typeface="Calibri" pitchFamily="34" charset="-120"/>
              </a:rPr>
              <a:t>CV: Assam &amp; Meghalaya 12.0% (steadiest) to Saurashtra &amp; Kutch 40.8% (least reliable)</a:t>
            </a:r>
            <a:endParaRPr lang="en-US" sz="1400" dirty="0"/>
          </a:p>
          <a:p>
            <a:pPr marL="342900" indent="-342900">
              <a:spcAft>
                <a:spcPts val="800"/>
              </a:spcAft>
              <a:buSzPct val="100000"/>
              <a:buChar char="•"/>
            </a:pPr>
            <a:r>
              <a:rPr lang="en-US" sz="1400" dirty="0">
                <a:solidFill>
                  <a:srgbClr val="1E2A3A"/>
                </a:solidFill>
                <a:latin typeface="Calibri" pitchFamily="34" charset="0"/>
                <a:ea typeface="Calibri" pitchFamily="34" charset="-122"/>
                <a:cs typeface="Calibri" pitchFamily="34" charset="-120"/>
              </a:rPr>
              <a:t>Also high: West Rajasthan 37.2% and Arunachal Pradesh 31.6%</a:t>
            </a:r>
            <a:endParaRPr lang="en-US" sz="1400" dirty="0"/>
          </a:p>
        </p:txBody>
      </p:sp>
      <p:sp>
        <p:nvSpPr>
          <p:cNvPr id="15" name="Text 11"/>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16" name="Text 12"/>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05  ·  PRELIMINARY RESULTS</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Trend claims shrink after multiplicity correction</a:t>
            </a:r>
            <a:endParaRPr lang="en-US" sz="3200" dirty="0"/>
          </a:p>
        </p:txBody>
      </p:sp>
      <p:pic>
        <p:nvPicPr>
          <p:cNvPr id="5" name="Image 1" descr="/home/claude/amorfati3735/stats-project-research/research/figures/05_trends_multiple_testing.png">    </p:cNvPr>
          <p:cNvPicPr>
            <a:picLocks noChangeAspect="1"/>
          </p:cNvPicPr>
          <p:nvPr/>
        </p:nvPicPr>
        <p:blipFill>
          <a:blip r:embed="rId2"/>
          <a:stretch>
            <a:fillRect/>
          </a:stretch>
        </p:blipFill>
        <p:spPr>
          <a:xfrm>
            <a:off x="548640" y="1737360"/>
            <a:ext cx="7406640" cy="4114800"/>
          </a:xfrm>
          <a:prstGeom prst="rect">
            <a:avLst/>
          </a:prstGeom>
        </p:spPr>
      </p:pic>
      <p:sp>
        <p:nvSpPr>
          <p:cNvPr id="6" name="Shape 2"/>
          <p:cNvSpPr/>
          <p:nvPr/>
        </p:nvSpPr>
        <p:spPr>
          <a:xfrm>
            <a:off x="8321040" y="1737360"/>
            <a:ext cx="3319272" cy="1325880"/>
          </a:xfrm>
          <a:prstGeom prst="rect">
            <a:avLst/>
          </a:prstGeom>
          <a:solidFill>
            <a:srgbClr val="EEF3FA"/>
          </a:solidFill>
          <a:ln w="12700">
            <a:solidFill>
              <a:srgbClr val="FFFFFF">
                <a:alpha val="0"/>
              </a:srgbClr>
            </a:solidFill>
            <a:prstDash val="solid"/>
          </a:ln>
        </p:spPr>
      </p:sp>
      <p:sp>
        <p:nvSpPr>
          <p:cNvPr id="7" name="Text 3"/>
          <p:cNvSpPr txBox="1"/>
          <p:nvPr/>
        </p:nvSpPr>
        <p:spPr>
          <a:xfrm>
            <a:off x="8595360" y="1874520"/>
            <a:ext cx="2770632" cy="662940"/>
          </a:xfrm>
          <a:prstGeom prst="rect">
            <a:avLst/>
          </a:prstGeom>
          <a:noFill/>
          <a:ln/>
        </p:spPr>
        <p:txBody>
          <a:bodyPr wrap="square" lIns="0" tIns="0" rIns="0" bIns="0" rtlCol="0" anchor="b"/>
          <a:lstStyle/>
          <a:p>
            <a:pPr indent="0" marL="0">
              <a:buNone/>
            </a:pPr>
            <a:r>
              <a:rPr lang="en-US" sz="3000" b="1" dirty="0">
                <a:solidFill>
                  <a:srgbClr val="0B1F3A"/>
                </a:solidFill>
                <a:latin typeface="Cambria" pitchFamily="34" charset="0"/>
                <a:ea typeface="Cambria" pitchFamily="34" charset="-122"/>
                <a:cs typeface="Cambria" pitchFamily="34" charset="-120"/>
              </a:rPr>
              <a:t>16 of 36</a:t>
            </a:r>
            <a:endParaRPr lang="en-US" sz="3000" dirty="0"/>
          </a:p>
        </p:txBody>
      </p:sp>
      <p:sp>
        <p:nvSpPr>
          <p:cNvPr id="8" name="Text 4"/>
          <p:cNvSpPr txBox="1"/>
          <p:nvPr/>
        </p:nvSpPr>
        <p:spPr>
          <a:xfrm>
            <a:off x="8595360" y="2479853"/>
            <a:ext cx="2770632" cy="503834"/>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trends with p &lt; 0.05, before correction</a:t>
            </a:r>
            <a:endParaRPr lang="en-US" sz="1400" dirty="0"/>
          </a:p>
        </p:txBody>
      </p:sp>
      <p:sp>
        <p:nvSpPr>
          <p:cNvPr id="9" name="Shape 5"/>
          <p:cNvSpPr/>
          <p:nvPr/>
        </p:nvSpPr>
        <p:spPr>
          <a:xfrm>
            <a:off x="8321040" y="3200400"/>
            <a:ext cx="3319272" cy="1325880"/>
          </a:xfrm>
          <a:prstGeom prst="rect">
            <a:avLst/>
          </a:prstGeom>
          <a:solidFill>
            <a:srgbClr val="EEF3FA"/>
          </a:solidFill>
          <a:ln w="12700">
            <a:solidFill>
              <a:srgbClr val="FFFFFF">
                <a:alpha val="0"/>
              </a:srgbClr>
            </a:solidFill>
            <a:prstDash val="solid"/>
          </a:ln>
        </p:spPr>
      </p:sp>
      <p:sp>
        <p:nvSpPr>
          <p:cNvPr id="10" name="Text 6"/>
          <p:cNvSpPr txBox="1"/>
          <p:nvPr/>
        </p:nvSpPr>
        <p:spPr>
          <a:xfrm>
            <a:off x="8595360" y="3337560"/>
            <a:ext cx="2770632" cy="662940"/>
          </a:xfrm>
          <a:prstGeom prst="rect">
            <a:avLst/>
          </a:prstGeom>
          <a:noFill/>
          <a:ln/>
        </p:spPr>
        <p:txBody>
          <a:bodyPr wrap="square" lIns="0" tIns="0" rIns="0" bIns="0" rtlCol="0" anchor="b"/>
          <a:lstStyle/>
          <a:p>
            <a:pPr indent="0" marL="0">
              <a:buNone/>
            </a:pPr>
            <a:r>
              <a:rPr lang="en-US" sz="3000" b="1" dirty="0">
                <a:solidFill>
                  <a:srgbClr val="0B1F3A"/>
                </a:solidFill>
                <a:latin typeface="Cambria" pitchFamily="34" charset="0"/>
                <a:ea typeface="Cambria" pitchFamily="34" charset="-122"/>
                <a:cs typeface="Cambria" pitchFamily="34" charset="-120"/>
              </a:rPr>
              <a:t>9 of 36</a:t>
            </a:r>
            <a:endParaRPr lang="en-US" sz="3000" dirty="0"/>
          </a:p>
        </p:txBody>
      </p:sp>
      <p:sp>
        <p:nvSpPr>
          <p:cNvPr id="11" name="Text 7"/>
          <p:cNvSpPr txBox="1"/>
          <p:nvPr/>
        </p:nvSpPr>
        <p:spPr>
          <a:xfrm>
            <a:off x="8595360" y="3942893"/>
            <a:ext cx="2770632" cy="503834"/>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still significant after BH at 5% FDR</a:t>
            </a:r>
            <a:endParaRPr lang="en-US" sz="1400" dirty="0"/>
          </a:p>
        </p:txBody>
      </p:sp>
      <p:sp>
        <p:nvSpPr>
          <p:cNvPr id="12" name="Shape 8"/>
          <p:cNvSpPr/>
          <p:nvPr/>
        </p:nvSpPr>
        <p:spPr>
          <a:xfrm>
            <a:off x="8321040" y="4663440"/>
            <a:ext cx="3319272" cy="1325880"/>
          </a:xfrm>
          <a:prstGeom prst="rect">
            <a:avLst/>
          </a:prstGeom>
          <a:solidFill>
            <a:srgbClr val="EEF3FA"/>
          </a:solidFill>
          <a:ln w="12700">
            <a:solidFill>
              <a:srgbClr val="FFFFFF">
                <a:alpha val="0"/>
              </a:srgbClr>
            </a:solidFill>
            <a:prstDash val="solid"/>
          </a:ln>
        </p:spPr>
      </p:sp>
      <p:sp>
        <p:nvSpPr>
          <p:cNvPr id="13" name="Text 9"/>
          <p:cNvSpPr txBox="1"/>
          <p:nvPr/>
        </p:nvSpPr>
        <p:spPr>
          <a:xfrm>
            <a:off x="8595360" y="4800600"/>
            <a:ext cx="2770632" cy="662940"/>
          </a:xfrm>
          <a:prstGeom prst="rect">
            <a:avLst/>
          </a:prstGeom>
          <a:noFill/>
          <a:ln/>
        </p:spPr>
        <p:txBody>
          <a:bodyPr wrap="square" lIns="0" tIns="0" rIns="0" bIns="0" rtlCol="0" anchor="b"/>
          <a:lstStyle/>
          <a:p>
            <a:pPr indent="0" marL="0">
              <a:buNone/>
            </a:pPr>
            <a:r>
              <a:rPr lang="en-US" sz="3000" b="1" dirty="0">
                <a:solidFill>
                  <a:srgbClr val="0B1F3A"/>
                </a:solidFill>
                <a:latin typeface="Cambria" pitchFamily="34" charset="0"/>
                <a:ea typeface="Cambria" pitchFamily="34" charset="-122"/>
                <a:cs typeface="Cambria" pitchFamily="34" charset="-120"/>
              </a:rPr>
              <a:t>36 of 36</a:t>
            </a:r>
            <a:endParaRPr lang="en-US" sz="3000" dirty="0"/>
          </a:p>
        </p:txBody>
      </p:sp>
      <p:sp>
        <p:nvSpPr>
          <p:cNvPr id="14" name="Text 10"/>
          <p:cNvSpPr txBox="1"/>
          <p:nvPr/>
        </p:nvSpPr>
        <p:spPr>
          <a:xfrm>
            <a:off x="8595360" y="5405933"/>
            <a:ext cx="2770632" cy="503834"/>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OLS and Mann–Kendall agree on trend sign</a:t>
            </a:r>
            <a:endParaRPr lang="en-US" sz="1400" dirty="0"/>
          </a:p>
        </p:txBody>
      </p:sp>
      <p:sp>
        <p:nvSpPr>
          <p:cNvPr id="15" name="Text 11"/>
          <p:cNvSpPr txBox="1"/>
          <p:nvPr/>
        </p:nvSpPr>
        <p:spPr>
          <a:xfrm>
            <a:off x="548640" y="5943600"/>
            <a:ext cx="7406640" cy="365760"/>
          </a:xfrm>
          <a:prstGeom prst="rect">
            <a:avLst/>
          </a:prstGeom>
          <a:noFill/>
          <a:ln/>
        </p:spPr>
        <p:txBody>
          <a:bodyPr wrap="square" lIns="0" tIns="0" rIns="0" bIns="0" rtlCol="0" anchor="t"/>
          <a:lstStyle/>
          <a:p>
            <a:pPr indent="0" marL="0">
              <a:buNone/>
            </a:pPr>
            <a:r>
              <a:rPr lang="en-US" sz="1400" i="1" dirty="0">
                <a:solidFill>
                  <a:srgbClr val="5B6B82"/>
                </a:solidFill>
                <a:latin typeface="Calibri" pitchFamily="34" charset="0"/>
                <a:ea typeface="Calibri" pitchFamily="34" charset="-122"/>
                <a:cs typeface="Calibri" pitchFamily="34" charset="-120"/>
              </a:rPr>
              <a:t>Example: Kerala p = 0.044 becomes q = 0.10, so it is no longer significant after correction.</a:t>
            </a:r>
            <a:endParaRPr lang="en-US" sz="1400" dirty="0"/>
          </a:p>
        </p:txBody>
      </p:sp>
      <p:sp>
        <p:nvSpPr>
          <p:cNvPr id="16" name="Text 1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17" name="Text 13"/>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05  ·  PRELIMINARY RESULTS</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Monsoon totals are skewed, so the Normal model fails</a:t>
            </a:r>
            <a:endParaRPr lang="en-US" sz="3200" dirty="0"/>
          </a:p>
        </p:txBody>
      </p:sp>
      <p:pic>
        <p:nvPicPr>
          <p:cNvPr id="5" name="Image 1" descr="/home/claude/amorfati3735/stats-project-research/research/figures/03_distribution_fit.png">    </p:cNvPr>
          <p:cNvPicPr>
            <a:picLocks noChangeAspect="1"/>
          </p:cNvPicPr>
          <p:nvPr/>
        </p:nvPicPr>
        <p:blipFill>
          <a:blip r:embed="rId2"/>
          <a:stretch>
            <a:fillRect/>
          </a:stretch>
        </p:blipFill>
        <p:spPr>
          <a:xfrm>
            <a:off x="548640" y="1737360"/>
            <a:ext cx="7863840" cy="2862072"/>
          </a:xfrm>
          <a:prstGeom prst="rect">
            <a:avLst/>
          </a:prstGeom>
        </p:spPr>
      </p:pic>
      <p:sp>
        <p:nvSpPr>
          <p:cNvPr id="6" name="Shape 2"/>
          <p:cNvSpPr/>
          <p:nvPr/>
        </p:nvSpPr>
        <p:spPr>
          <a:xfrm>
            <a:off x="8778240" y="1737360"/>
            <a:ext cx="2862072" cy="1325880"/>
          </a:xfrm>
          <a:prstGeom prst="rect">
            <a:avLst/>
          </a:prstGeom>
          <a:solidFill>
            <a:srgbClr val="EEF3FA"/>
          </a:solidFill>
          <a:ln w="12700">
            <a:solidFill>
              <a:srgbClr val="FFFFFF">
                <a:alpha val="0"/>
              </a:srgbClr>
            </a:solidFill>
            <a:prstDash val="solid"/>
          </a:ln>
        </p:spPr>
      </p:sp>
      <p:sp>
        <p:nvSpPr>
          <p:cNvPr id="7" name="Text 3"/>
          <p:cNvSpPr txBox="1"/>
          <p:nvPr/>
        </p:nvSpPr>
        <p:spPr>
          <a:xfrm>
            <a:off x="9052560" y="1874520"/>
            <a:ext cx="2313432" cy="662940"/>
          </a:xfrm>
          <a:prstGeom prst="rect">
            <a:avLst/>
          </a:prstGeom>
          <a:noFill/>
          <a:ln/>
        </p:spPr>
        <p:txBody>
          <a:bodyPr wrap="square" lIns="0" tIns="0" rIns="0" bIns="0" rtlCol="0" anchor="b"/>
          <a:lstStyle/>
          <a:p>
            <a:pPr indent="0" marL="0">
              <a:buNone/>
            </a:pPr>
            <a:r>
              <a:rPr lang="en-US" sz="3000" b="1" dirty="0">
                <a:solidFill>
                  <a:srgbClr val="0B1F3A"/>
                </a:solidFill>
                <a:latin typeface="Cambria" pitchFamily="34" charset="0"/>
                <a:ea typeface="Cambria" pitchFamily="34" charset="-122"/>
                <a:cs typeface="Cambria" pitchFamily="34" charset="-120"/>
              </a:rPr>
              <a:t>0.135</a:t>
            </a:r>
            <a:endParaRPr lang="en-US" sz="3000" dirty="0"/>
          </a:p>
        </p:txBody>
      </p:sp>
      <p:sp>
        <p:nvSpPr>
          <p:cNvPr id="8" name="Text 4"/>
          <p:cNvSpPr txBox="1"/>
          <p:nvPr/>
        </p:nvSpPr>
        <p:spPr>
          <a:xfrm>
            <a:off x="9052560" y="2479853"/>
            <a:ext cx="2313432" cy="503834"/>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KS distance, Normal fit (poor)</a:t>
            </a:r>
            <a:endParaRPr lang="en-US" sz="1400" dirty="0"/>
          </a:p>
        </p:txBody>
      </p:sp>
      <p:sp>
        <p:nvSpPr>
          <p:cNvPr id="9" name="Shape 5"/>
          <p:cNvSpPr/>
          <p:nvPr/>
        </p:nvSpPr>
        <p:spPr>
          <a:xfrm>
            <a:off x="8778240" y="3200400"/>
            <a:ext cx="2862072" cy="1325880"/>
          </a:xfrm>
          <a:prstGeom prst="rect">
            <a:avLst/>
          </a:prstGeom>
          <a:solidFill>
            <a:srgbClr val="EEF3FA"/>
          </a:solidFill>
          <a:ln w="12700">
            <a:solidFill>
              <a:srgbClr val="FFFFFF">
                <a:alpha val="0"/>
              </a:srgbClr>
            </a:solidFill>
            <a:prstDash val="solid"/>
          </a:ln>
        </p:spPr>
      </p:sp>
      <p:sp>
        <p:nvSpPr>
          <p:cNvPr id="10" name="Text 6"/>
          <p:cNvSpPr txBox="1"/>
          <p:nvPr/>
        </p:nvSpPr>
        <p:spPr>
          <a:xfrm>
            <a:off x="9052560" y="3337560"/>
            <a:ext cx="2313432" cy="662940"/>
          </a:xfrm>
          <a:prstGeom prst="rect">
            <a:avLst/>
          </a:prstGeom>
          <a:noFill/>
          <a:ln/>
        </p:spPr>
        <p:txBody>
          <a:bodyPr wrap="square" lIns="0" tIns="0" rIns="0" bIns="0" rtlCol="0" anchor="b"/>
          <a:lstStyle/>
          <a:p>
            <a:pPr indent="0" marL="0">
              <a:buNone/>
            </a:pPr>
            <a:r>
              <a:rPr lang="en-US" sz="3000" b="1" dirty="0">
                <a:solidFill>
                  <a:srgbClr val="0B1F3A"/>
                </a:solidFill>
                <a:latin typeface="Cambria" pitchFamily="34" charset="0"/>
                <a:ea typeface="Cambria" pitchFamily="34" charset="-122"/>
                <a:cs typeface="Cambria" pitchFamily="34" charset="-120"/>
              </a:rPr>
              <a:t>0.051</a:t>
            </a:r>
            <a:endParaRPr lang="en-US" sz="3000" dirty="0"/>
          </a:p>
        </p:txBody>
      </p:sp>
      <p:sp>
        <p:nvSpPr>
          <p:cNvPr id="11" name="Text 7"/>
          <p:cNvSpPr txBox="1"/>
          <p:nvPr/>
        </p:nvSpPr>
        <p:spPr>
          <a:xfrm>
            <a:off x="9052560" y="3942893"/>
            <a:ext cx="2313432" cy="503834"/>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KS distance, Gamma fit (much better)</a:t>
            </a:r>
            <a:endParaRPr lang="en-US" sz="1400" dirty="0"/>
          </a:p>
        </p:txBody>
      </p:sp>
      <p:sp>
        <p:nvSpPr>
          <p:cNvPr id="12" name="Text 8"/>
          <p:cNvSpPr txBox="1"/>
          <p:nvPr/>
        </p:nvSpPr>
        <p:spPr>
          <a:xfrm>
            <a:off x="548640" y="4846320"/>
            <a:ext cx="78638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Pooled Jun–Sep totals have skew 1.51, so Normal is the wrong default</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Lognormal fits best still (KS D ≈ 0.026, from the project notes)</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Best model differs by region; check per division</a:t>
            </a:r>
            <a:endParaRPr lang="en-US" sz="1600" dirty="0"/>
          </a:p>
        </p:txBody>
      </p:sp>
      <p:sp>
        <p:nvSpPr>
          <p:cNvPr id="13" name="Text 9"/>
          <p:cNvSpPr txBox="1"/>
          <p:nvPr/>
        </p:nvSpPr>
        <p:spPr>
          <a:xfrm>
            <a:off x="8778240" y="4754880"/>
            <a:ext cx="2834640" cy="548640"/>
          </a:xfrm>
          <a:prstGeom prst="rect">
            <a:avLst/>
          </a:prstGeom>
          <a:noFill/>
          <a:ln/>
        </p:spPr>
        <p:txBody>
          <a:bodyPr wrap="square" lIns="0" tIns="0" rIns="0" bIns="0" rtlCol="0" anchor="t"/>
          <a:lstStyle/>
          <a:p>
            <a:pPr indent="0" marL="0">
              <a:buNone/>
            </a:pPr>
            <a:r>
              <a:rPr lang="en-US" sz="1300" i="1" dirty="0">
                <a:solidFill>
                  <a:srgbClr val="5B6B82"/>
                </a:solidFill>
                <a:latin typeface="Calibri" pitchFamily="34" charset="0"/>
                <a:ea typeface="Calibri" pitchFamily="34" charset="-122"/>
                <a:cs typeface="Calibri" pitchFamily="34" charset="-120"/>
              </a:rPr>
              <a:t>Pooled monsoon totals, 36 divisions</a:t>
            </a:r>
            <a:endParaRPr lang="en-US" sz="1300" dirty="0"/>
          </a:p>
        </p:txBody>
      </p:sp>
      <p:sp>
        <p:nvSpPr>
          <p:cNvPr id="14" name="Text 10"/>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15" name="Text 11"/>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05  ·  PRELIMINARY RESULTS</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Drought risk is regional, not national</a:t>
            </a:r>
            <a:endParaRPr lang="en-US" sz="3200" dirty="0"/>
          </a:p>
        </p:txBody>
      </p:sp>
      <p:pic>
        <p:nvPicPr>
          <p:cNvPr id="5" name="Image 1" descr="/home/claude/amorfati3735/stats-project-research/research/figures/06_return_periods.png">    </p:cNvPr>
          <p:cNvPicPr>
            <a:picLocks noChangeAspect="1"/>
          </p:cNvPicPr>
          <p:nvPr/>
        </p:nvPicPr>
        <p:blipFill>
          <a:blip r:embed="rId2"/>
          <a:stretch>
            <a:fillRect/>
          </a:stretch>
        </p:blipFill>
        <p:spPr>
          <a:xfrm>
            <a:off x="548640" y="1737360"/>
            <a:ext cx="6766560" cy="4233672"/>
          </a:xfrm>
          <a:prstGeom prst="rect">
            <a:avLst/>
          </a:prstGeom>
        </p:spPr>
      </p:pic>
      <p:sp>
        <p:nvSpPr>
          <p:cNvPr id="6" name="Shape 2"/>
          <p:cNvSpPr/>
          <p:nvPr/>
        </p:nvSpPr>
        <p:spPr>
          <a:xfrm>
            <a:off x="7680960" y="1737360"/>
            <a:ext cx="3959352" cy="1325880"/>
          </a:xfrm>
          <a:prstGeom prst="rect">
            <a:avLst/>
          </a:prstGeom>
          <a:solidFill>
            <a:srgbClr val="EEF3FA"/>
          </a:solidFill>
          <a:ln w="12700">
            <a:solidFill>
              <a:srgbClr val="FFFFFF">
                <a:alpha val="0"/>
              </a:srgbClr>
            </a:solidFill>
            <a:prstDash val="solid"/>
          </a:ln>
        </p:spPr>
      </p:sp>
      <p:sp>
        <p:nvSpPr>
          <p:cNvPr id="7" name="Text 3"/>
          <p:cNvSpPr txBox="1"/>
          <p:nvPr/>
        </p:nvSpPr>
        <p:spPr>
          <a:xfrm>
            <a:off x="7955280" y="1874520"/>
            <a:ext cx="3410712" cy="662940"/>
          </a:xfrm>
          <a:prstGeom prst="rect">
            <a:avLst/>
          </a:prstGeom>
          <a:noFill/>
          <a:ln/>
        </p:spPr>
        <p:txBody>
          <a:bodyPr wrap="square" lIns="0" tIns="0" rIns="0" bIns="0" rtlCol="0" anchor="b"/>
          <a:lstStyle/>
          <a:p>
            <a:pPr indent="0" marL="0">
              <a:buNone/>
            </a:pPr>
            <a:r>
              <a:rPr lang="en-US" sz="3000" b="1" dirty="0">
                <a:solidFill>
                  <a:srgbClr val="0B1F3A"/>
                </a:solidFill>
                <a:latin typeface="Cambria" pitchFamily="34" charset="0"/>
                <a:ea typeface="Cambria" pitchFamily="34" charset="-122"/>
                <a:cs typeface="Cambria" pitchFamily="34" charset="-120"/>
              </a:rPr>
              <a:t>47.6%</a:t>
            </a:r>
            <a:endParaRPr lang="en-US" sz="3000" dirty="0"/>
          </a:p>
        </p:txBody>
      </p:sp>
      <p:sp>
        <p:nvSpPr>
          <p:cNvPr id="8" name="Text 4"/>
          <p:cNvSpPr txBox="1"/>
          <p:nvPr/>
        </p:nvSpPr>
        <p:spPr>
          <a:xfrm>
            <a:off x="7955280" y="2479853"/>
            <a:ext cx="3410712" cy="503834"/>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1-in-20-year deficit, West Rajasthan (of normal)</a:t>
            </a:r>
            <a:endParaRPr lang="en-US" sz="1400" dirty="0"/>
          </a:p>
        </p:txBody>
      </p:sp>
      <p:sp>
        <p:nvSpPr>
          <p:cNvPr id="9" name="Shape 5"/>
          <p:cNvSpPr/>
          <p:nvPr/>
        </p:nvSpPr>
        <p:spPr>
          <a:xfrm>
            <a:off x="7680960" y="3200400"/>
            <a:ext cx="3959352" cy="1325880"/>
          </a:xfrm>
          <a:prstGeom prst="rect">
            <a:avLst/>
          </a:prstGeom>
          <a:solidFill>
            <a:srgbClr val="EEF3FA"/>
          </a:solidFill>
          <a:ln w="12700">
            <a:solidFill>
              <a:srgbClr val="FFFFFF">
                <a:alpha val="0"/>
              </a:srgbClr>
            </a:solidFill>
            <a:prstDash val="solid"/>
          </a:ln>
        </p:spPr>
      </p:sp>
      <p:sp>
        <p:nvSpPr>
          <p:cNvPr id="10" name="Text 6"/>
          <p:cNvSpPr txBox="1"/>
          <p:nvPr/>
        </p:nvSpPr>
        <p:spPr>
          <a:xfrm>
            <a:off x="7955280" y="3337560"/>
            <a:ext cx="3410712" cy="662940"/>
          </a:xfrm>
          <a:prstGeom prst="rect">
            <a:avLst/>
          </a:prstGeom>
          <a:noFill/>
          <a:ln/>
        </p:spPr>
        <p:txBody>
          <a:bodyPr wrap="square" lIns="0" tIns="0" rIns="0" bIns="0" rtlCol="0" anchor="b"/>
          <a:lstStyle/>
          <a:p>
            <a:pPr indent="0" marL="0">
              <a:buNone/>
            </a:pPr>
            <a:r>
              <a:rPr lang="en-US" sz="3000" b="1" dirty="0">
                <a:solidFill>
                  <a:srgbClr val="0B1F3A"/>
                </a:solidFill>
                <a:latin typeface="Cambria" pitchFamily="34" charset="0"/>
                <a:ea typeface="Cambria" pitchFamily="34" charset="-122"/>
                <a:cs typeface="Cambria" pitchFamily="34" charset="-120"/>
              </a:rPr>
              <a:t>77.8%</a:t>
            </a:r>
            <a:endParaRPr lang="en-US" sz="3000" dirty="0"/>
          </a:p>
        </p:txBody>
      </p:sp>
      <p:sp>
        <p:nvSpPr>
          <p:cNvPr id="11" name="Text 7"/>
          <p:cNvSpPr txBox="1"/>
          <p:nvPr/>
        </p:nvSpPr>
        <p:spPr>
          <a:xfrm>
            <a:off x="7955280" y="3942893"/>
            <a:ext cx="3410712" cy="503834"/>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1-in-20-year deficit, Kerala (of normal)</a:t>
            </a:r>
            <a:endParaRPr lang="en-US" sz="1400" dirty="0"/>
          </a:p>
        </p:txBody>
      </p:sp>
      <p:sp>
        <p:nvSpPr>
          <p:cNvPr id="12" name="Text 8"/>
          <p:cNvSpPr txBox="1"/>
          <p:nvPr/>
        </p:nvSpPr>
        <p:spPr>
          <a:xfrm>
            <a:off x="7680960" y="4754880"/>
            <a:ext cx="3959352" cy="1371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No year falls below 75% of normal nationally</a:t>
            </a:r>
            <a:endParaRPr lang="en-US" sz="1500" dirty="0"/>
          </a:p>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Severe deficits appear in specific divisions, so risk is mapped per division</a:t>
            </a:r>
            <a:endParaRPr lang="en-US" sz="1500" dirty="0"/>
          </a:p>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Return periods are statistical summaries of the record, not forecasts</a:t>
            </a:r>
            <a:endParaRPr lang="en-US" sz="1500" dirty="0"/>
          </a:p>
        </p:txBody>
      </p:sp>
      <p:sp>
        <p:nvSpPr>
          <p:cNvPr id="13" name="Text 9"/>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14" name="Text 10"/>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06  ·  STATISTICAL CARE</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Three checks shape how we analyse the data</a:t>
            </a:r>
            <a:endParaRPr lang="en-US" sz="3200" dirty="0"/>
          </a:p>
        </p:txBody>
      </p:sp>
      <p:sp>
        <p:nvSpPr>
          <p:cNvPr id="5" name="Shape 2"/>
          <p:cNvSpPr/>
          <p:nvPr/>
        </p:nvSpPr>
        <p:spPr>
          <a:xfrm>
            <a:off x="548640" y="1737360"/>
            <a:ext cx="3520440" cy="3931920"/>
          </a:xfrm>
          <a:prstGeom prst="rect">
            <a:avLst/>
          </a:prstGeom>
          <a:solidFill>
            <a:srgbClr val="EEF3FA"/>
          </a:solidFill>
          <a:ln w="12700">
            <a:solidFill>
              <a:srgbClr val="FFFFFF">
                <a:alpha val="0"/>
              </a:srgbClr>
            </a:solidFill>
            <a:prstDash val="solid"/>
          </a:ln>
        </p:spPr>
      </p:sp>
      <p:sp>
        <p:nvSpPr>
          <p:cNvPr id="6" name="Shape 3"/>
          <p:cNvSpPr/>
          <p:nvPr/>
        </p:nvSpPr>
        <p:spPr>
          <a:xfrm>
            <a:off x="822960" y="2011680"/>
            <a:ext cx="548640" cy="548640"/>
          </a:xfrm>
          <a:prstGeom prst="ellipse">
            <a:avLst/>
          </a:prstGeom>
          <a:solidFill>
            <a:srgbClr val="0B1F3A"/>
          </a:solidFill>
          <a:ln w="12700">
            <a:solidFill>
              <a:srgbClr val="FFFFFF">
                <a:alpha val="0"/>
              </a:srgbClr>
            </a:solidFill>
            <a:prstDash val="solid"/>
          </a:ln>
        </p:spPr>
      </p:sp>
      <p:sp>
        <p:nvSpPr>
          <p:cNvPr id="7" name="Text 4"/>
          <p:cNvSpPr txBox="1"/>
          <p:nvPr/>
        </p:nvSpPr>
        <p:spPr>
          <a:xfrm>
            <a:off x="822960" y="2011680"/>
            <a:ext cx="548640" cy="548640"/>
          </a:xfrm>
          <a:prstGeom prst="rect">
            <a:avLst/>
          </a:prstGeom>
          <a:noFill/>
          <a:ln/>
        </p:spPr>
        <p:txBody>
          <a:bodyPr wrap="square" lIns="0" tIns="0" rIns="0" bIns="0" rtlCol="0" anchor="ctr"/>
          <a:lstStyle/>
          <a:p>
            <a:pPr algn="ctr" indent="0" marL="0">
              <a:buNone/>
            </a:pPr>
            <a:r>
              <a:rPr lang="en-US" sz="1600" b="1" dirty="0">
                <a:solidFill>
                  <a:srgbClr val="E0A526"/>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1554480" y="2011680"/>
            <a:ext cx="2240280" cy="54864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Unequal variances</a:t>
            </a:r>
            <a:endParaRPr lang="en-US" sz="1800" dirty="0"/>
          </a:p>
        </p:txBody>
      </p:sp>
      <p:sp>
        <p:nvSpPr>
          <p:cNvPr id="9" name="Text 6"/>
          <p:cNvSpPr txBox="1"/>
          <p:nvPr/>
        </p:nvSpPr>
        <p:spPr>
          <a:xfrm>
            <a:off x="822960" y="2743200"/>
            <a:ext cx="2971800" cy="1645920"/>
          </a:xfrm>
          <a:prstGeom prst="rect">
            <a:avLst/>
          </a:prstGeom>
          <a:noFill/>
          <a:ln/>
        </p:spPr>
        <p:txBody>
          <a:bodyPr wrap="square" lIns="0" tIns="0" rIns="0" bIns="0" rtlCol="0" anchor="t"/>
          <a:lstStyle/>
          <a:p>
            <a:pPr indent="0" marL="0">
              <a:buNone/>
            </a:pPr>
            <a:r>
              <a:rPr lang="en-US" sz="1500" dirty="0">
                <a:solidFill>
                  <a:srgbClr val="1E2A3A"/>
                </a:solidFill>
                <a:latin typeface="Calibri" pitchFamily="34" charset="0"/>
                <a:ea typeface="Calibri" pitchFamily="34" charset="-122"/>
                <a:cs typeface="Calibri" pitchFamily="34" charset="-120"/>
              </a:rPr>
              <a:t>Variances differ across subdivisions, so ordinary equal-variance ANOVA is not used. Use Welch ANOVA with Games–Howell, and report both versions to show how sensitive the conclusion is.</a:t>
            </a:r>
            <a:endParaRPr lang="en-US" sz="1500" dirty="0"/>
          </a:p>
        </p:txBody>
      </p:sp>
      <p:sp>
        <p:nvSpPr>
          <p:cNvPr id="10" name="Shape 7"/>
          <p:cNvSpPr/>
          <p:nvPr/>
        </p:nvSpPr>
        <p:spPr>
          <a:xfrm>
            <a:off x="822960" y="4526280"/>
            <a:ext cx="2971800" cy="868680"/>
          </a:xfrm>
          <a:prstGeom prst="rect">
            <a:avLst/>
          </a:prstGeom>
          <a:solidFill>
            <a:srgbClr val="FFFFFF"/>
          </a:solidFill>
          <a:ln w="12700">
            <a:solidFill>
              <a:srgbClr val="FFFFFF">
                <a:alpha val="0"/>
              </a:srgbClr>
            </a:solidFill>
            <a:prstDash val="solid"/>
          </a:ln>
        </p:spPr>
      </p:sp>
      <p:sp>
        <p:nvSpPr>
          <p:cNvPr id="11" name="Text 8"/>
          <p:cNvSpPr txBox="1"/>
          <p:nvPr/>
        </p:nvSpPr>
        <p:spPr>
          <a:xfrm>
            <a:off x="1005840" y="4526280"/>
            <a:ext cx="2606040" cy="868680"/>
          </a:xfrm>
          <a:prstGeom prst="rect">
            <a:avLst/>
          </a:prstGeom>
          <a:noFill/>
          <a:ln/>
        </p:spPr>
        <p:txBody>
          <a:bodyPr wrap="square" lIns="0" tIns="0" rIns="0" bIns="0" rtlCol="0" anchor="ctr"/>
          <a:lstStyle/>
          <a:p>
            <a:pPr indent="0" marL="0">
              <a:buNone/>
            </a:pPr>
            <a:r>
              <a:rPr lang="en-US" sz="1500" b="1" dirty="0">
                <a:solidFill>
                  <a:srgbClr val="9A6A00"/>
                </a:solidFill>
                <a:latin typeface="Cambria" pitchFamily="34" charset="0"/>
                <a:ea typeface="Cambria" pitchFamily="34" charset="-122"/>
                <a:cs typeface="Cambria" pitchFamily="34" charset="-120"/>
              </a:rPr>
              <a:t>Levene p ≈ 0</a:t>
            </a:r>
            <a:endParaRPr lang="en-US" sz="1500" dirty="0"/>
          </a:p>
        </p:txBody>
      </p:sp>
      <p:sp>
        <p:nvSpPr>
          <p:cNvPr id="12" name="Shape 9"/>
          <p:cNvSpPr/>
          <p:nvPr/>
        </p:nvSpPr>
        <p:spPr>
          <a:xfrm>
            <a:off x="4334256" y="1737360"/>
            <a:ext cx="3520440" cy="3931920"/>
          </a:xfrm>
          <a:prstGeom prst="rect">
            <a:avLst/>
          </a:prstGeom>
          <a:solidFill>
            <a:srgbClr val="EEF3FA"/>
          </a:solidFill>
          <a:ln w="12700">
            <a:solidFill>
              <a:srgbClr val="FFFFFF">
                <a:alpha val="0"/>
              </a:srgbClr>
            </a:solidFill>
            <a:prstDash val="solid"/>
          </a:ln>
        </p:spPr>
      </p:sp>
      <p:sp>
        <p:nvSpPr>
          <p:cNvPr id="13" name="Shape 10"/>
          <p:cNvSpPr/>
          <p:nvPr/>
        </p:nvSpPr>
        <p:spPr>
          <a:xfrm>
            <a:off x="4608576" y="2011680"/>
            <a:ext cx="548640" cy="548640"/>
          </a:xfrm>
          <a:prstGeom prst="ellipse">
            <a:avLst/>
          </a:prstGeom>
          <a:solidFill>
            <a:srgbClr val="0B1F3A"/>
          </a:solidFill>
          <a:ln w="12700">
            <a:solidFill>
              <a:srgbClr val="FFFFFF">
                <a:alpha val="0"/>
              </a:srgbClr>
            </a:solidFill>
            <a:prstDash val="solid"/>
          </a:ln>
        </p:spPr>
      </p:sp>
      <p:sp>
        <p:nvSpPr>
          <p:cNvPr id="14" name="Text 11"/>
          <p:cNvSpPr txBox="1"/>
          <p:nvPr/>
        </p:nvSpPr>
        <p:spPr>
          <a:xfrm>
            <a:off x="4608576" y="2011680"/>
            <a:ext cx="548640" cy="548640"/>
          </a:xfrm>
          <a:prstGeom prst="rect">
            <a:avLst/>
          </a:prstGeom>
          <a:noFill/>
          <a:ln/>
        </p:spPr>
        <p:txBody>
          <a:bodyPr wrap="square" lIns="0" tIns="0" rIns="0" bIns="0" rtlCol="0" anchor="ctr"/>
          <a:lstStyle/>
          <a:p>
            <a:pPr algn="ctr" indent="0" marL="0">
              <a:buNone/>
            </a:pPr>
            <a:r>
              <a:rPr lang="en-US" sz="1600" b="1" dirty="0">
                <a:solidFill>
                  <a:srgbClr val="E0A526"/>
                </a:solidFill>
                <a:latin typeface="Cambria" pitchFamily="34" charset="0"/>
                <a:ea typeface="Cambria" pitchFamily="34" charset="-122"/>
                <a:cs typeface="Cambria" pitchFamily="34" charset="-120"/>
              </a:rPr>
              <a:t>2</a:t>
            </a:r>
            <a:endParaRPr lang="en-US" sz="1600" dirty="0"/>
          </a:p>
        </p:txBody>
      </p:sp>
      <p:sp>
        <p:nvSpPr>
          <p:cNvPr id="15" name="Text 12"/>
          <p:cNvSpPr txBox="1"/>
          <p:nvPr/>
        </p:nvSpPr>
        <p:spPr>
          <a:xfrm>
            <a:off x="5340096" y="2011680"/>
            <a:ext cx="2240280" cy="54864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Many tests</a:t>
            </a:r>
            <a:endParaRPr lang="en-US" sz="1800" dirty="0"/>
          </a:p>
        </p:txBody>
      </p:sp>
      <p:sp>
        <p:nvSpPr>
          <p:cNvPr id="16" name="Text 13"/>
          <p:cNvSpPr txBox="1"/>
          <p:nvPr/>
        </p:nvSpPr>
        <p:spPr>
          <a:xfrm>
            <a:off x="4608576" y="2743200"/>
            <a:ext cx="2971800" cy="1645920"/>
          </a:xfrm>
          <a:prstGeom prst="rect">
            <a:avLst/>
          </a:prstGeom>
          <a:noFill/>
          <a:ln/>
        </p:spPr>
        <p:txBody>
          <a:bodyPr wrap="square" lIns="0" tIns="0" rIns="0" bIns="0" rtlCol="0" anchor="t"/>
          <a:lstStyle/>
          <a:p>
            <a:pPr indent="0" marL="0">
              <a:buNone/>
            </a:pPr>
            <a:r>
              <a:rPr lang="en-US" sz="1500" dirty="0">
                <a:solidFill>
                  <a:srgbClr val="1E2A3A"/>
                </a:solidFill>
                <a:latin typeface="Calibri" pitchFamily="34" charset="0"/>
                <a:ea typeface="Calibri" pitchFamily="34" charset="-122"/>
                <a:cs typeface="Calibri" pitchFamily="34" charset="-120"/>
              </a:rPr>
              <a:t>36 trend p-values are not 36 discoveries. Benjamini–Hochberg controls the false-discovery rate. A region at p = 0.044 can fail once all 36 tests are considered together.</a:t>
            </a:r>
            <a:endParaRPr lang="en-US" sz="1500" dirty="0"/>
          </a:p>
        </p:txBody>
      </p:sp>
      <p:sp>
        <p:nvSpPr>
          <p:cNvPr id="17" name="Shape 14"/>
          <p:cNvSpPr/>
          <p:nvPr/>
        </p:nvSpPr>
        <p:spPr>
          <a:xfrm>
            <a:off x="4608576" y="4526280"/>
            <a:ext cx="2971800" cy="868680"/>
          </a:xfrm>
          <a:prstGeom prst="rect">
            <a:avLst/>
          </a:prstGeom>
          <a:solidFill>
            <a:srgbClr val="FFFFFF"/>
          </a:solidFill>
          <a:ln w="12700">
            <a:solidFill>
              <a:srgbClr val="FFFFFF">
                <a:alpha val="0"/>
              </a:srgbClr>
            </a:solidFill>
            <a:prstDash val="solid"/>
          </a:ln>
        </p:spPr>
      </p:sp>
      <p:sp>
        <p:nvSpPr>
          <p:cNvPr id="18" name="Text 15"/>
          <p:cNvSpPr txBox="1"/>
          <p:nvPr/>
        </p:nvSpPr>
        <p:spPr>
          <a:xfrm>
            <a:off x="4791456" y="4526280"/>
            <a:ext cx="2606040" cy="868680"/>
          </a:xfrm>
          <a:prstGeom prst="rect">
            <a:avLst/>
          </a:prstGeom>
          <a:noFill/>
          <a:ln/>
        </p:spPr>
        <p:txBody>
          <a:bodyPr wrap="square" lIns="0" tIns="0" rIns="0" bIns="0" rtlCol="0" anchor="ctr"/>
          <a:lstStyle/>
          <a:p>
            <a:pPr indent="0" marL="0">
              <a:buNone/>
            </a:pPr>
            <a:r>
              <a:rPr lang="en-US" sz="1500" b="1" dirty="0">
                <a:solidFill>
                  <a:srgbClr val="9A6A00"/>
                </a:solidFill>
                <a:latin typeface="Cambria" pitchFamily="34" charset="0"/>
                <a:ea typeface="Cambria" pitchFamily="34" charset="-122"/>
                <a:cs typeface="Cambria" pitchFamily="34" charset="-120"/>
              </a:rPr>
              <a:t>16 → 9 after BH</a:t>
            </a:r>
            <a:endParaRPr lang="en-US" sz="1500" dirty="0"/>
          </a:p>
        </p:txBody>
      </p:sp>
      <p:sp>
        <p:nvSpPr>
          <p:cNvPr id="19" name="Shape 16"/>
          <p:cNvSpPr/>
          <p:nvPr/>
        </p:nvSpPr>
        <p:spPr>
          <a:xfrm>
            <a:off x="8119872" y="1737360"/>
            <a:ext cx="3520440" cy="3931920"/>
          </a:xfrm>
          <a:prstGeom prst="rect">
            <a:avLst/>
          </a:prstGeom>
          <a:solidFill>
            <a:srgbClr val="EEF3FA"/>
          </a:solidFill>
          <a:ln w="12700">
            <a:solidFill>
              <a:srgbClr val="FFFFFF">
                <a:alpha val="0"/>
              </a:srgbClr>
            </a:solidFill>
            <a:prstDash val="solid"/>
          </a:ln>
        </p:spPr>
      </p:sp>
      <p:sp>
        <p:nvSpPr>
          <p:cNvPr id="20" name="Shape 17"/>
          <p:cNvSpPr/>
          <p:nvPr/>
        </p:nvSpPr>
        <p:spPr>
          <a:xfrm>
            <a:off x="8394192" y="2011680"/>
            <a:ext cx="548640" cy="548640"/>
          </a:xfrm>
          <a:prstGeom prst="ellipse">
            <a:avLst/>
          </a:prstGeom>
          <a:solidFill>
            <a:srgbClr val="0B1F3A"/>
          </a:solidFill>
          <a:ln w="12700">
            <a:solidFill>
              <a:srgbClr val="FFFFFF">
                <a:alpha val="0"/>
              </a:srgbClr>
            </a:solidFill>
            <a:prstDash val="solid"/>
          </a:ln>
        </p:spPr>
      </p:sp>
      <p:sp>
        <p:nvSpPr>
          <p:cNvPr id="21" name="Text 18"/>
          <p:cNvSpPr txBox="1"/>
          <p:nvPr/>
        </p:nvSpPr>
        <p:spPr>
          <a:xfrm>
            <a:off x="8394192" y="2011680"/>
            <a:ext cx="548640" cy="548640"/>
          </a:xfrm>
          <a:prstGeom prst="rect">
            <a:avLst/>
          </a:prstGeom>
          <a:noFill/>
          <a:ln/>
        </p:spPr>
        <p:txBody>
          <a:bodyPr wrap="square" lIns="0" tIns="0" rIns="0" bIns="0" rtlCol="0" anchor="ctr"/>
          <a:lstStyle/>
          <a:p>
            <a:pPr algn="ctr" indent="0" marL="0">
              <a:buNone/>
            </a:pPr>
            <a:r>
              <a:rPr lang="en-US" sz="1600" b="1" dirty="0">
                <a:solidFill>
                  <a:srgbClr val="E0A526"/>
                </a:solidFill>
                <a:latin typeface="Cambria" pitchFamily="34" charset="0"/>
                <a:ea typeface="Cambria" pitchFamily="34" charset="-122"/>
                <a:cs typeface="Cambria" pitchFamily="34" charset="-120"/>
              </a:rPr>
              <a:t>3</a:t>
            </a:r>
            <a:endParaRPr lang="en-US" sz="1600" dirty="0"/>
          </a:p>
        </p:txBody>
      </p:sp>
      <p:sp>
        <p:nvSpPr>
          <p:cNvPr id="22" name="Text 19"/>
          <p:cNvSpPr txBox="1"/>
          <p:nvPr/>
        </p:nvSpPr>
        <p:spPr>
          <a:xfrm>
            <a:off x="9125712" y="2011680"/>
            <a:ext cx="2240280" cy="54864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Shared weather</a:t>
            </a:r>
            <a:endParaRPr lang="en-US" sz="1800" dirty="0"/>
          </a:p>
        </p:txBody>
      </p:sp>
      <p:sp>
        <p:nvSpPr>
          <p:cNvPr id="23" name="Text 20"/>
          <p:cNvSpPr txBox="1"/>
          <p:nvPr/>
        </p:nvSpPr>
        <p:spPr>
          <a:xfrm>
            <a:off x="8394192" y="2743200"/>
            <a:ext cx="2971800" cy="1645920"/>
          </a:xfrm>
          <a:prstGeom prst="rect">
            <a:avLst/>
          </a:prstGeom>
          <a:noFill/>
          <a:ln/>
        </p:spPr>
        <p:txBody>
          <a:bodyPr wrap="square" lIns="0" tIns="0" rIns="0" bIns="0" rtlCol="0" anchor="t"/>
          <a:lstStyle/>
          <a:p>
            <a:pPr indent="0" marL="0">
              <a:buNone/>
            </a:pPr>
            <a:r>
              <a:rPr lang="en-US" sz="1500" dirty="0">
                <a:solidFill>
                  <a:srgbClr val="1E2A3A"/>
                </a:solidFill>
                <a:latin typeface="Calibri" pitchFamily="34" charset="0"/>
                <a:ea typeface="Calibri" pitchFamily="34" charset="-122"/>
                <a:cs typeface="Calibri" pitchFamily="34" charset="-120"/>
              </a:rPr>
              <a:t>Divisions are not independent. Most pairs move together, so pooled inference needs care. Correlated divisions carry overlapping information, so 36 results are not 36 independent samples.</a:t>
            </a:r>
            <a:endParaRPr lang="en-US" sz="1500" dirty="0"/>
          </a:p>
        </p:txBody>
      </p:sp>
      <p:sp>
        <p:nvSpPr>
          <p:cNvPr id="24" name="Shape 21"/>
          <p:cNvSpPr/>
          <p:nvPr/>
        </p:nvSpPr>
        <p:spPr>
          <a:xfrm>
            <a:off x="8394192" y="4526280"/>
            <a:ext cx="2971800" cy="868680"/>
          </a:xfrm>
          <a:prstGeom prst="rect">
            <a:avLst/>
          </a:prstGeom>
          <a:solidFill>
            <a:srgbClr val="FFFFFF"/>
          </a:solidFill>
          <a:ln w="12700">
            <a:solidFill>
              <a:srgbClr val="FFFFFF">
                <a:alpha val="0"/>
              </a:srgbClr>
            </a:solidFill>
            <a:prstDash val="solid"/>
          </a:ln>
        </p:spPr>
      </p:sp>
      <p:sp>
        <p:nvSpPr>
          <p:cNvPr id="25" name="Text 22"/>
          <p:cNvSpPr txBox="1"/>
          <p:nvPr/>
        </p:nvSpPr>
        <p:spPr>
          <a:xfrm>
            <a:off x="8577072" y="4526280"/>
            <a:ext cx="2606040" cy="868680"/>
          </a:xfrm>
          <a:prstGeom prst="rect">
            <a:avLst/>
          </a:prstGeom>
          <a:noFill/>
          <a:ln/>
        </p:spPr>
        <p:txBody>
          <a:bodyPr wrap="square" lIns="0" tIns="0" rIns="0" bIns="0" rtlCol="0" anchor="ctr"/>
          <a:lstStyle/>
          <a:p>
            <a:pPr indent="0" marL="0">
              <a:buNone/>
            </a:pPr>
            <a:r>
              <a:rPr lang="en-US" sz="1500" b="1" dirty="0">
                <a:solidFill>
                  <a:srgbClr val="9A6A00"/>
                </a:solidFill>
                <a:latin typeface="Cambria" pitchFamily="34" charset="0"/>
                <a:ea typeface="Cambria" pitchFamily="34" charset="-122"/>
                <a:cs typeface="Cambria" pitchFamily="34" charset="-120"/>
              </a:rPr>
              <a:t>78.6% of pairs correlate</a:t>
            </a:r>
            <a:endParaRPr lang="en-US" sz="1500" dirty="0"/>
          </a:p>
        </p:txBody>
      </p:sp>
      <p:sp>
        <p:nvSpPr>
          <p:cNvPr id="26" name="Text 23"/>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500" i="1" dirty="0">
                <a:solidFill>
                  <a:srgbClr val="5B6B82"/>
                </a:solidFill>
                <a:latin typeface="Calibri" pitchFamily="34" charset="0"/>
                <a:ea typeface="Calibri" pitchFamily="34" charset="-122"/>
                <a:cs typeface="Calibri" pitchFamily="34" charset="-120"/>
              </a:rPr>
              <a:t>We choose each test by its question and assumptions, not by applying every formula mechanically.</a:t>
            </a:r>
            <a:endParaRPr lang="en-US" sz="1500" dirty="0"/>
          </a:p>
        </p:txBody>
      </p:sp>
      <p:sp>
        <p:nvSpPr>
          <p:cNvPr id="27" name="Text 24"/>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28" name="Text 25"/>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07  ·  DELIVERABLES</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From raw CSV to a reproducible analysis</a:t>
            </a:r>
            <a:endParaRPr lang="en-US" sz="3200" dirty="0"/>
          </a:p>
        </p:txBody>
      </p:sp>
      <p:sp>
        <p:nvSpPr>
          <p:cNvPr id="5" name="Shape 2"/>
          <p:cNvSpPr/>
          <p:nvPr/>
        </p:nvSpPr>
        <p:spPr>
          <a:xfrm>
            <a:off x="1051560" y="1783080"/>
            <a:ext cx="822960" cy="822960"/>
          </a:xfrm>
          <a:prstGeom prst="ellipse">
            <a:avLst/>
          </a:prstGeom>
          <a:solidFill>
            <a:srgbClr val="E0A526"/>
          </a:solidFill>
          <a:ln w="12700">
            <a:solidFill>
              <a:srgbClr val="FFFFFF">
                <a:alpha val="0"/>
              </a:srgbClr>
            </a:solidFill>
            <a:prstDash val="solid"/>
          </a:ln>
        </p:spPr>
      </p:sp>
      <p:sp>
        <p:nvSpPr>
          <p:cNvPr id="6" name="Text 3"/>
          <p:cNvSpPr txBox="1"/>
          <p:nvPr/>
        </p:nvSpPr>
        <p:spPr>
          <a:xfrm>
            <a:off x="1051560" y="1783080"/>
            <a:ext cx="822960" cy="822960"/>
          </a:xfrm>
          <a:prstGeom prst="rect">
            <a:avLst/>
          </a:prstGeom>
          <a:noFill/>
          <a:ln/>
        </p:spPr>
        <p:txBody>
          <a:bodyPr wrap="square" lIns="0" tIns="0" rIns="0" bIns="0" rtlCol="0" anchor="ctr"/>
          <a:lstStyle/>
          <a:p>
            <a:pPr algn="ctr" indent="0" marL="0">
              <a:buNone/>
            </a:pPr>
            <a:r>
              <a:rPr lang="en-US" sz="2400" b="1" dirty="0">
                <a:solidFill>
                  <a:srgbClr val="0B1F3A"/>
                </a:solidFill>
                <a:latin typeface="Cambria" pitchFamily="34" charset="0"/>
                <a:ea typeface="Cambria" pitchFamily="34" charset="-122"/>
                <a:cs typeface="Cambria" pitchFamily="34" charset="-120"/>
              </a:rPr>
              <a:t>1</a:t>
            </a:r>
            <a:endParaRPr lang="en-US" sz="2400" dirty="0"/>
          </a:p>
        </p:txBody>
      </p:sp>
      <p:sp>
        <p:nvSpPr>
          <p:cNvPr id="7" name="Text 4"/>
          <p:cNvSpPr txBox="1"/>
          <p:nvPr/>
        </p:nvSpPr>
        <p:spPr>
          <a:xfrm>
            <a:off x="548640" y="2788920"/>
            <a:ext cx="2011680" cy="64008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Load and validate the CSV</a:t>
            </a:r>
            <a:endParaRPr lang="en-US" sz="1500" dirty="0"/>
          </a:p>
        </p:txBody>
      </p:sp>
      <p:sp>
        <p:nvSpPr>
          <p:cNvPr id="8" name="Shape 5"/>
          <p:cNvSpPr/>
          <p:nvPr/>
        </p:nvSpPr>
        <p:spPr>
          <a:xfrm>
            <a:off x="3310128" y="1783080"/>
            <a:ext cx="822960" cy="822960"/>
          </a:xfrm>
          <a:prstGeom prst="ellipse">
            <a:avLst/>
          </a:prstGeom>
          <a:solidFill>
            <a:srgbClr val="2A9D8F"/>
          </a:solidFill>
          <a:ln w="12700">
            <a:solidFill>
              <a:srgbClr val="FFFFFF">
                <a:alpha val="0"/>
              </a:srgbClr>
            </a:solidFill>
            <a:prstDash val="solid"/>
          </a:ln>
        </p:spPr>
      </p:sp>
      <p:sp>
        <p:nvSpPr>
          <p:cNvPr id="9" name="Text 6"/>
          <p:cNvSpPr txBox="1"/>
          <p:nvPr/>
        </p:nvSpPr>
        <p:spPr>
          <a:xfrm>
            <a:off x="3310128" y="1783080"/>
            <a:ext cx="822960" cy="822960"/>
          </a:xfrm>
          <a:prstGeom prst="rect">
            <a:avLst/>
          </a:prstGeom>
          <a:noFill/>
          <a:ln/>
        </p:spPr>
        <p:txBody>
          <a:bodyPr wrap="square" lIns="0" tIns="0" rIns="0" bIns="0" rtlCol="0" anchor="ctr"/>
          <a:lstStyle/>
          <a:p>
            <a:pPr algn="ctr" indent="0" marL="0">
              <a:buNone/>
            </a:pPr>
            <a:r>
              <a:rPr lang="en-US" sz="2400" b="1" dirty="0">
                <a:solidFill>
                  <a:srgbClr val="0B1F3A"/>
                </a:solidFill>
                <a:latin typeface="Cambria" pitchFamily="34" charset="0"/>
                <a:ea typeface="Cambria" pitchFamily="34" charset="-122"/>
                <a:cs typeface="Cambria" pitchFamily="34" charset="-120"/>
              </a:rPr>
              <a:t>2</a:t>
            </a:r>
            <a:endParaRPr lang="en-US" sz="2400" dirty="0"/>
          </a:p>
        </p:txBody>
      </p:sp>
      <p:sp>
        <p:nvSpPr>
          <p:cNvPr id="10" name="Text 7"/>
          <p:cNvSpPr txBox="1"/>
          <p:nvPr/>
        </p:nvSpPr>
        <p:spPr>
          <a:xfrm>
            <a:off x="2807208" y="2788920"/>
            <a:ext cx="2011680" cy="64008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Clean and document gaps</a:t>
            </a:r>
            <a:endParaRPr lang="en-US" sz="1500" dirty="0"/>
          </a:p>
        </p:txBody>
      </p:sp>
      <p:sp>
        <p:nvSpPr>
          <p:cNvPr id="11" name="Shape 8"/>
          <p:cNvSpPr/>
          <p:nvPr/>
        </p:nvSpPr>
        <p:spPr>
          <a:xfrm>
            <a:off x="5568696" y="1783080"/>
            <a:ext cx="822960" cy="822960"/>
          </a:xfrm>
          <a:prstGeom prst="ellipse">
            <a:avLst/>
          </a:prstGeom>
          <a:solidFill>
            <a:srgbClr val="E0A526"/>
          </a:solidFill>
          <a:ln w="12700">
            <a:solidFill>
              <a:srgbClr val="FFFFFF">
                <a:alpha val="0"/>
              </a:srgbClr>
            </a:solidFill>
            <a:prstDash val="solid"/>
          </a:ln>
        </p:spPr>
      </p:sp>
      <p:sp>
        <p:nvSpPr>
          <p:cNvPr id="12" name="Text 9"/>
          <p:cNvSpPr txBox="1"/>
          <p:nvPr/>
        </p:nvSpPr>
        <p:spPr>
          <a:xfrm>
            <a:off x="5568696" y="1783080"/>
            <a:ext cx="822960" cy="822960"/>
          </a:xfrm>
          <a:prstGeom prst="rect">
            <a:avLst/>
          </a:prstGeom>
          <a:noFill/>
          <a:ln/>
        </p:spPr>
        <p:txBody>
          <a:bodyPr wrap="square" lIns="0" tIns="0" rIns="0" bIns="0" rtlCol="0" anchor="ctr"/>
          <a:lstStyle/>
          <a:p>
            <a:pPr algn="ctr" indent="0" marL="0">
              <a:buNone/>
            </a:pPr>
            <a:r>
              <a:rPr lang="en-US" sz="2400" b="1" dirty="0">
                <a:solidFill>
                  <a:srgbClr val="0B1F3A"/>
                </a:solidFill>
                <a:latin typeface="Cambria" pitchFamily="34" charset="0"/>
                <a:ea typeface="Cambria" pitchFamily="34" charset="-122"/>
                <a:cs typeface="Cambria" pitchFamily="34" charset="-120"/>
              </a:rPr>
              <a:t>3</a:t>
            </a:r>
            <a:endParaRPr lang="en-US" sz="2400" dirty="0"/>
          </a:p>
        </p:txBody>
      </p:sp>
      <p:sp>
        <p:nvSpPr>
          <p:cNvPr id="13" name="Text 10"/>
          <p:cNvSpPr txBox="1"/>
          <p:nvPr/>
        </p:nvSpPr>
        <p:spPr>
          <a:xfrm>
            <a:off x="5065776" y="2788920"/>
            <a:ext cx="2011680" cy="64008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Run reproducible analyses</a:t>
            </a:r>
            <a:endParaRPr lang="en-US" sz="1500" dirty="0"/>
          </a:p>
        </p:txBody>
      </p:sp>
      <p:sp>
        <p:nvSpPr>
          <p:cNvPr id="14" name="Shape 11"/>
          <p:cNvSpPr/>
          <p:nvPr/>
        </p:nvSpPr>
        <p:spPr>
          <a:xfrm>
            <a:off x="7827264" y="1783080"/>
            <a:ext cx="822960" cy="822960"/>
          </a:xfrm>
          <a:prstGeom prst="ellipse">
            <a:avLst/>
          </a:prstGeom>
          <a:solidFill>
            <a:srgbClr val="2A9D8F"/>
          </a:solidFill>
          <a:ln w="12700">
            <a:solidFill>
              <a:srgbClr val="FFFFFF">
                <a:alpha val="0"/>
              </a:srgbClr>
            </a:solidFill>
            <a:prstDash val="solid"/>
          </a:ln>
        </p:spPr>
      </p:sp>
      <p:sp>
        <p:nvSpPr>
          <p:cNvPr id="15" name="Text 12"/>
          <p:cNvSpPr txBox="1"/>
          <p:nvPr/>
        </p:nvSpPr>
        <p:spPr>
          <a:xfrm>
            <a:off x="7827264" y="1783080"/>
            <a:ext cx="822960" cy="822960"/>
          </a:xfrm>
          <a:prstGeom prst="rect">
            <a:avLst/>
          </a:prstGeom>
          <a:noFill/>
          <a:ln/>
        </p:spPr>
        <p:txBody>
          <a:bodyPr wrap="square" lIns="0" tIns="0" rIns="0" bIns="0" rtlCol="0" anchor="ctr"/>
          <a:lstStyle/>
          <a:p>
            <a:pPr algn="ctr" indent="0" marL="0">
              <a:buNone/>
            </a:pPr>
            <a:r>
              <a:rPr lang="en-US" sz="2400" b="1" dirty="0">
                <a:solidFill>
                  <a:srgbClr val="0B1F3A"/>
                </a:solidFill>
                <a:latin typeface="Cambria" pitchFamily="34" charset="0"/>
                <a:ea typeface="Cambria" pitchFamily="34" charset="-122"/>
                <a:cs typeface="Cambria" pitchFamily="34" charset="-120"/>
              </a:rPr>
              <a:t>4</a:t>
            </a:r>
            <a:endParaRPr lang="en-US" sz="2400" dirty="0"/>
          </a:p>
        </p:txBody>
      </p:sp>
      <p:sp>
        <p:nvSpPr>
          <p:cNvPr id="16" name="Text 13"/>
          <p:cNvSpPr txBox="1"/>
          <p:nvPr/>
        </p:nvSpPr>
        <p:spPr>
          <a:xfrm>
            <a:off x="7324344" y="2788920"/>
            <a:ext cx="2011680" cy="64008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Export tables and figures</a:t>
            </a:r>
            <a:endParaRPr lang="en-US" sz="1500" dirty="0"/>
          </a:p>
        </p:txBody>
      </p:sp>
      <p:sp>
        <p:nvSpPr>
          <p:cNvPr id="17" name="Shape 14"/>
          <p:cNvSpPr/>
          <p:nvPr/>
        </p:nvSpPr>
        <p:spPr>
          <a:xfrm>
            <a:off x="10085832" y="1783080"/>
            <a:ext cx="822960" cy="822960"/>
          </a:xfrm>
          <a:prstGeom prst="ellipse">
            <a:avLst/>
          </a:prstGeom>
          <a:solidFill>
            <a:srgbClr val="E0A526"/>
          </a:solidFill>
          <a:ln w="12700">
            <a:solidFill>
              <a:srgbClr val="FFFFFF">
                <a:alpha val="0"/>
              </a:srgbClr>
            </a:solidFill>
            <a:prstDash val="solid"/>
          </a:ln>
        </p:spPr>
      </p:sp>
      <p:sp>
        <p:nvSpPr>
          <p:cNvPr id="18" name="Text 15"/>
          <p:cNvSpPr txBox="1"/>
          <p:nvPr/>
        </p:nvSpPr>
        <p:spPr>
          <a:xfrm>
            <a:off x="10085832" y="1783080"/>
            <a:ext cx="822960" cy="822960"/>
          </a:xfrm>
          <a:prstGeom prst="rect">
            <a:avLst/>
          </a:prstGeom>
          <a:noFill/>
          <a:ln/>
        </p:spPr>
        <p:txBody>
          <a:bodyPr wrap="square" lIns="0" tIns="0" rIns="0" bIns="0" rtlCol="0" anchor="ctr"/>
          <a:lstStyle/>
          <a:p>
            <a:pPr algn="ctr" indent="0" marL="0">
              <a:buNone/>
            </a:pPr>
            <a:r>
              <a:rPr lang="en-US" sz="2400" b="1" dirty="0">
                <a:solidFill>
                  <a:srgbClr val="0B1F3A"/>
                </a:solidFill>
                <a:latin typeface="Cambria" pitchFamily="34" charset="0"/>
                <a:ea typeface="Cambria" pitchFamily="34" charset="-122"/>
                <a:cs typeface="Cambria" pitchFamily="34" charset="-120"/>
              </a:rPr>
              <a:t>5</a:t>
            </a:r>
            <a:endParaRPr lang="en-US" sz="2400" dirty="0"/>
          </a:p>
        </p:txBody>
      </p:sp>
      <p:sp>
        <p:nvSpPr>
          <p:cNvPr id="19" name="Text 16"/>
          <p:cNvSpPr txBox="1"/>
          <p:nvPr/>
        </p:nvSpPr>
        <p:spPr>
          <a:xfrm>
            <a:off x="9582912" y="2788920"/>
            <a:ext cx="2011680" cy="64008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Report and dashboard</a:t>
            </a:r>
            <a:endParaRPr lang="en-US" sz="1500" dirty="0"/>
          </a:p>
        </p:txBody>
      </p:sp>
      <p:sp>
        <p:nvSpPr>
          <p:cNvPr id="20" name="Shape 17"/>
          <p:cNvSpPr/>
          <p:nvPr/>
        </p:nvSpPr>
        <p:spPr>
          <a:xfrm>
            <a:off x="548640" y="3749040"/>
            <a:ext cx="5394960" cy="2377440"/>
          </a:xfrm>
          <a:prstGeom prst="rect">
            <a:avLst/>
          </a:prstGeom>
          <a:solidFill>
            <a:srgbClr val="EEF3FA"/>
          </a:solidFill>
          <a:ln w="12700">
            <a:solidFill>
              <a:srgbClr val="FFFFFF">
                <a:alpha val="0"/>
              </a:srgbClr>
            </a:solidFill>
            <a:prstDash val="solid"/>
          </a:ln>
        </p:spPr>
      </p:sp>
      <p:sp>
        <p:nvSpPr>
          <p:cNvPr id="21" name="Text 18"/>
          <p:cNvSpPr txBox="1"/>
          <p:nvPr/>
        </p:nvSpPr>
        <p:spPr>
          <a:xfrm>
            <a:off x="822960" y="3931920"/>
            <a:ext cx="4846320" cy="36576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Proposed dashboard views</a:t>
            </a:r>
            <a:endParaRPr lang="en-US" sz="1800" dirty="0"/>
          </a:p>
        </p:txBody>
      </p:sp>
      <p:sp>
        <p:nvSpPr>
          <p:cNvPr id="22" name="Text 19"/>
          <p:cNvSpPr txBox="1"/>
          <p:nvPr/>
        </p:nvSpPr>
        <p:spPr>
          <a:xfrm>
            <a:off x="822960" y="4389120"/>
            <a:ext cx="493776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Overview of seasonality</a:t>
            </a:r>
            <a:endParaRPr lang="en-US" sz="1500" dirty="0"/>
          </a:p>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Regional mean rainfall and CV</a:t>
            </a:r>
            <a:endParaRPr lang="en-US" sz="1500" dirty="0"/>
          </a:p>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Observed vs candidate distributions</a:t>
            </a:r>
            <a:endParaRPr lang="en-US" sz="1500" dirty="0"/>
          </a:p>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Trend estimates with adjusted significance</a:t>
            </a:r>
            <a:endParaRPr lang="en-US" sz="1500" dirty="0"/>
          </a:p>
        </p:txBody>
      </p:sp>
      <p:sp>
        <p:nvSpPr>
          <p:cNvPr id="23" name="Shape 20"/>
          <p:cNvSpPr/>
          <p:nvPr/>
        </p:nvSpPr>
        <p:spPr>
          <a:xfrm>
            <a:off x="6245352" y="3749040"/>
            <a:ext cx="5394960" cy="2377440"/>
          </a:xfrm>
          <a:prstGeom prst="rect">
            <a:avLst/>
          </a:prstGeom>
          <a:solidFill>
            <a:srgbClr val="EEF3FA"/>
          </a:solidFill>
          <a:ln w="12700">
            <a:solidFill>
              <a:srgbClr val="FFFFFF">
                <a:alpha val="0"/>
              </a:srgbClr>
            </a:solidFill>
            <a:prstDash val="solid"/>
          </a:ln>
        </p:spPr>
      </p:sp>
      <p:sp>
        <p:nvSpPr>
          <p:cNvPr id="24" name="Text 21"/>
          <p:cNvSpPr txBox="1"/>
          <p:nvPr/>
        </p:nvSpPr>
        <p:spPr>
          <a:xfrm>
            <a:off x="6519672" y="3931920"/>
            <a:ext cx="4846320" cy="36576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Tools</a:t>
            </a:r>
            <a:endParaRPr lang="en-US" sz="1800" dirty="0"/>
          </a:p>
        </p:txBody>
      </p:sp>
      <p:sp>
        <p:nvSpPr>
          <p:cNvPr id="25" name="Text 22"/>
          <p:cNvSpPr txBox="1"/>
          <p:nvPr/>
        </p:nvSpPr>
        <p:spPr>
          <a:xfrm>
            <a:off x="6519672" y="4389120"/>
            <a:ext cx="493776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R / RStudio or Python for analysis and plots</a:t>
            </a:r>
            <a:endParaRPr lang="en-US" sz="1500" dirty="0"/>
          </a:p>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CSV for data and results</a:t>
            </a:r>
            <a:endParaRPr lang="en-US" sz="1500" dirty="0"/>
          </a:p>
          <a:p>
            <a:pPr marL="342900" indent="-342900">
              <a:spcAft>
                <a:spcPts val="800"/>
              </a:spcAft>
              <a:buSzPct val="100000"/>
              <a:buChar char="•"/>
            </a:pPr>
            <a:r>
              <a:rPr lang="en-US" sz="1500" dirty="0">
                <a:solidFill>
                  <a:srgbClr val="1E2A3A"/>
                </a:solidFill>
                <a:latin typeface="Calibri" pitchFamily="34" charset="0"/>
                <a:ea typeface="Calibri" pitchFamily="34" charset="-122"/>
                <a:cs typeface="Calibri" pitchFamily="34" charset="-120"/>
              </a:rPr>
              <a:t>GitHub for code and version history</a:t>
            </a:r>
            <a:endParaRPr lang="en-US" sz="1500" dirty="0"/>
          </a:p>
        </p:txBody>
      </p:sp>
      <p:sp>
        <p:nvSpPr>
          <p:cNvPr id="26" name="Text 23"/>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27" name="Text 24"/>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pic>
        <p:nvPicPr>
          <p:cNvPr id="2" name="Image 0" descr="/tmp/claude-0/-home-claude/0196e6ba-4d85-5f5a-a499-44437a1ee410/scratchpad/bell_dark.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E0A526"/>
                </a:solidFill>
                <a:latin typeface="Calibri" pitchFamily="34" charset="0"/>
                <a:ea typeface="Calibri" pitchFamily="34" charset="-122"/>
                <a:cs typeface="Calibri" pitchFamily="34" charset="-120"/>
              </a:rPr>
              <a:t>SUMMARY</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Five things the data already tells us</a:t>
            </a:r>
            <a:endParaRPr lang="en-US" sz="3200" dirty="0"/>
          </a:p>
        </p:txBody>
      </p:sp>
      <p:sp>
        <p:nvSpPr>
          <p:cNvPr id="5" name="Shape 2"/>
          <p:cNvSpPr/>
          <p:nvPr/>
        </p:nvSpPr>
        <p:spPr>
          <a:xfrm>
            <a:off x="548640" y="1691640"/>
            <a:ext cx="11091672" cy="777240"/>
          </a:xfrm>
          <a:prstGeom prst="rect">
            <a:avLst/>
          </a:prstGeom>
          <a:solidFill>
            <a:srgbClr val="16305A"/>
          </a:solidFill>
          <a:ln w="12700">
            <a:solidFill>
              <a:srgbClr val="FFFFFF">
                <a:alpha val="0"/>
              </a:srgbClr>
            </a:solidFill>
            <a:prstDash val="solid"/>
          </a:ln>
        </p:spPr>
      </p:sp>
      <p:sp>
        <p:nvSpPr>
          <p:cNvPr id="6" name="Shape 3"/>
          <p:cNvSpPr/>
          <p:nvPr/>
        </p:nvSpPr>
        <p:spPr>
          <a:xfrm>
            <a:off x="777240" y="1828800"/>
            <a:ext cx="502920" cy="502920"/>
          </a:xfrm>
          <a:prstGeom prst="ellipse">
            <a:avLst/>
          </a:prstGeom>
          <a:solidFill>
            <a:srgbClr val="E0A526"/>
          </a:solidFill>
          <a:ln w="12700">
            <a:solidFill>
              <a:srgbClr val="FFFFFF">
                <a:alpha val="0"/>
              </a:srgbClr>
            </a:solidFill>
            <a:prstDash val="solid"/>
          </a:ln>
        </p:spPr>
      </p:sp>
      <p:sp>
        <p:nvSpPr>
          <p:cNvPr id="7" name="Text 4"/>
          <p:cNvSpPr txBox="1"/>
          <p:nvPr/>
        </p:nvSpPr>
        <p:spPr>
          <a:xfrm>
            <a:off x="777240" y="1828800"/>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1508760" y="1691640"/>
            <a:ext cx="329184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Rain is concentrated</a:t>
            </a:r>
            <a:endParaRPr lang="en-US" sz="1800" dirty="0"/>
          </a:p>
        </p:txBody>
      </p:sp>
      <p:sp>
        <p:nvSpPr>
          <p:cNvPr id="9" name="Text 6"/>
          <p:cNvSpPr txBox="1"/>
          <p:nvPr/>
        </p:nvSpPr>
        <p:spPr>
          <a:xfrm>
            <a:off x="4892040" y="1691640"/>
            <a:ext cx="6583680" cy="777240"/>
          </a:xfrm>
          <a:prstGeom prst="rect">
            <a:avLst/>
          </a:prstGeom>
          <a:noFill/>
          <a:ln/>
        </p:spPr>
        <p:txBody>
          <a:bodyPr wrap="square" lIns="0" tIns="0" rIns="0" bIns="0" rtlCol="0" anchor="ctr"/>
          <a:lstStyle/>
          <a:p>
            <a:pPr indent="0" marL="0">
              <a:buNone/>
            </a:pPr>
            <a:r>
              <a:rPr lang="en-US" sz="1500" dirty="0">
                <a:solidFill>
                  <a:srgbClr val="C9D6EA"/>
                </a:solidFill>
                <a:latin typeface="Calibri" pitchFamily="34" charset="0"/>
                <a:ea typeface="Calibri" pitchFamily="34" charset="-122"/>
                <a:cs typeface="Calibri" pitchFamily="34" charset="-120"/>
              </a:rPr>
              <a:t>75.2% falls in June–September; month alone explains 41% of the variance.</a:t>
            </a:r>
            <a:endParaRPr lang="en-US" sz="1500" dirty="0"/>
          </a:p>
        </p:txBody>
      </p:sp>
      <p:sp>
        <p:nvSpPr>
          <p:cNvPr id="10" name="Shape 7"/>
          <p:cNvSpPr/>
          <p:nvPr/>
        </p:nvSpPr>
        <p:spPr>
          <a:xfrm>
            <a:off x="548640" y="2578608"/>
            <a:ext cx="11091672" cy="777240"/>
          </a:xfrm>
          <a:prstGeom prst="rect">
            <a:avLst/>
          </a:prstGeom>
          <a:solidFill>
            <a:srgbClr val="16305A"/>
          </a:solidFill>
          <a:ln w="12700">
            <a:solidFill>
              <a:srgbClr val="FFFFFF">
                <a:alpha val="0"/>
              </a:srgbClr>
            </a:solidFill>
            <a:prstDash val="solid"/>
          </a:ln>
        </p:spPr>
      </p:sp>
      <p:sp>
        <p:nvSpPr>
          <p:cNvPr id="11" name="Shape 8"/>
          <p:cNvSpPr/>
          <p:nvPr/>
        </p:nvSpPr>
        <p:spPr>
          <a:xfrm>
            <a:off x="777240" y="2715768"/>
            <a:ext cx="502920" cy="502920"/>
          </a:xfrm>
          <a:prstGeom prst="ellipse">
            <a:avLst/>
          </a:prstGeom>
          <a:solidFill>
            <a:srgbClr val="E0A526"/>
          </a:solidFill>
          <a:ln w="12700">
            <a:solidFill>
              <a:srgbClr val="FFFFFF">
                <a:alpha val="0"/>
              </a:srgbClr>
            </a:solidFill>
            <a:prstDash val="solid"/>
          </a:ln>
        </p:spPr>
      </p:sp>
      <p:sp>
        <p:nvSpPr>
          <p:cNvPr id="12" name="Text 9"/>
          <p:cNvSpPr txBox="1"/>
          <p:nvPr/>
        </p:nvSpPr>
        <p:spPr>
          <a:xfrm>
            <a:off x="777240" y="2715768"/>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2</a:t>
            </a:r>
            <a:endParaRPr lang="en-US" sz="1600" dirty="0"/>
          </a:p>
        </p:txBody>
      </p:sp>
      <p:sp>
        <p:nvSpPr>
          <p:cNvPr id="13" name="Text 10"/>
          <p:cNvSpPr txBox="1"/>
          <p:nvPr/>
        </p:nvSpPr>
        <p:spPr>
          <a:xfrm>
            <a:off x="1508760" y="2578608"/>
            <a:ext cx="329184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Regions differ sharply</a:t>
            </a:r>
            <a:endParaRPr lang="en-US" sz="1800" dirty="0"/>
          </a:p>
        </p:txBody>
      </p:sp>
      <p:sp>
        <p:nvSpPr>
          <p:cNvPr id="14" name="Text 11"/>
          <p:cNvSpPr txBox="1"/>
          <p:nvPr/>
        </p:nvSpPr>
        <p:spPr>
          <a:xfrm>
            <a:off x="4892040" y="2578608"/>
            <a:ext cx="6583680" cy="777240"/>
          </a:xfrm>
          <a:prstGeom prst="rect">
            <a:avLst/>
          </a:prstGeom>
          <a:noFill/>
          <a:ln/>
        </p:spPr>
        <p:txBody>
          <a:bodyPr wrap="square" lIns="0" tIns="0" rIns="0" bIns="0" rtlCol="0" anchor="ctr"/>
          <a:lstStyle/>
          <a:p>
            <a:pPr indent="0" marL="0">
              <a:buNone/>
            </a:pPr>
            <a:r>
              <a:rPr lang="en-US" sz="1500" dirty="0">
                <a:solidFill>
                  <a:srgbClr val="C9D6EA"/>
                </a:solidFill>
                <a:latin typeface="Calibri" pitchFamily="34" charset="0"/>
                <a:ea typeface="Calibri" pitchFamily="34" charset="-122"/>
                <a:cs typeface="Calibri" pitchFamily="34" charset="-120"/>
              </a:rPr>
              <a:t>Region explains 87% of monsoon variance; annual CV runs from 12% to 41%.</a:t>
            </a:r>
            <a:endParaRPr lang="en-US" sz="1500" dirty="0"/>
          </a:p>
        </p:txBody>
      </p:sp>
      <p:sp>
        <p:nvSpPr>
          <p:cNvPr id="15" name="Shape 12"/>
          <p:cNvSpPr/>
          <p:nvPr/>
        </p:nvSpPr>
        <p:spPr>
          <a:xfrm>
            <a:off x="548640" y="3465576"/>
            <a:ext cx="11091672" cy="777240"/>
          </a:xfrm>
          <a:prstGeom prst="rect">
            <a:avLst/>
          </a:prstGeom>
          <a:solidFill>
            <a:srgbClr val="16305A"/>
          </a:solidFill>
          <a:ln w="12700">
            <a:solidFill>
              <a:srgbClr val="FFFFFF">
                <a:alpha val="0"/>
              </a:srgbClr>
            </a:solidFill>
            <a:prstDash val="solid"/>
          </a:ln>
        </p:spPr>
      </p:sp>
      <p:sp>
        <p:nvSpPr>
          <p:cNvPr id="16" name="Shape 13"/>
          <p:cNvSpPr/>
          <p:nvPr/>
        </p:nvSpPr>
        <p:spPr>
          <a:xfrm>
            <a:off x="777240" y="3602736"/>
            <a:ext cx="502920" cy="502920"/>
          </a:xfrm>
          <a:prstGeom prst="ellipse">
            <a:avLst/>
          </a:prstGeom>
          <a:solidFill>
            <a:srgbClr val="E0A526"/>
          </a:solidFill>
          <a:ln w="12700">
            <a:solidFill>
              <a:srgbClr val="FFFFFF">
                <a:alpha val="0"/>
              </a:srgbClr>
            </a:solidFill>
            <a:prstDash val="solid"/>
          </a:ln>
        </p:spPr>
      </p:sp>
      <p:sp>
        <p:nvSpPr>
          <p:cNvPr id="17" name="Text 14"/>
          <p:cNvSpPr txBox="1"/>
          <p:nvPr/>
        </p:nvSpPr>
        <p:spPr>
          <a:xfrm>
            <a:off x="777240" y="3602736"/>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3</a:t>
            </a:r>
            <a:endParaRPr lang="en-US" sz="1600" dirty="0"/>
          </a:p>
        </p:txBody>
      </p:sp>
      <p:sp>
        <p:nvSpPr>
          <p:cNvPr id="18" name="Text 15"/>
          <p:cNvSpPr txBox="1"/>
          <p:nvPr/>
        </p:nvSpPr>
        <p:spPr>
          <a:xfrm>
            <a:off x="1508760" y="3465576"/>
            <a:ext cx="329184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Normal is the wrong model</a:t>
            </a:r>
            <a:endParaRPr lang="en-US" sz="1800" dirty="0"/>
          </a:p>
        </p:txBody>
      </p:sp>
      <p:sp>
        <p:nvSpPr>
          <p:cNvPr id="19" name="Text 16"/>
          <p:cNvSpPr txBox="1"/>
          <p:nvPr/>
        </p:nvSpPr>
        <p:spPr>
          <a:xfrm>
            <a:off x="4892040" y="3465576"/>
            <a:ext cx="6583680" cy="777240"/>
          </a:xfrm>
          <a:prstGeom prst="rect">
            <a:avLst/>
          </a:prstGeom>
          <a:noFill/>
          <a:ln/>
        </p:spPr>
        <p:txBody>
          <a:bodyPr wrap="square" lIns="0" tIns="0" rIns="0" bIns="0" rtlCol="0" anchor="ctr"/>
          <a:lstStyle/>
          <a:p>
            <a:pPr indent="0" marL="0">
              <a:buNone/>
            </a:pPr>
            <a:r>
              <a:rPr lang="en-US" sz="1500" dirty="0">
                <a:solidFill>
                  <a:srgbClr val="C9D6EA"/>
                </a:solidFill>
                <a:latin typeface="Calibri" pitchFamily="34" charset="0"/>
                <a:ea typeface="Calibri" pitchFamily="34" charset="-122"/>
                <a:cs typeface="Calibri" pitchFamily="34" charset="-120"/>
              </a:rPr>
              <a:t>Monsoon totals are right-skewed; Gamma and Lognormal fit far better.</a:t>
            </a:r>
            <a:endParaRPr lang="en-US" sz="1500" dirty="0"/>
          </a:p>
        </p:txBody>
      </p:sp>
      <p:sp>
        <p:nvSpPr>
          <p:cNvPr id="20" name="Shape 17"/>
          <p:cNvSpPr/>
          <p:nvPr/>
        </p:nvSpPr>
        <p:spPr>
          <a:xfrm>
            <a:off x="548640" y="4352544"/>
            <a:ext cx="11091672" cy="777240"/>
          </a:xfrm>
          <a:prstGeom prst="rect">
            <a:avLst/>
          </a:prstGeom>
          <a:solidFill>
            <a:srgbClr val="16305A"/>
          </a:solidFill>
          <a:ln w="12700">
            <a:solidFill>
              <a:srgbClr val="FFFFFF">
                <a:alpha val="0"/>
              </a:srgbClr>
            </a:solidFill>
            <a:prstDash val="solid"/>
          </a:ln>
        </p:spPr>
      </p:sp>
      <p:sp>
        <p:nvSpPr>
          <p:cNvPr id="21" name="Shape 18"/>
          <p:cNvSpPr/>
          <p:nvPr/>
        </p:nvSpPr>
        <p:spPr>
          <a:xfrm>
            <a:off x="777240" y="4489704"/>
            <a:ext cx="502920" cy="502920"/>
          </a:xfrm>
          <a:prstGeom prst="ellipse">
            <a:avLst/>
          </a:prstGeom>
          <a:solidFill>
            <a:srgbClr val="E0A526"/>
          </a:solidFill>
          <a:ln w="12700">
            <a:solidFill>
              <a:srgbClr val="FFFFFF">
                <a:alpha val="0"/>
              </a:srgbClr>
            </a:solidFill>
            <a:prstDash val="solid"/>
          </a:ln>
        </p:spPr>
      </p:sp>
      <p:sp>
        <p:nvSpPr>
          <p:cNvPr id="22" name="Text 19"/>
          <p:cNvSpPr txBox="1"/>
          <p:nvPr/>
        </p:nvSpPr>
        <p:spPr>
          <a:xfrm>
            <a:off x="777240" y="4489704"/>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4</a:t>
            </a:r>
            <a:endParaRPr lang="en-US" sz="1600" dirty="0"/>
          </a:p>
        </p:txBody>
      </p:sp>
      <p:sp>
        <p:nvSpPr>
          <p:cNvPr id="23" name="Text 20"/>
          <p:cNvSpPr txBox="1"/>
          <p:nvPr/>
        </p:nvSpPr>
        <p:spPr>
          <a:xfrm>
            <a:off x="1508760" y="4352544"/>
            <a:ext cx="329184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Trends need caution</a:t>
            </a:r>
            <a:endParaRPr lang="en-US" sz="1800" dirty="0"/>
          </a:p>
        </p:txBody>
      </p:sp>
      <p:sp>
        <p:nvSpPr>
          <p:cNvPr id="24" name="Text 21"/>
          <p:cNvSpPr txBox="1"/>
          <p:nvPr/>
        </p:nvSpPr>
        <p:spPr>
          <a:xfrm>
            <a:off x="4892040" y="4352544"/>
            <a:ext cx="6583680" cy="777240"/>
          </a:xfrm>
          <a:prstGeom prst="rect">
            <a:avLst/>
          </a:prstGeom>
          <a:noFill/>
          <a:ln/>
        </p:spPr>
        <p:txBody>
          <a:bodyPr wrap="square" lIns="0" tIns="0" rIns="0" bIns="0" rtlCol="0" anchor="ctr"/>
          <a:lstStyle/>
          <a:p>
            <a:pPr indent="0" marL="0">
              <a:buNone/>
            </a:pPr>
            <a:r>
              <a:rPr lang="en-US" sz="1500" dirty="0">
                <a:solidFill>
                  <a:srgbClr val="C9D6EA"/>
                </a:solidFill>
                <a:latin typeface="Calibri" pitchFamily="34" charset="0"/>
                <a:ea typeface="Calibri" pitchFamily="34" charset="-122"/>
                <a:cs typeface="Calibri" pitchFamily="34" charset="-120"/>
              </a:rPr>
              <a:t>16 of 36 trends look significant, but only 9 survive correction.</a:t>
            </a:r>
            <a:endParaRPr lang="en-US" sz="1500" dirty="0"/>
          </a:p>
        </p:txBody>
      </p:sp>
      <p:sp>
        <p:nvSpPr>
          <p:cNvPr id="25" name="Shape 22"/>
          <p:cNvSpPr/>
          <p:nvPr/>
        </p:nvSpPr>
        <p:spPr>
          <a:xfrm>
            <a:off x="548640" y="5239512"/>
            <a:ext cx="11091672" cy="777240"/>
          </a:xfrm>
          <a:prstGeom prst="rect">
            <a:avLst/>
          </a:prstGeom>
          <a:solidFill>
            <a:srgbClr val="16305A"/>
          </a:solidFill>
          <a:ln w="12700">
            <a:solidFill>
              <a:srgbClr val="FFFFFF">
                <a:alpha val="0"/>
              </a:srgbClr>
            </a:solidFill>
            <a:prstDash val="solid"/>
          </a:ln>
        </p:spPr>
      </p:sp>
      <p:sp>
        <p:nvSpPr>
          <p:cNvPr id="26" name="Shape 23"/>
          <p:cNvSpPr/>
          <p:nvPr/>
        </p:nvSpPr>
        <p:spPr>
          <a:xfrm>
            <a:off x="777240" y="5376672"/>
            <a:ext cx="502920" cy="502920"/>
          </a:xfrm>
          <a:prstGeom prst="ellipse">
            <a:avLst/>
          </a:prstGeom>
          <a:solidFill>
            <a:srgbClr val="E0A526"/>
          </a:solidFill>
          <a:ln w="12700">
            <a:solidFill>
              <a:srgbClr val="FFFFFF">
                <a:alpha val="0"/>
              </a:srgbClr>
            </a:solidFill>
            <a:prstDash val="solid"/>
          </a:ln>
        </p:spPr>
      </p:sp>
      <p:sp>
        <p:nvSpPr>
          <p:cNvPr id="27" name="Text 24"/>
          <p:cNvSpPr txBox="1"/>
          <p:nvPr/>
        </p:nvSpPr>
        <p:spPr>
          <a:xfrm>
            <a:off x="777240" y="5376672"/>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5</a:t>
            </a:r>
            <a:endParaRPr lang="en-US" sz="1600" dirty="0"/>
          </a:p>
        </p:txBody>
      </p:sp>
      <p:sp>
        <p:nvSpPr>
          <p:cNvPr id="28" name="Text 25"/>
          <p:cNvSpPr txBox="1"/>
          <p:nvPr/>
        </p:nvSpPr>
        <p:spPr>
          <a:xfrm>
            <a:off x="1508760" y="5239512"/>
            <a:ext cx="329184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Drought risk is local</a:t>
            </a:r>
            <a:endParaRPr lang="en-US" sz="1800" dirty="0"/>
          </a:p>
        </p:txBody>
      </p:sp>
      <p:sp>
        <p:nvSpPr>
          <p:cNvPr id="29" name="Text 26"/>
          <p:cNvSpPr txBox="1"/>
          <p:nvPr/>
        </p:nvSpPr>
        <p:spPr>
          <a:xfrm>
            <a:off x="4892040" y="5239512"/>
            <a:ext cx="6583680" cy="777240"/>
          </a:xfrm>
          <a:prstGeom prst="rect">
            <a:avLst/>
          </a:prstGeom>
          <a:noFill/>
          <a:ln/>
        </p:spPr>
        <p:txBody>
          <a:bodyPr wrap="square" lIns="0" tIns="0" rIns="0" bIns="0" rtlCol="0" anchor="ctr"/>
          <a:lstStyle/>
          <a:p>
            <a:pPr indent="0" marL="0">
              <a:buNone/>
            </a:pPr>
            <a:r>
              <a:rPr lang="en-US" sz="1500" dirty="0">
                <a:solidFill>
                  <a:srgbClr val="C9D6EA"/>
                </a:solidFill>
                <a:latin typeface="Calibri" pitchFamily="34" charset="0"/>
                <a:ea typeface="Calibri" pitchFamily="34" charset="-122"/>
                <a:cs typeface="Calibri" pitchFamily="34" charset="-120"/>
              </a:rPr>
              <a:t>A 1-in-20-year deficit is 47.6% of normal in West Rajasthan, 77.8% in Kerala.</a:t>
            </a:r>
            <a:endParaRPr lang="en-US" sz="1500" dirty="0"/>
          </a:p>
        </p:txBody>
      </p:sp>
      <p:sp>
        <p:nvSpPr>
          <p:cNvPr id="30" name="Text 27"/>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C9D6EA"/>
                </a:solidFill>
                <a:latin typeface="Calibri" pitchFamily="34" charset="0"/>
                <a:ea typeface="Calibri" pitchFamily="34" charset="-122"/>
                <a:cs typeface="Calibri" pitchFamily="34" charset="-120"/>
              </a:rPr>
              <a:t>VARSA  ·  Probability &amp; Statistics  ·  BAMAT207</a:t>
            </a:r>
            <a:endParaRPr lang="en-US" sz="1000" dirty="0"/>
          </a:p>
        </p:txBody>
      </p:sp>
      <p:sp>
        <p:nvSpPr>
          <p:cNvPr id="31" name="Text 28"/>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C9D6E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08  ·  STATUS</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Limits and next steps</a:t>
            </a:r>
            <a:endParaRPr lang="en-US" sz="3200" dirty="0"/>
          </a:p>
        </p:txBody>
      </p:sp>
      <p:sp>
        <p:nvSpPr>
          <p:cNvPr id="5" name="Text 2"/>
          <p:cNvSpPr txBox="1"/>
          <p:nvPr/>
        </p:nvSpPr>
        <p:spPr>
          <a:xfrm>
            <a:off x="548640" y="1737360"/>
            <a:ext cx="5120640" cy="411480"/>
          </a:xfrm>
          <a:prstGeom prst="rect">
            <a:avLst/>
          </a:prstGeom>
          <a:noFill/>
          <a:ln/>
        </p:spPr>
        <p:txBody>
          <a:bodyPr wrap="square" lIns="0" tIns="0" rIns="0" bIns="0" rtlCol="0" anchor="t"/>
          <a:lstStyle/>
          <a:p>
            <a:pPr indent="0" marL="0">
              <a:buNone/>
            </a:pPr>
            <a:r>
              <a:rPr lang="en-US" sz="2000" b="1" dirty="0">
                <a:solidFill>
                  <a:srgbClr val="0B1F3A"/>
                </a:solidFill>
                <a:latin typeface="Cambria" pitchFamily="34" charset="0"/>
                <a:ea typeface="Cambria" pitchFamily="34" charset="-122"/>
                <a:cs typeface="Cambria" pitchFamily="34" charset="-120"/>
              </a:rPr>
              <a:t>Limitations</a:t>
            </a:r>
            <a:endParaRPr lang="en-US" sz="2000" dirty="0"/>
          </a:p>
        </p:txBody>
      </p:sp>
      <p:sp>
        <p:nvSpPr>
          <p:cNvPr id="6" name="Text 3"/>
          <p:cNvSpPr txBox="1"/>
          <p:nvPr/>
        </p:nvSpPr>
        <p:spPr>
          <a:xfrm>
            <a:off x="548640" y="2240280"/>
            <a:ext cx="512064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Data ends in 2015 and is historical, not real-time</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Resolution is 36 subdivisions, not districts</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Monthly and annual aggregates cannot show daily extremes</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Trend results depend on the 1901–2015 window and on linear models</a:t>
            </a:r>
            <a:endParaRPr lang="en-US" sz="1600" dirty="0"/>
          </a:p>
          <a:p>
            <a:pPr marL="342900" indent="-342900">
              <a:spcAft>
                <a:spcPts val="800"/>
              </a:spcAft>
              <a:buSzPct val="100000"/>
              <a:buChar char="•"/>
            </a:pPr>
            <a:r>
              <a:rPr lang="en-US" sz="1600" dirty="0">
                <a:solidFill>
                  <a:srgbClr val="1E2A3A"/>
                </a:solidFill>
                <a:latin typeface="Calibri" pitchFamily="34" charset="0"/>
                <a:ea typeface="Calibri" pitchFamily="34" charset="-122"/>
                <a:cs typeface="Calibri" pitchFamily="34" charset="-120"/>
              </a:rPr>
              <a:t>Preliminary results still need full reproduction</a:t>
            </a:r>
            <a:endParaRPr lang="en-US" sz="1600" dirty="0"/>
          </a:p>
        </p:txBody>
      </p:sp>
      <p:sp>
        <p:nvSpPr>
          <p:cNvPr id="7" name="Text 4"/>
          <p:cNvSpPr txBox="1"/>
          <p:nvPr/>
        </p:nvSpPr>
        <p:spPr>
          <a:xfrm>
            <a:off x="6309360" y="1737360"/>
            <a:ext cx="5303520" cy="411480"/>
          </a:xfrm>
          <a:prstGeom prst="rect">
            <a:avLst/>
          </a:prstGeom>
          <a:noFill/>
          <a:ln/>
        </p:spPr>
        <p:txBody>
          <a:bodyPr wrap="square" lIns="0" tIns="0" rIns="0" bIns="0" rtlCol="0" anchor="t"/>
          <a:lstStyle/>
          <a:p>
            <a:pPr indent="0" marL="0">
              <a:buNone/>
            </a:pPr>
            <a:r>
              <a:rPr lang="en-US" sz="2000" b="1" dirty="0">
                <a:solidFill>
                  <a:srgbClr val="0B1F3A"/>
                </a:solidFill>
                <a:latin typeface="Cambria" pitchFamily="34" charset="0"/>
                <a:ea typeface="Cambria" pitchFamily="34" charset="-122"/>
                <a:cs typeface="Cambria" pitchFamily="34" charset="-120"/>
              </a:rPr>
              <a:t>Next steps</a:t>
            </a:r>
            <a:endParaRPr lang="en-US" sz="2000" dirty="0"/>
          </a:p>
        </p:txBody>
      </p:sp>
      <p:sp>
        <p:nvSpPr>
          <p:cNvPr id="8" name="Shape 5"/>
          <p:cNvSpPr/>
          <p:nvPr/>
        </p:nvSpPr>
        <p:spPr>
          <a:xfrm>
            <a:off x="6309360" y="2286000"/>
            <a:ext cx="420624" cy="420624"/>
          </a:xfrm>
          <a:prstGeom prst="ellipse">
            <a:avLst/>
          </a:prstGeom>
          <a:solidFill>
            <a:srgbClr val="E0A526"/>
          </a:solidFill>
          <a:ln w="12700">
            <a:solidFill>
              <a:srgbClr val="FFFFFF">
                <a:alpha val="0"/>
              </a:srgbClr>
            </a:solidFill>
            <a:prstDash val="solid"/>
          </a:ln>
        </p:spPr>
      </p:sp>
      <p:sp>
        <p:nvSpPr>
          <p:cNvPr id="9" name="Text 6"/>
          <p:cNvSpPr txBox="1"/>
          <p:nvPr/>
        </p:nvSpPr>
        <p:spPr>
          <a:xfrm>
            <a:off x="6309360" y="2286000"/>
            <a:ext cx="420624" cy="420624"/>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6903720" y="2286000"/>
            <a:ext cx="4754880" cy="420624"/>
          </a:xfrm>
          <a:prstGeom prst="rect">
            <a:avLst/>
          </a:prstGeom>
          <a:noFill/>
          <a:ln/>
        </p:spPr>
        <p:txBody>
          <a:bodyPr wrap="square" lIns="0" tIns="0" rIns="0" bIns="0" rtlCol="0" anchor="ctr"/>
          <a:lstStyle/>
          <a:p>
            <a:pPr indent="0" marL="0">
              <a:buNone/>
            </a:pPr>
            <a:r>
              <a:rPr lang="en-US" sz="1600" dirty="0">
                <a:solidFill>
                  <a:srgbClr val="1E2A3A"/>
                </a:solidFill>
                <a:latin typeface="Calibri" pitchFamily="34" charset="0"/>
                <a:ea typeface="Calibri" pitchFamily="34" charset="-122"/>
                <a:cs typeface="Calibri" pitchFamily="34" charset="-120"/>
              </a:rPr>
              <a:t>Reproduce preliminary results from the raw CSV</a:t>
            </a:r>
            <a:endParaRPr lang="en-US" sz="1600" dirty="0"/>
          </a:p>
        </p:txBody>
      </p:sp>
      <p:sp>
        <p:nvSpPr>
          <p:cNvPr id="11" name="Shape 8"/>
          <p:cNvSpPr/>
          <p:nvPr/>
        </p:nvSpPr>
        <p:spPr>
          <a:xfrm>
            <a:off x="6309360" y="2944368"/>
            <a:ext cx="420624" cy="420624"/>
          </a:xfrm>
          <a:prstGeom prst="ellipse">
            <a:avLst/>
          </a:prstGeom>
          <a:solidFill>
            <a:srgbClr val="E0A526"/>
          </a:solidFill>
          <a:ln w="12700">
            <a:solidFill>
              <a:srgbClr val="FFFFFF">
                <a:alpha val="0"/>
              </a:srgbClr>
            </a:solidFill>
            <a:prstDash val="solid"/>
          </a:ln>
        </p:spPr>
      </p:sp>
      <p:sp>
        <p:nvSpPr>
          <p:cNvPr id="12" name="Text 9"/>
          <p:cNvSpPr txBox="1"/>
          <p:nvPr/>
        </p:nvSpPr>
        <p:spPr>
          <a:xfrm>
            <a:off x="6309360" y="2944368"/>
            <a:ext cx="420624" cy="420624"/>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6903720" y="2944368"/>
            <a:ext cx="4754880" cy="420624"/>
          </a:xfrm>
          <a:prstGeom prst="rect">
            <a:avLst/>
          </a:prstGeom>
          <a:noFill/>
          <a:ln/>
        </p:spPr>
        <p:txBody>
          <a:bodyPr wrap="square" lIns="0" tIns="0" rIns="0" bIns="0" rtlCol="0" anchor="ctr"/>
          <a:lstStyle/>
          <a:p>
            <a:pPr indent="0" marL="0">
              <a:buNone/>
            </a:pPr>
            <a:r>
              <a:rPr lang="en-US" sz="1600" dirty="0">
                <a:solidFill>
                  <a:srgbClr val="1E2A3A"/>
                </a:solidFill>
                <a:latin typeface="Calibri" pitchFamily="34" charset="0"/>
                <a:ea typeface="Calibri" pitchFamily="34" charset="-122"/>
                <a:cs typeface="Calibri" pitchFamily="34" charset="-120"/>
              </a:rPr>
              <a:t>Finalise cleaning and document missingness</a:t>
            </a:r>
            <a:endParaRPr lang="en-US" sz="1600" dirty="0"/>
          </a:p>
        </p:txBody>
      </p:sp>
      <p:sp>
        <p:nvSpPr>
          <p:cNvPr id="14" name="Shape 11"/>
          <p:cNvSpPr/>
          <p:nvPr/>
        </p:nvSpPr>
        <p:spPr>
          <a:xfrm>
            <a:off x="6309360" y="3602736"/>
            <a:ext cx="420624" cy="420624"/>
          </a:xfrm>
          <a:prstGeom prst="ellipse">
            <a:avLst/>
          </a:prstGeom>
          <a:solidFill>
            <a:srgbClr val="E0A526"/>
          </a:solidFill>
          <a:ln w="12700">
            <a:solidFill>
              <a:srgbClr val="FFFFFF">
                <a:alpha val="0"/>
              </a:srgbClr>
            </a:solidFill>
            <a:prstDash val="solid"/>
          </a:ln>
        </p:spPr>
      </p:sp>
      <p:sp>
        <p:nvSpPr>
          <p:cNvPr id="15" name="Text 12"/>
          <p:cNvSpPr txBox="1"/>
          <p:nvPr/>
        </p:nvSpPr>
        <p:spPr>
          <a:xfrm>
            <a:off x="6309360" y="3602736"/>
            <a:ext cx="420624" cy="420624"/>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6903720" y="3602736"/>
            <a:ext cx="4754880" cy="420624"/>
          </a:xfrm>
          <a:prstGeom prst="rect">
            <a:avLst/>
          </a:prstGeom>
          <a:noFill/>
          <a:ln/>
        </p:spPr>
        <p:txBody>
          <a:bodyPr wrap="square" lIns="0" tIns="0" rIns="0" bIns="0" rtlCol="0" anchor="ctr"/>
          <a:lstStyle/>
          <a:p>
            <a:pPr indent="0" marL="0">
              <a:buNone/>
            </a:pPr>
            <a:r>
              <a:rPr lang="en-US" sz="1600" dirty="0">
                <a:solidFill>
                  <a:srgbClr val="1E2A3A"/>
                </a:solidFill>
                <a:latin typeface="Calibri" pitchFamily="34" charset="0"/>
                <a:ea typeface="Calibri" pitchFamily="34" charset="-122"/>
                <a:cs typeface="Calibri" pitchFamily="34" charset="-120"/>
              </a:rPr>
              <a:t>Complete distribution fits, intervals and tests</a:t>
            </a:r>
            <a:endParaRPr lang="en-US" sz="1600" dirty="0"/>
          </a:p>
        </p:txBody>
      </p:sp>
      <p:sp>
        <p:nvSpPr>
          <p:cNvPr id="17" name="Shape 14"/>
          <p:cNvSpPr/>
          <p:nvPr/>
        </p:nvSpPr>
        <p:spPr>
          <a:xfrm>
            <a:off x="6309360" y="4261104"/>
            <a:ext cx="420624" cy="420624"/>
          </a:xfrm>
          <a:prstGeom prst="ellipse">
            <a:avLst/>
          </a:prstGeom>
          <a:solidFill>
            <a:srgbClr val="E0A526"/>
          </a:solidFill>
          <a:ln w="12700">
            <a:solidFill>
              <a:srgbClr val="FFFFFF">
                <a:alpha val="0"/>
              </a:srgbClr>
            </a:solidFill>
            <a:prstDash val="solid"/>
          </a:ln>
        </p:spPr>
      </p:sp>
      <p:sp>
        <p:nvSpPr>
          <p:cNvPr id="18" name="Text 15"/>
          <p:cNvSpPr txBox="1"/>
          <p:nvPr/>
        </p:nvSpPr>
        <p:spPr>
          <a:xfrm>
            <a:off x="6309360" y="4261104"/>
            <a:ext cx="420624" cy="420624"/>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4</a:t>
            </a:r>
            <a:endParaRPr lang="en-US" sz="1400" dirty="0"/>
          </a:p>
        </p:txBody>
      </p:sp>
      <p:sp>
        <p:nvSpPr>
          <p:cNvPr id="19" name="Text 16"/>
          <p:cNvSpPr txBox="1"/>
          <p:nvPr/>
        </p:nvSpPr>
        <p:spPr>
          <a:xfrm>
            <a:off x="6903720" y="4261104"/>
            <a:ext cx="4754880" cy="420624"/>
          </a:xfrm>
          <a:prstGeom prst="rect">
            <a:avLst/>
          </a:prstGeom>
          <a:noFill/>
          <a:ln/>
        </p:spPr>
        <p:txBody>
          <a:bodyPr wrap="square" lIns="0" tIns="0" rIns="0" bIns="0" rtlCol="0" anchor="ctr"/>
          <a:lstStyle/>
          <a:p>
            <a:pPr indent="0" marL="0">
              <a:buNone/>
            </a:pPr>
            <a:r>
              <a:rPr lang="en-US" sz="1600" dirty="0">
                <a:solidFill>
                  <a:srgbClr val="1E2A3A"/>
                </a:solidFill>
                <a:latin typeface="Calibri" pitchFamily="34" charset="0"/>
                <a:ea typeface="Calibri" pitchFamily="34" charset="-122"/>
                <a:cs typeface="Calibri" pitchFamily="34" charset="-120"/>
              </a:rPr>
              <a:t>Run trend analysis with diagnostics and correction</a:t>
            </a:r>
            <a:endParaRPr lang="en-US" sz="1600" dirty="0"/>
          </a:p>
        </p:txBody>
      </p:sp>
      <p:sp>
        <p:nvSpPr>
          <p:cNvPr id="20" name="Shape 17"/>
          <p:cNvSpPr/>
          <p:nvPr/>
        </p:nvSpPr>
        <p:spPr>
          <a:xfrm>
            <a:off x="6309360" y="4919472"/>
            <a:ext cx="420624" cy="420624"/>
          </a:xfrm>
          <a:prstGeom prst="ellipse">
            <a:avLst/>
          </a:prstGeom>
          <a:solidFill>
            <a:srgbClr val="E0A526"/>
          </a:solidFill>
          <a:ln w="12700">
            <a:solidFill>
              <a:srgbClr val="FFFFFF">
                <a:alpha val="0"/>
              </a:srgbClr>
            </a:solidFill>
            <a:prstDash val="solid"/>
          </a:ln>
        </p:spPr>
      </p:sp>
      <p:sp>
        <p:nvSpPr>
          <p:cNvPr id="21" name="Text 18"/>
          <p:cNvSpPr txBox="1"/>
          <p:nvPr/>
        </p:nvSpPr>
        <p:spPr>
          <a:xfrm>
            <a:off x="6309360" y="4919472"/>
            <a:ext cx="420624" cy="420624"/>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5</a:t>
            </a:r>
            <a:endParaRPr lang="en-US" sz="1400" dirty="0"/>
          </a:p>
        </p:txBody>
      </p:sp>
      <p:sp>
        <p:nvSpPr>
          <p:cNvPr id="22" name="Text 19"/>
          <p:cNvSpPr txBox="1"/>
          <p:nvPr/>
        </p:nvSpPr>
        <p:spPr>
          <a:xfrm>
            <a:off x="6903720" y="4919472"/>
            <a:ext cx="4754880" cy="420624"/>
          </a:xfrm>
          <a:prstGeom prst="rect">
            <a:avLst/>
          </a:prstGeom>
          <a:noFill/>
          <a:ln/>
        </p:spPr>
        <p:txBody>
          <a:bodyPr wrap="square" lIns="0" tIns="0" rIns="0" bIns="0" rtlCol="0" anchor="ctr"/>
          <a:lstStyle/>
          <a:p>
            <a:pPr indent="0" marL="0">
              <a:buNone/>
            </a:pPr>
            <a:r>
              <a:rPr lang="en-US" sz="1600" dirty="0">
                <a:solidFill>
                  <a:srgbClr val="1E2A3A"/>
                </a:solidFill>
                <a:latin typeface="Calibri" pitchFamily="34" charset="0"/>
                <a:ea typeface="Calibri" pitchFamily="34" charset="-122"/>
                <a:cs typeface="Calibri" pitchFamily="34" charset="-120"/>
              </a:rPr>
              <a:t>Build the dashboard prototype and final report</a:t>
            </a:r>
            <a:endParaRPr lang="en-US" sz="1600" dirty="0"/>
          </a:p>
        </p:txBody>
      </p:sp>
      <p:sp>
        <p:nvSpPr>
          <p:cNvPr id="23" name="Text 20"/>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24" name="Text 21"/>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tmp/claude-0/-home-claude/0196e6ba-4d85-5f5a-a499-44437a1ee410/scratchpad/bell_light.png">    </p:cNvPr>
          <p:cNvPicPr>
            <a:picLocks noChangeAspect="1"/>
          </p:cNvPicPr>
          <p:nvPr/>
        </p:nvPicPr>
        <p:blipFill>
          <a:blip r:embed="rId1"/>
          <a:stretch>
            <a:fillRect/>
          </a:stretch>
        </p:blipFill>
        <p:spPr>
          <a:xfrm>
            <a:off x="10607040" y="365760"/>
            <a:ext cx="1005840" cy="502920"/>
          </a:xfrm>
          <a:prstGeom prst="rect">
            <a:avLst/>
          </a:prstGeom>
        </p:spPr>
      </p:pic>
      <p:sp>
        <p:nvSpPr>
          <p:cNvPr id="3"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A6A00"/>
                </a:solidFill>
                <a:latin typeface="Calibri" pitchFamily="34" charset="0"/>
                <a:ea typeface="Calibri" pitchFamily="34" charset="-122"/>
                <a:cs typeface="Calibri" pitchFamily="34" charset="-120"/>
              </a:rPr>
              <a:t>BACKUP</a:t>
            </a:r>
            <a:endParaRPr lang="en-US" sz="1200" dirty="0"/>
          </a:p>
        </p:txBody>
      </p:sp>
      <p:sp>
        <p:nvSpPr>
          <p:cNvPr id="4" name="Text 1"/>
          <p:cNvSpPr txBox="1"/>
          <p:nvPr/>
        </p:nvSpPr>
        <p:spPr>
          <a:xfrm>
            <a:off x="548640" y="713232"/>
            <a:ext cx="10058400" cy="73152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Likely questions from the panel</a:t>
            </a:r>
            <a:endParaRPr lang="en-US" sz="3200" dirty="0"/>
          </a:p>
        </p:txBody>
      </p:sp>
      <p:sp>
        <p:nvSpPr>
          <p:cNvPr id="5" name="Shape 2"/>
          <p:cNvSpPr/>
          <p:nvPr/>
        </p:nvSpPr>
        <p:spPr>
          <a:xfrm>
            <a:off x="548640" y="1737360"/>
            <a:ext cx="5454396" cy="1325880"/>
          </a:xfrm>
          <a:prstGeom prst="rect">
            <a:avLst/>
          </a:prstGeom>
          <a:solidFill>
            <a:srgbClr val="EEF3FA"/>
          </a:solidFill>
          <a:ln w="12700">
            <a:solidFill>
              <a:srgbClr val="FFFFFF">
                <a:alpha val="0"/>
              </a:srgbClr>
            </a:solidFill>
            <a:prstDash val="solid"/>
          </a:ln>
        </p:spPr>
      </p:sp>
      <p:sp>
        <p:nvSpPr>
          <p:cNvPr id="6" name="Text 3"/>
          <p:cNvSpPr txBox="1"/>
          <p:nvPr/>
        </p:nvSpPr>
        <p:spPr>
          <a:xfrm>
            <a:off x="822960" y="1901952"/>
            <a:ext cx="49377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Why this dataset?</a:t>
            </a:r>
            <a:endParaRPr lang="en-US" sz="1600" dirty="0"/>
          </a:p>
        </p:txBody>
      </p:sp>
      <p:sp>
        <p:nvSpPr>
          <p:cNvPr id="7" name="Text 4"/>
          <p:cNvSpPr txBox="1"/>
          <p:nvPr/>
        </p:nvSpPr>
        <p:spPr>
          <a:xfrm>
            <a:off x="822960" y="2286000"/>
            <a:ext cx="4937760" cy="7315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Public, manageable, 115 years, 36 subdivisions, and it supports several syllabus methods.</a:t>
            </a:r>
            <a:endParaRPr lang="en-US" sz="1400" dirty="0"/>
          </a:p>
        </p:txBody>
      </p:sp>
      <p:sp>
        <p:nvSpPr>
          <p:cNvPr id="8" name="Shape 5"/>
          <p:cNvSpPr/>
          <p:nvPr/>
        </p:nvSpPr>
        <p:spPr>
          <a:xfrm>
            <a:off x="6185916" y="1737360"/>
            <a:ext cx="5454396" cy="1325880"/>
          </a:xfrm>
          <a:prstGeom prst="rect">
            <a:avLst/>
          </a:prstGeom>
          <a:solidFill>
            <a:srgbClr val="EEF3FA"/>
          </a:solidFill>
          <a:ln w="12700">
            <a:solidFill>
              <a:srgbClr val="FFFFFF">
                <a:alpha val="0"/>
              </a:srgbClr>
            </a:solidFill>
            <a:prstDash val="solid"/>
          </a:ln>
        </p:spPr>
      </p:sp>
      <p:sp>
        <p:nvSpPr>
          <p:cNvPr id="9" name="Text 6"/>
          <p:cNvSpPr txBox="1"/>
          <p:nvPr/>
        </p:nvSpPr>
        <p:spPr>
          <a:xfrm>
            <a:off x="6460236" y="1901952"/>
            <a:ext cx="49377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Why not ordinary ANOVA?</a:t>
            </a:r>
            <a:endParaRPr lang="en-US" sz="1600" dirty="0"/>
          </a:p>
        </p:txBody>
      </p:sp>
      <p:sp>
        <p:nvSpPr>
          <p:cNvPr id="10" name="Text 7"/>
          <p:cNvSpPr txBox="1"/>
          <p:nvPr/>
        </p:nvSpPr>
        <p:spPr>
          <a:xfrm>
            <a:off x="6460236" y="2286000"/>
            <a:ext cx="4937760" cy="7315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Variances differ across subdivisions (Levene p ≈ 0), so Welch ANOVA is the appropriate test.</a:t>
            </a:r>
            <a:endParaRPr lang="en-US" sz="1400" dirty="0"/>
          </a:p>
        </p:txBody>
      </p:sp>
      <p:sp>
        <p:nvSpPr>
          <p:cNvPr id="11" name="Shape 8"/>
          <p:cNvSpPr/>
          <p:nvPr/>
        </p:nvSpPr>
        <p:spPr>
          <a:xfrm>
            <a:off x="548640" y="3200400"/>
            <a:ext cx="5454396" cy="1325880"/>
          </a:xfrm>
          <a:prstGeom prst="rect">
            <a:avLst/>
          </a:prstGeom>
          <a:solidFill>
            <a:srgbClr val="EEF3FA"/>
          </a:solidFill>
          <a:ln w="12700">
            <a:solidFill>
              <a:srgbClr val="FFFFFF">
                <a:alpha val="0"/>
              </a:srgbClr>
            </a:solidFill>
            <a:prstDash val="solid"/>
          </a:ln>
        </p:spPr>
      </p:sp>
      <p:sp>
        <p:nvSpPr>
          <p:cNvPr id="12" name="Text 9"/>
          <p:cNvSpPr txBox="1"/>
          <p:nvPr/>
        </p:nvSpPr>
        <p:spPr>
          <a:xfrm>
            <a:off x="822960" y="3364992"/>
            <a:ext cx="49377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What is a p-value?</a:t>
            </a:r>
            <a:endParaRPr lang="en-US" sz="1600" dirty="0"/>
          </a:p>
        </p:txBody>
      </p:sp>
      <p:sp>
        <p:nvSpPr>
          <p:cNvPr id="13" name="Text 10"/>
          <p:cNvSpPr txBox="1"/>
          <p:nvPr/>
        </p:nvSpPr>
        <p:spPr>
          <a:xfrm>
            <a:off x="822960" y="3749040"/>
            <a:ext cx="4937760" cy="7315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The probability of a result at least this extreme if the null and the test assumptions hold. It is not P(null is true).</a:t>
            </a:r>
            <a:endParaRPr lang="en-US" sz="1400" dirty="0"/>
          </a:p>
        </p:txBody>
      </p:sp>
      <p:sp>
        <p:nvSpPr>
          <p:cNvPr id="14" name="Shape 11"/>
          <p:cNvSpPr/>
          <p:nvPr/>
        </p:nvSpPr>
        <p:spPr>
          <a:xfrm>
            <a:off x="6185916" y="3200400"/>
            <a:ext cx="5454396" cy="1325880"/>
          </a:xfrm>
          <a:prstGeom prst="rect">
            <a:avLst/>
          </a:prstGeom>
          <a:solidFill>
            <a:srgbClr val="EEF3FA"/>
          </a:solidFill>
          <a:ln w="12700">
            <a:solidFill>
              <a:srgbClr val="FFFFFF">
                <a:alpha val="0"/>
              </a:srgbClr>
            </a:solidFill>
            <a:prstDash val="solid"/>
          </a:ln>
        </p:spPr>
      </p:sp>
      <p:sp>
        <p:nvSpPr>
          <p:cNvPr id="15" name="Text 12"/>
          <p:cNvSpPr txBox="1"/>
          <p:nvPr/>
        </p:nvSpPr>
        <p:spPr>
          <a:xfrm>
            <a:off x="6460236" y="3364992"/>
            <a:ext cx="49377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Does this prove climate change caused trends?</a:t>
            </a:r>
            <a:endParaRPr lang="en-US" sz="1600" dirty="0"/>
          </a:p>
        </p:txBody>
      </p:sp>
      <p:sp>
        <p:nvSpPr>
          <p:cNvPr id="16" name="Text 13"/>
          <p:cNvSpPr txBox="1"/>
          <p:nvPr/>
        </p:nvSpPr>
        <p:spPr>
          <a:xfrm>
            <a:off x="6460236" y="3749040"/>
            <a:ext cx="4937760" cy="7315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No. It is observational. Trends describe the data and do not attribute causes.</a:t>
            </a:r>
            <a:endParaRPr lang="en-US" sz="1400" dirty="0"/>
          </a:p>
        </p:txBody>
      </p:sp>
      <p:sp>
        <p:nvSpPr>
          <p:cNvPr id="17" name="Shape 14"/>
          <p:cNvSpPr/>
          <p:nvPr/>
        </p:nvSpPr>
        <p:spPr>
          <a:xfrm>
            <a:off x="548640" y="4663440"/>
            <a:ext cx="5454396" cy="1325880"/>
          </a:xfrm>
          <a:prstGeom prst="rect">
            <a:avLst/>
          </a:prstGeom>
          <a:solidFill>
            <a:srgbClr val="EEF3FA"/>
          </a:solidFill>
          <a:ln w="12700">
            <a:solidFill>
              <a:srgbClr val="FFFFFF">
                <a:alpha val="0"/>
              </a:srgbClr>
            </a:solidFill>
            <a:prstDash val="solid"/>
          </a:ln>
        </p:spPr>
      </p:sp>
      <p:sp>
        <p:nvSpPr>
          <p:cNvPr id="18" name="Text 15"/>
          <p:cNvSpPr txBox="1"/>
          <p:nvPr/>
        </p:nvSpPr>
        <p:spPr>
          <a:xfrm>
            <a:off x="822960" y="4828032"/>
            <a:ext cx="49377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Why correct for multiple testing?</a:t>
            </a:r>
            <a:endParaRPr lang="en-US" sz="1600" dirty="0"/>
          </a:p>
        </p:txBody>
      </p:sp>
      <p:sp>
        <p:nvSpPr>
          <p:cNvPr id="19" name="Text 16"/>
          <p:cNvSpPr txBox="1"/>
          <p:nvPr/>
        </p:nvSpPr>
        <p:spPr>
          <a:xfrm>
            <a:off x="822960" y="5212080"/>
            <a:ext cx="4937760" cy="7315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Testing 36 divisions separately inflates false positives. BH controls the expected false-discovery rate.</a:t>
            </a:r>
            <a:endParaRPr lang="en-US" sz="1400" dirty="0"/>
          </a:p>
        </p:txBody>
      </p:sp>
      <p:sp>
        <p:nvSpPr>
          <p:cNvPr id="20" name="Shape 17"/>
          <p:cNvSpPr/>
          <p:nvPr/>
        </p:nvSpPr>
        <p:spPr>
          <a:xfrm>
            <a:off x="6185916" y="4663440"/>
            <a:ext cx="5454396" cy="1325880"/>
          </a:xfrm>
          <a:prstGeom prst="rect">
            <a:avLst/>
          </a:prstGeom>
          <a:solidFill>
            <a:srgbClr val="EEF3FA"/>
          </a:solidFill>
          <a:ln w="12700">
            <a:solidFill>
              <a:srgbClr val="FFFFFF">
                <a:alpha val="0"/>
              </a:srgbClr>
            </a:solidFill>
            <a:prstDash val="solid"/>
          </a:ln>
        </p:spPr>
      </p:sp>
      <p:sp>
        <p:nvSpPr>
          <p:cNvPr id="21" name="Text 18"/>
          <p:cNvSpPr txBox="1"/>
          <p:nvPr/>
        </p:nvSpPr>
        <p:spPr>
          <a:xfrm>
            <a:off x="6460236" y="4828032"/>
            <a:ext cx="49377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What if trends are not significant?</a:t>
            </a:r>
            <a:endParaRPr lang="en-US" sz="1600" dirty="0"/>
          </a:p>
        </p:txBody>
      </p:sp>
      <p:sp>
        <p:nvSpPr>
          <p:cNvPr id="22" name="Text 19"/>
          <p:cNvSpPr txBox="1"/>
          <p:nvPr/>
        </p:nvSpPr>
        <p:spPr>
          <a:xfrm>
            <a:off x="6460236" y="5212080"/>
            <a:ext cx="4937760" cy="731520"/>
          </a:xfrm>
          <a:prstGeom prst="rect">
            <a:avLst/>
          </a:prstGeom>
          <a:noFill/>
          <a:ln/>
        </p:spPr>
        <p:txBody>
          <a:bodyPr wrap="square" lIns="0" tIns="0" rIns="0" bIns="0" rtlCol="0" anchor="t"/>
          <a:lstStyle/>
          <a:p>
            <a:pPr indent="0" marL="0">
              <a:buNone/>
            </a:pPr>
            <a:r>
              <a:rPr lang="en-US" sz="1400" dirty="0">
                <a:solidFill>
                  <a:srgbClr val="1E2A3A"/>
                </a:solidFill>
                <a:latin typeface="Calibri" pitchFamily="34" charset="0"/>
                <a:ea typeface="Calibri" pitchFamily="34" charset="-122"/>
                <a:cs typeface="Calibri" pitchFamily="34" charset="-120"/>
              </a:rPr>
              <a:t>That is still a valid result. We report what the data supports, including uncertainty.</a:t>
            </a:r>
            <a:endParaRPr lang="en-US" sz="1400" dirty="0"/>
          </a:p>
        </p:txBody>
      </p:sp>
      <p:sp>
        <p:nvSpPr>
          <p:cNvPr id="23" name="Text 20"/>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VARSA  ·  Probability &amp; Statistics  ·  BAMAT207</a:t>
            </a:r>
            <a:endParaRPr lang="en-US" sz="1000" dirty="0"/>
          </a:p>
        </p:txBody>
      </p:sp>
      <p:sp>
        <p:nvSpPr>
          <p:cNvPr id="24" name="Text 21"/>
          <p:cNvSpPr txBox="1"/>
          <p:nvPr/>
        </p:nvSpPr>
        <p:spPr>
          <a:xfrm>
            <a:off x="10881360" y="6355080"/>
            <a:ext cx="777240" cy="274320"/>
          </a:xfrm>
          <a:prstGeom prst="rect">
            <a:avLst/>
          </a:prstGeom>
          <a:noFill/>
          <a:ln/>
        </p:spPr>
        <p:txBody>
          <a:bodyPr wrap="square" lIns="0" tIns="0" rIns="0" bIns="0" rtlCol="0" anchor="t"/>
          <a:lstStyle/>
          <a:p>
            <a:pPr algn="r" indent="0" marL="0">
              <a:buNone/>
            </a:pPr>
            <a:r>
              <a:rPr lang="en-US" sz="1000" dirty="0">
                <a:solidFill>
                  <a:srgbClr val="5B6B8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pic>
        <p:nvPicPr>
          <p:cNvPr id="2" name="Image 0" descr="/tmp/claude-0/-home-claude/0196e6ba-4d85-5f5a-a499-44437a1ee410/scratchpad/bell_dark.png">    </p:cNvPr>
          <p:cNvPicPr>
            <a:picLocks noChangeAspect="1"/>
          </p:cNvPicPr>
          <p:nvPr/>
        </p:nvPicPr>
        <p:blipFill>
          <a:blip r:embed="rId1"/>
          <a:stretch>
            <a:fillRect/>
          </a:stretch>
        </p:blipFill>
        <p:spPr>
          <a:xfrm>
            <a:off x="548640" y="640080"/>
            <a:ext cx="3291840" cy="1645920"/>
          </a:xfrm>
          <a:prstGeom prst="rect">
            <a:avLst/>
          </a:prstGeom>
        </p:spPr>
      </p:pic>
      <p:sp>
        <p:nvSpPr>
          <p:cNvPr id="3" name="Text 0"/>
          <p:cNvSpPr txBox="1"/>
          <p:nvPr/>
        </p:nvSpPr>
        <p:spPr>
          <a:xfrm>
            <a:off x="548640" y="2651760"/>
            <a:ext cx="1051560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VARSA turns historical rainfall records into statistically defensible findings.</a:t>
            </a:r>
            <a:endParaRPr lang="en-US" sz="3400" dirty="0"/>
          </a:p>
        </p:txBody>
      </p:sp>
      <p:sp>
        <p:nvSpPr>
          <p:cNvPr id="4" name="Text 1"/>
          <p:cNvSpPr txBox="1"/>
          <p:nvPr/>
        </p:nvSpPr>
        <p:spPr>
          <a:xfrm>
            <a:off x="548640" y="4206240"/>
            <a:ext cx="7315200" cy="457200"/>
          </a:xfrm>
          <a:prstGeom prst="rect">
            <a:avLst/>
          </a:prstGeom>
          <a:noFill/>
          <a:ln/>
        </p:spPr>
        <p:txBody>
          <a:bodyPr wrap="square" lIns="0" tIns="0" rIns="0" bIns="0" rtlCol="0" anchor="t"/>
          <a:lstStyle/>
          <a:p>
            <a:pPr indent="0" marL="0">
              <a:buNone/>
            </a:pPr>
            <a:r>
              <a:rPr lang="en-US" sz="2000" dirty="0">
                <a:solidFill>
                  <a:srgbClr val="E0A526"/>
                </a:solidFill>
                <a:latin typeface="Calibri" pitchFamily="34" charset="0"/>
                <a:ea typeface="Calibri" pitchFamily="34" charset="-122"/>
                <a:cs typeface="Calibri" pitchFamily="34" charset="-120"/>
              </a:rPr>
              <a:t>Questions welcome</a:t>
            </a:r>
            <a:endParaRPr lang="en-US" sz="2000" dirty="0"/>
          </a:p>
        </p:txBody>
      </p:sp>
      <p:sp>
        <p:nvSpPr>
          <p:cNvPr id="5" name="Text 2"/>
          <p:cNvSpPr txBox="1"/>
          <p:nvPr/>
        </p:nvSpPr>
        <p:spPr>
          <a:xfrm>
            <a:off x="548640" y="4937760"/>
            <a:ext cx="10058400" cy="365760"/>
          </a:xfrm>
          <a:prstGeom prst="rect">
            <a:avLst/>
          </a:prstGeom>
          <a:noFill/>
          <a:ln/>
        </p:spPr>
        <p:txBody>
          <a:bodyPr wrap="square" lIns="0" tIns="0" rIns="0" bIns="0" rtlCol="0" anchor="t"/>
          <a:lstStyle/>
          <a:p>
            <a:pPr indent="0" marL="0">
              <a:buNone/>
            </a:pPr>
            <a:r>
              <a:rPr lang="en-US" sz="1500" dirty="0">
                <a:solidFill>
                  <a:srgbClr val="C9D6EA"/>
                </a:solidFill>
                <a:latin typeface="Calibri" pitchFamily="34" charset="0"/>
                <a:ea typeface="Calibri" pitchFamily="34" charset="-122"/>
                <a:cs typeface="Calibri" pitchFamily="34" charset="-120"/>
              </a:rPr>
              <a:t>Pratik (25BCE0337)  ·  Adarsh (25BCE0401)  ·  Arunya (25BCE0344)</a:t>
            </a:r>
            <a:endParaRPr lang="en-US" sz="1500" dirty="0"/>
          </a:p>
        </p:txBody>
      </p:sp>
      <p:sp>
        <p:nvSpPr>
          <p:cNvPr id="6" name="Text 3"/>
          <p:cNvSpPr txBox="1"/>
          <p:nvPr/>
        </p:nvSpPr>
        <p:spPr>
          <a:xfrm>
            <a:off x="548640" y="5349240"/>
            <a:ext cx="10058400" cy="365760"/>
          </a:xfrm>
          <a:prstGeom prst="rect">
            <a:avLst/>
          </a:prstGeom>
          <a:noFill/>
          <a:ln/>
        </p:spPr>
        <p:txBody>
          <a:bodyPr wrap="square" lIns="0" tIns="0" rIns="0" bIns="0" rtlCol="0" anchor="t"/>
          <a:lstStyle/>
          <a:p>
            <a:pPr indent="0" marL="0">
              <a:buNone/>
            </a:pPr>
            <a:r>
              <a:rPr lang="en-US" sz="1500" dirty="0">
                <a:solidFill>
                  <a:srgbClr val="C9D6EA"/>
                </a:solidFill>
                <a:latin typeface="Calibri" pitchFamily="34" charset="0"/>
                <a:ea typeface="Calibri" pitchFamily="34" charset="-122"/>
                <a:cs typeface="Calibri" pitchFamily="34" charset="-120"/>
              </a:rPr>
              <a:t>Dr. Juhi Baroi  ·  Probability and Statistics (BAMAT207)</a:t>
            </a:r>
            <a:endParaRPr lang="en-US" sz="1500" dirty="0"/>
          </a:p>
        </p:txBody>
      </p:sp>
      <p:sp>
        <p:nvSpPr>
          <p:cNvPr id="7" name="Text 4"/>
          <p:cNvSpPr txBox="1"/>
          <p:nvPr/>
        </p:nvSpPr>
        <p:spPr>
          <a:xfrm>
            <a:off x="548640" y="5852160"/>
            <a:ext cx="10058400" cy="365760"/>
          </a:xfrm>
          <a:prstGeom prst="rect">
            <a:avLst/>
          </a:prstGeom>
          <a:noFill/>
          <a:ln/>
        </p:spPr>
        <p:txBody>
          <a:bodyPr wrap="square" lIns="0" tIns="0" rIns="0" bIns="0" rtlCol="0" anchor="t"/>
          <a:lstStyle/>
          <a:p>
            <a:pPr indent="0" marL="0">
              <a:buNone/>
            </a:pPr>
            <a:r>
              <a:rPr lang="en-US" sz="1300" i="1" dirty="0">
                <a:solidFill>
                  <a:srgbClr val="C9D6EA"/>
                </a:solidFill>
                <a:latin typeface="Calibri" pitchFamily="34" charset="0"/>
                <a:ea typeface="Calibri" pitchFamily="34" charset="-122"/>
                <a:cs typeface="Calibri" pitchFamily="34" charset="-120"/>
              </a:rPr>
              <a:t>Method: reproducible R / Python workflow on public IMD rainfall data, 1901–2015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VARSA — Review 1</dc:title>
  <dc:subject>PptxGenJS Presentation</dc:subject>
  <dc:creator>Pratik, Adarsh, Arunya</dc:creator>
  <cp:lastModifiedBy>Pratik, Adarsh, Arunya</cp:lastModifiedBy>
  <cp:revision>1</cp:revision>
  <dcterms:created xsi:type="dcterms:W3CDTF">2026-10-15T18:37:46Z</dcterms:created>
  <dcterms:modified xsi:type="dcterms:W3CDTF">2026-10-15T18:37:46Z</dcterms:modified>
</cp:coreProperties>
</file>