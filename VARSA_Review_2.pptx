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7999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PROBABILITY &amp; STATISTICS  · 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80000"/>
            <a:ext cx="64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Outfit"/>
              </a:rPr>
              <a:t>VARSA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32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Outfit"/>
              </a:rPr>
              <a:t>Variability, Anomalies and Regional Statistics of Indian Rainfall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48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INTERACTIVE DASHBOARD  ·  DATA LIMITATIONS  · 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00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Website built on IMR dataset  |  1901–2015  |  36 Met-subdivisions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40000"/>
            <a:ext cx="11094720" cy="187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000" y="4392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644000"/>
            <a:ext cx="47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Probability and Statistics (BAMAT207)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5076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5328000"/>
            <a:ext cx="47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Dr. Juhi Baroi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4392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0" y="46440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Pratik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6000" y="46440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49896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Adarsh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6000" y="49896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53352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Arunya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53352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999"/>
            <a:ext cx="54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 i="0">
                <a:solidFill>
                  <a:srgbClr val="C9D6EA"/>
                </a:solidFill>
                <a:latin typeface="Outfit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What we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6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12000"/>
            <a:ext cx="576000" cy="3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640" y="1555200"/>
            <a:ext cx="4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D6EA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8640" y="1591200"/>
            <a:ext cx="1074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Recap — what Review 1 established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8000"/>
            <a:ext cx="576000" cy="3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2640" y="2131200"/>
            <a:ext cx="4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  <a:latin typeface="Outf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8640" y="2167200"/>
            <a:ext cx="1074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The VARSA Website — features &amp; live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64000"/>
            <a:ext cx="576000" cy="3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640" y="2707200"/>
            <a:ext cx="4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A526"/>
                </a:solidFill>
                <a:latin typeface="Outfi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8640" y="2743200"/>
            <a:ext cx="1074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Data deep-dive — IMR dataset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0000"/>
            <a:ext cx="576000" cy="3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640" y="3283200"/>
            <a:ext cx="4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D6EA"/>
                </a:solidFill>
                <a:latin typeface="Outfi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8640" y="3319200"/>
            <a:ext cx="1074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Current findings already reflected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16000"/>
            <a:ext cx="576000" cy="3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640" y="3859200"/>
            <a:ext cx="4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Outfi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8640" y="3895200"/>
            <a:ext cx="1074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What's next — better data, wider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01  · 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What Review 1 established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78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2664000" cy="13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2640" y="1548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75.2%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640" y="2034000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monsoon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640" y="226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EA"/>
                </a:solidFill>
                <a:latin typeface="Outfit"/>
              </a:rPr>
              <a:t>Jun-Sep share of annual 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8640" y="1440000"/>
            <a:ext cx="2664000" cy="13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2640" y="1548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  <a:latin typeface="Outfit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2640" y="2034000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variance by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2640" y="226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EA"/>
                </a:solidFill>
                <a:latin typeface="Outfit"/>
              </a:rPr>
              <a:t>eta-squared from Welch ANOVA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8640" y="1440000"/>
            <a:ext cx="2664000" cy="13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2640" y="1548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Outfit"/>
              </a:rPr>
              <a:t>9 of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640" y="2034000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real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40" y="226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EA"/>
                </a:solidFill>
                <a:latin typeface="Outfit"/>
              </a:rPr>
              <a:t>survive BH correction at 5% FDR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8640" y="1440000"/>
            <a:ext cx="2664000" cy="13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2640" y="1548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0A526"/>
                </a:solidFill>
                <a:latin typeface="Outfit"/>
              </a:rPr>
              <a:t>47.6%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2640" y="2034000"/>
            <a:ext cx="25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1-in-20 yr deficit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2640" y="2268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D6EA"/>
                </a:solidFill>
                <a:latin typeface="Outfit"/>
              </a:rPr>
              <a:t>West Rajasthan worst division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60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These results now power every chart and table inside the VARSA website.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02  ·  THE VARSA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An interactive dashboard for Indian rainfall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640" y="1476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Map  |  WebGL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640" y="1684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60-FPS hardware-accelerated choropleth of all 36 subdivisions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8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640" y="2034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Globe  |  3D 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640" y="2242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Tilt-able globe; rainfall intensity as colour overlay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56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640" y="2592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Dossier  |  Stats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40" y="2800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Division-level descriptive stats: CV, skewness, kurtosis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14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640" y="3150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Trend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640" y="3358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OLS and Mann-Kendall with BH-corrected significance flags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72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640" y="3708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Distribution 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640" y="3916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Gamma and Lognormal fits vs observed; KS distances reported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30000"/>
            <a:ext cx="554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640" y="4266000"/>
            <a:ext cx="54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Theme Toggle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40" y="4474800"/>
            <a:ext cx="543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Dark / light modes; responsive layout for any screen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4639" y="1440000"/>
            <a:ext cx="5298721" cy="33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639" y="1548000"/>
            <a:ext cx="5190721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0A526"/>
                </a:solidFill>
                <a:latin typeface="Outfit"/>
              </a:rPr>
              <a:t>BUILT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639" y="1835999"/>
            <a:ext cx="519072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Python 3.11 + 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639" y="2267999"/>
            <a:ext cx="519072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Plotly / WebGL rendering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639" y="2699999"/>
            <a:ext cx="519072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Pandas / NumPy / SciPy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639" y="3131999"/>
            <a:ext cx="519072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GeoJSON subdivision boundaries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39" y="3563999"/>
            <a:ext cx="519072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Google Fonts (Outfit, Plus Jakarta Sans)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02  ·  THE VARSA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Three views — three ways to see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3578240" cy="31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3578240" cy="7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640" y="1584000"/>
            <a:ext cx="3434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Outfit"/>
              </a:rPr>
              <a:t>ATLAS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40" y="1908000"/>
            <a:ext cx="343424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Colour-coded choropleth by annual or seasonal rainfall. Click any subdivision for a 115-year history. Powered by WebGL — no page reload.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80" y="1440000"/>
            <a:ext cx="3578240" cy="31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80" y="1440000"/>
            <a:ext cx="357824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880" y="1584000"/>
            <a:ext cx="3434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Outfit"/>
              </a:rPr>
              <a:t>DOSSIER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880" y="1908000"/>
            <a:ext cx="343424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Per-subdivision statistical passport: mean, median, CV, skew, kurtosis, 1-in-20-year return threshold, best-fit distribution, trend 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120" y="1440000"/>
            <a:ext cx="3578240" cy="31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120" y="1440000"/>
            <a:ext cx="3578240" cy="7920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120" y="1584000"/>
            <a:ext cx="3434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A526"/>
                </a:solidFill>
                <a:latin typeface="Outfit"/>
              </a:rPr>
              <a:t>ATLAS GLOBE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120" y="1908000"/>
            <a:ext cx="343424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3-D interactive globe; same colour scale, tiltable with mouse drag. Makes the spatial gradient from NE coast to Rajasthan visually striking.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03  ·  DATA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Outfit"/>
              </a:rPr>
              <a:t>The IMR dataset: what it gives us and what it doesn't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220000" cy="33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522000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640" y="1584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Outfit"/>
              </a:rPr>
              <a:t>WHAT WE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40" y="1872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Monthly subdivision totals across 36 IMD met-divisions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640" y="2250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Full record 1901-2015  (115 years, 49 680 data points)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640" y="2628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Enough depth for ANOVA, trend tests, distribution 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640" y="3006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Clean, public, reproducible — no API key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0640" y="1440000"/>
            <a:ext cx="5544000" cy="33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0640" y="1440000"/>
            <a:ext cx="5544000" cy="7920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8640" y="1584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640" y="1872000"/>
            <a:ext cx="54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Data ends in 2015 — a decade of recent climate is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8640" y="2250000"/>
            <a:ext cx="54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Arrives in chunked annual files, not a single clean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8640" y="2628000"/>
            <a:ext cx="54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Monthly granularity — no daily or sub-daily extremes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8640" y="3006000"/>
            <a:ext cx="54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Subdivision level only — no district or grid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8640" y="3384000"/>
            <a:ext cx="54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No near-real-time stream; all figures are historical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03  ·  DATA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A decade of rainfall is missing from the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28000"/>
            <a:ext cx="10207142" cy="2519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55782" y="1728000"/>
            <a:ext cx="887578" cy="251999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0000"/>
            <a:ext cx="14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Outfit"/>
              </a:rPr>
              <a:t>Dataset covers 115 years (1901-2015)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782" y="1440000"/>
            <a:ext cx="2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~10-year gap (2016-2026)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2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  <a:latin typeface="Outfit"/>
              </a:rPr>
              <a:t>1901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5782" y="20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  <a:latin typeface="Outfit"/>
              </a:rP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63782" y="2052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A526"/>
                </a:solidFill>
                <a:latin typeface="Outfit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92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A526"/>
                </a:solidFill>
                <a:latin typeface="Outfit"/>
              </a:rPr>
              <a:t>Why the gap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640" y="2880000"/>
            <a:ext cx="1091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2016-2026 includes anomalous monsoon years (2019 excess, 2023 deficit patterns)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40" y="3276000"/>
            <a:ext cx="1091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Climate-sensitive trends will be underestimated without the most-recent decade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40" y="3672000"/>
            <a:ext cx="1091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Drought-return-period estimates depend on the full distributional 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640" y="4068000"/>
            <a:ext cx="1091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▸  Policy models increasingly require post-2015 baselines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03  ·  DATA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IMR data comes in chunks — not as one clean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40000"/>
            <a:ext cx="11094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Unlike a Kaggle one-click download, IMD publishes data in separate annual/decadal files requiring manual assembly and cleaning.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2000"/>
            <a:ext cx="5760000" cy="111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640" y="1980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Fragmented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40" y="2250000"/>
            <a:ext cx="55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Spread across individual yearly or decadal PDFs/XLS — each must be parsed and stitched into a single CSV.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8640" y="1872000"/>
            <a:ext cx="5760000" cy="111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6640" y="1980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Format inconsistency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6640" y="2250000"/>
            <a:ext cx="55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Column naming and subdivision codes changed across release periods (pre-1950 vs post-1970 publications differ significantly).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2000"/>
            <a:ext cx="5760000" cy="111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640" y="3240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No public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640" y="3510000"/>
            <a:ext cx="55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No programmatic endpoint for updates. All ingestion requires manual web scraping or IMD portal navigation.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8640" y="3132000"/>
            <a:ext cx="5760000" cy="111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6640" y="3240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Post-2015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640" y="3510000"/>
            <a:ext cx="55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Files for 2016 onward are paywalled or need institutional IMD access, making automated retrieval difficult.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CURRENT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What the website already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640" y="1512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Monsoon dominance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640" y="1746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75.2% of annual rain falls Jun-Sep. The map makes this instantly visible across all 36 subdivisions.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0000" y="1440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8000" y="1512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Sharp regional divide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8000" y="1746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Assam &amp; NE India: &gt;2000 mm/yr. West Rajasthan: &lt;200 mm/yr. The Globe view shows the gradient at a glance.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6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640" y="2448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Skewed distributions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40" y="2682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Monsoon totals are right-skewed (pooled skew 1.51). Gamma / Lognormal fits plotted in Dossier; Normal shown as poor fit.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0000" y="2376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8000" y="2448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Corrected trend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8000" y="2682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9 of 36 subdivisions show significant trends after BH correction — clearly highlighted in the trend panel.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2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640" y="3384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Drought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640" y="3618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1-in-20-year deficit per division: West Rajasthan 47.6%, Kerala 77.8% of long-run normal. Mapped in the dossier.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00" y="3312000"/>
            <a:ext cx="5403360" cy="86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8000" y="3384000"/>
            <a:ext cx="525936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Outfit"/>
              </a:rPr>
              <a:t>CV and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8000" y="3618000"/>
            <a:ext cx="525936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Coefficient of Variation 12% (Assam) to 41% (Saurashtra-Kutch). Visible in the stats panel.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05  · 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Priority: acquire updated post-2015 rainfall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75999"/>
            <a:ext cx="10914720" cy="827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75999"/>
            <a:ext cx="90000" cy="8279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63360" y="1583999"/>
            <a:ext cx="1800000" cy="23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9360" y="1594799"/>
            <a:ext cx="17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B1428"/>
                </a:solidFill>
                <a:latin typeface="Outfit"/>
              </a:rPr>
              <a:t>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640" y="1547999"/>
            <a:ext cx="875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Outfit"/>
              </a:rPr>
              <a:t>IMD Official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640" y="1799999"/>
            <a:ext cx="8754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imdpune.gov.in — apply for institutional data request. Monthly subdivision data available for registered users. Estimated approval lag: 2-4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11999"/>
            <a:ext cx="10914720" cy="827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11999"/>
            <a:ext cx="90000" cy="82799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63360" y="2519999"/>
            <a:ext cx="1800000" cy="234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9360" y="2530799"/>
            <a:ext cx="17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B1428"/>
                </a:solidFill>
                <a:latin typeface="Outfit"/>
              </a:rPr>
              <a:t>High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640" y="2483999"/>
            <a:ext cx="875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ERA5 Reanalysis  (ECMWF)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640" y="2735999"/>
            <a:ext cx="8754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Copernicus CDS: 0.25 degree grid, hourly, 1940-2025. Python cdsapi available. Aggregation to IMD subdivisions via boundary shapefile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7999"/>
            <a:ext cx="10914720" cy="827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47999"/>
            <a:ext cx="90000" cy="827999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63360" y="3455999"/>
            <a:ext cx="1800000" cy="23400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9360" y="3466799"/>
            <a:ext cx="17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B1428"/>
                </a:solidFill>
                <a:latin typeface="Outfit"/>
              </a:rPr>
              <a:t>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640" y="3419999"/>
            <a:ext cx="875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A526"/>
                </a:solidFill>
                <a:latin typeface="Outfit"/>
              </a:rPr>
              <a:t>CHIRPS / PERSIANN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640" y="3671999"/>
            <a:ext cx="8754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UC Santa Barbara rainfall estimate from satellite; daily, 0.05 degree grid, 1981-present. Open access. Less accurate over orographic terrain.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83999"/>
            <a:ext cx="10914720" cy="827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3999"/>
            <a:ext cx="90000" cy="827999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63360" y="4391999"/>
            <a:ext cx="1800000" cy="234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9360" y="4402799"/>
            <a:ext cx="17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B1428"/>
                </a:solidFill>
                <a:latin typeface="Outfit"/>
              </a:rPr>
              <a:t>Verify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640" y="4355999"/>
            <a:ext cx="875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D6EA"/>
                </a:solidFill>
                <a:latin typeface="Outfit"/>
              </a:rPr>
              <a:t>Kaggle / Zenodo community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640" y="4607999"/>
            <a:ext cx="87547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Community-curated datasets sometimes extend to 2022-2023. Verify against IMD bulletins before use — may contain processing errors.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05  · 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Once new data lands — planned analyses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64800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640" y="1565999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Outfi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4640" y="1440000"/>
            <a:ext cx="1033872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8640" y="1494000"/>
            <a:ext cx="1001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Extend trend analysis to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8640" y="1728000"/>
            <a:ext cx="100147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Re-run OLS and Mann-Kendall on 1901-2025 series. See if BH-corrected count shifts from current 9-of-36. Climate signal clearer with 10 more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6000"/>
            <a:ext cx="64800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640" y="2321999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Outfi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4640" y="2196000"/>
            <a:ext cx="1033872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8640" y="2250000"/>
            <a:ext cx="1001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Outfit"/>
              </a:rPr>
              <a:t>Update distribution fits and return periods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8640" y="2484000"/>
            <a:ext cx="100147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Refit Gamma / Lognormal with extended tails. Recalculate 1-in-20-year return thresholds per division — key metric for drought planning.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52000"/>
            <a:ext cx="64800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640" y="3077999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A526"/>
                </a:solidFill>
                <a:latin typeface="Outfi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4640" y="2952000"/>
            <a:ext cx="1033872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8640" y="3006000"/>
            <a:ext cx="1001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A526"/>
                </a:solidFill>
                <a:latin typeface="Outfit"/>
              </a:rPr>
              <a:t>District-level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8640" y="3240000"/>
            <a:ext cx="100147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If ERA5 or CHIRPS used, aggregate to ~700 IMD districts for finer spatial risk mapping. Heat-map view added to the website.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8000"/>
            <a:ext cx="64800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640" y="3833999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04640" y="3708000"/>
            <a:ext cx="1033872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8640" y="3762000"/>
            <a:ext cx="1001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Outfit"/>
              </a:rPr>
              <a:t>ENSO / IOD correlation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8640" y="3996000"/>
            <a:ext cx="100147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Overlay Nino 3.4 index against subdivision anomalies. Quantify teleconnection strength via Pearson r and lagged cross-correlation.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64000"/>
            <a:ext cx="64800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640" y="4589999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Outfit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04640" y="4464000"/>
            <a:ext cx="10338720" cy="64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8640" y="4518000"/>
            <a:ext cx="1001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Automated refresh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8640" y="4752000"/>
            <a:ext cx="100147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D6EA"/>
                </a:solidFill>
                <a:latin typeface="Outfit"/>
              </a:rPr>
              <a:t>Cron-pull → clean → recompute stats → update GeoJSON → hot-reload Streamlit app. Target: monthly cadence once data source is stable.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What we built  ·  what we know  · 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108000" cy="72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639" y="1476000"/>
            <a:ext cx="1073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Outfit"/>
              </a:rPr>
              <a:t>VARSA Website is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639" y="1746000"/>
            <a:ext cx="10734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Streamlit dashboard; WebGL map, 3D globe, dossier panel — powered by the 1901-2015 IMR dataset and the stats from Review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40000"/>
            <a:ext cx="108000" cy="720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639" y="2376000"/>
            <a:ext cx="1073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Outfit"/>
              </a:rPr>
              <a:t>Six key findings visualised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639" y="2646000"/>
            <a:ext cx="10734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Monsoon dominance, regional variance, skewed distributions, corrected trend count, drought thresholds, and CV map — all on screen.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0000"/>
            <a:ext cx="108000" cy="72000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639" y="3276000"/>
            <a:ext cx="1073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A526"/>
                </a:solidFill>
                <a:latin typeface="Outfit"/>
              </a:rPr>
              <a:t>Data ceiling at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639" y="3546000"/>
            <a:ext cx="10734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The IMR dataset ends 10 years ago. Post-2015 climate signal, including more-recent monsoon extremes, is not yet captured.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40000"/>
            <a:ext cx="108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639" y="4176000"/>
            <a:ext cx="1073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utfit"/>
              </a:rPr>
              <a:t>Next: extend the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639" y="4446000"/>
            <a:ext cx="10734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IMD portal request, ERA5 reanalysis, or CHIRPS satellite product. District resolution and ENSO correlation planned once data lands.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00000"/>
            <a:ext cx="110947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Outfit"/>
              </a:rPr>
              <a:t>VARSA turns historical rainfall records into statistically defensible findings —
and the website makes every finding explorable in real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51999"/>
            <a:ext cx="1109472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6EA"/>
                </a:solidFill>
                <a:latin typeface="Outfit"/>
              </a:rPr>
              <a:t>Questions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0" y="3456000"/>
            <a:ext cx="504000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8000"/>
            <a:ext cx="1109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9D6EA"/>
                </a:solidFill>
                <a:latin typeface="Outfit"/>
              </a:rPr>
              <a:t>Pratik (25BCE0337)  ·  Adarsh (25BCE0401)  ·  Arunya (25BCE0344)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60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9D6EA"/>
                </a:solidFill>
                <a:latin typeface="Outfit"/>
              </a:rPr>
              <a:t>Dr. Juhi Baroi  ·  Probability and Statistics (BAMAT207)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84000"/>
            <a:ext cx="1109472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F7A"/>
                </a:solidFill>
                <a:latin typeface="Outfit"/>
              </a:rPr>
              <a:t>Website: localhost:8501  |  Data: IMD 1901-2015  |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