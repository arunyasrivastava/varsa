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827999"/>
            <a:ext cx="648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A526"/>
                </a:solidFill>
                <a:latin typeface="Outfit"/>
              </a:rPr>
              <a:t>PROBABILITY &amp; STATISTICS  ·  REVIEW 3  ·  FINAL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080000"/>
            <a:ext cx="6480000" cy="115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200" b="1" i="0">
                <a:solidFill>
                  <a:srgbClr val="FFFFFF"/>
                </a:solidFill>
                <a:latin typeface="Outfit"/>
              </a:rPr>
              <a:t>VARSA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232000"/>
            <a:ext cx="648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0" i="0">
                <a:solidFill>
                  <a:srgbClr val="FFFFFF"/>
                </a:solidFill>
                <a:latin typeface="Outfit"/>
              </a:rPr>
              <a:t>Variability, Anomalies and Regional Statistics of Indian Rainfall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3348000"/>
            <a:ext cx="648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A526"/>
                </a:solidFill>
                <a:latin typeface="Outfit"/>
              </a:rPr>
              <a:t>FINAL RESULTS  ·  ASSUMPTION CHECKS  ·  RECOMMENDATION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600000"/>
            <a:ext cx="648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Full statistical pipeline on 36 subdivisions  |  1901–2015  |  every number reproducible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4140000"/>
            <a:ext cx="11094720" cy="187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4000" y="4392000"/>
            <a:ext cx="31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70" b="1" i="0">
                <a:solidFill>
                  <a:srgbClr val="E0A526"/>
                </a:solidFill>
                <a:latin typeface="Outfit"/>
              </a:rPr>
              <a:t>COURSE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4000" y="4644000"/>
            <a:ext cx="475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utfit"/>
              </a:rPr>
              <a:t>Probability and Statistics (BAMAT207)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4000" y="5076000"/>
            <a:ext cx="31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70" b="1" i="0">
                <a:solidFill>
                  <a:srgbClr val="E0A526"/>
                </a:solidFill>
                <a:latin typeface="Outfit"/>
              </a:rPr>
              <a:t>FACULTY GUIDE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4000" y="5328000"/>
            <a:ext cx="4752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utfit"/>
              </a:rPr>
              <a:t>Dr. Juhi Baroi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0000" y="4392000"/>
            <a:ext cx="316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70" b="1" i="0">
                <a:solidFill>
                  <a:srgbClr val="E0A526"/>
                </a:solidFill>
                <a:latin typeface="Outfit"/>
              </a:rPr>
              <a:t>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0000" y="4644000"/>
            <a:ext cx="237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Pratik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76000" y="4644000"/>
            <a:ext cx="27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25BCE0337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000" y="4989600"/>
            <a:ext cx="237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Adarsh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76000" y="4989600"/>
            <a:ext cx="27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25BCE0401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0000" y="5335200"/>
            <a:ext cx="237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Arunya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76000" y="5335200"/>
            <a:ext cx="2736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25BCE0344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263999"/>
            <a:ext cx="5472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70" b="0" i="0">
                <a:solidFill>
                  <a:srgbClr val="C9D6EA"/>
                </a:solidFill>
                <a:latin typeface="Outfit"/>
              </a:rPr>
              <a:t>October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Outfit"/>
              </a:rPr>
              <a:t>What the final report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6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12000"/>
            <a:ext cx="684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84640" y="1612800"/>
            <a:ext cx="61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C9D6EA"/>
                </a:solidFill>
                <a:latin typeface="Outfit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2640" y="1620000"/>
            <a:ext cx="1059936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Questions &amp; scope — what we asked of the data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196000"/>
            <a:ext cx="684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84640" y="2296800"/>
            <a:ext cx="61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38BDF8"/>
                </a:solidFill>
                <a:latin typeface="Outfi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2640" y="2304000"/>
            <a:ext cx="1059936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Data &amp; audit — two layers, one reproducible pipeline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880000"/>
            <a:ext cx="684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84640" y="2980800"/>
            <a:ext cx="61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C9D6EA"/>
                </a:solidFill>
                <a:latin typeface="Outfit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2640" y="2988000"/>
            <a:ext cx="1059936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Methods — the right test for each question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564000"/>
            <a:ext cx="684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4640" y="3664800"/>
            <a:ext cx="61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E0A526"/>
                </a:solidFill>
                <a:latin typeface="Outfit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2640" y="3672000"/>
            <a:ext cx="1059936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Key findings — six figures, six defensible claims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248000"/>
            <a:ext cx="684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4640" y="4348800"/>
            <a:ext cx="612000" cy="27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700" b="1" i="0">
                <a:solidFill>
                  <a:srgbClr val="22C55E"/>
                </a:solidFill>
                <a:latin typeface="Outfit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640" y="4356000"/>
            <a:ext cx="1059936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Verdict, limitations &amp; recommendation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01  ·  QUESTIONS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Five questions, carried from Review 1 to the finish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720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2640" y="1548000"/>
            <a:ext cx="61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Outfit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12640" y="1540800"/>
            <a:ext cx="68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Outfit"/>
              </a:rPr>
              <a:t>How concentrated is rainfall in the June–September monsoon?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052000"/>
            <a:ext cx="720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02640" y="2160000"/>
            <a:ext cx="61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Outfit"/>
              </a:rPr>
              <a:t>RQ2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2640" y="2152800"/>
            <a:ext cx="68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Outfit"/>
              </a:rPr>
              <a:t>How much do amount and reliability (CV) differ between subdivisions?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2664000"/>
            <a:ext cx="720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02640" y="2772000"/>
            <a:ext cx="61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Outfit"/>
              </a:rPr>
              <a:t>RQ3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2640" y="2764800"/>
            <a:ext cx="68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Outfit"/>
              </a:rPr>
              <a:t>Which distribution — Normal, Gamma or Lognormal — fits rainfall totals?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3276000"/>
            <a:ext cx="720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02640" y="3384000"/>
            <a:ext cx="61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Outfit"/>
              </a:rPr>
              <a:t>RQ4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2640" y="3376800"/>
            <a:ext cx="68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Outfit"/>
              </a:rPr>
              <a:t>Which subdivisions trend over 115 years, after correcting 36 tests?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88000"/>
            <a:ext cx="720000" cy="46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2640" y="3996000"/>
            <a:ext cx="612000" cy="288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200" b="1" i="0">
                <a:solidFill>
                  <a:srgbClr val="38BDF8"/>
                </a:solidFill>
                <a:latin typeface="Outfit"/>
              </a:rPr>
              <a:t>RQ5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12640" y="3988800"/>
            <a:ext cx="6840000" cy="30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FFFFFF"/>
                </a:solidFill>
                <a:latin typeface="Outfit"/>
              </a:rPr>
              <a:t>How deep is a 1-in-20-year deficit, nationally and by division?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716000"/>
            <a:ext cx="792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Why it matters: rainfall arrives in a few intense months and is spread unevenly across regions — farmers and water planners need local reliability, and statistics states how confident each claim can be.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936640" y="1440000"/>
            <a:ext cx="2706720" cy="4176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6640" y="1440000"/>
            <a:ext cx="2706720" cy="79200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44640" y="1584000"/>
            <a:ext cx="2490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A526"/>
                </a:solidFill>
                <a:latin typeface="Outfit"/>
              </a:rPr>
              <a:t>REVIEW 1  →  REVIEW 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44640" y="1908000"/>
            <a:ext cx="249072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Review 1: preliminary numbers from the raw IMD CSV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44640" y="2825999"/>
            <a:ext cx="249072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Review 2: interactive dashboard + data limitations logged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44640" y="3743998"/>
            <a:ext cx="249072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Review 3: full pipeline — every figure, test and p-value regenerates from one command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44640" y="4661997"/>
            <a:ext cx="249072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Same qualitative conclusions on both data layers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01  · 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Outfit"/>
              </a:rPr>
              <a:t>Scope &amp; boundaries — stated up front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5544000" cy="39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0000"/>
            <a:ext cx="5544000" cy="79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640" y="1584000"/>
            <a:ext cx="540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  <a:latin typeface="Outfit"/>
              </a:rPr>
              <a:t>IN SCOPE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640" y="1908000"/>
            <a:ext cx="532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36 IMD meteorological subdivisions, 1901–2015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640" y="2466000"/>
            <a:ext cx="532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Seasonal and annual aggregated totals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640" y="3024000"/>
            <a:ext cx="532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ANOVA family, distribution fitting, OLS + Mann–Kendall, correlation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640" y="3582000"/>
            <a:ext cx="532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Multiplicity control (BH/FDR) and assumption checks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640" y="4140000"/>
            <a:ext cx="5328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Reproducible Python pipeline + Streamlit dashboard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4640" y="1440000"/>
            <a:ext cx="5832000" cy="3960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44640" y="1440000"/>
            <a:ext cx="5832000" cy="79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639" y="1584000"/>
            <a:ext cx="56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7171"/>
                </a:solidFill>
                <a:latin typeface="Outfit"/>
              </a:rPr>
              <a:t>OUT OF SCOPE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639" y="1908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District- or grid-level analysis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2639" y="2466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Daily / sub-daily rainfall extremes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2639" y="3024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Causal attribution of trends (e.g. to climate change)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639" y="3582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Real-time data ingestion; forecasting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639" y="4140000"/>
            <a:ext cx="5616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▸  Spatial-statistical models (kriging, spatial autoregression)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5616000"/>
            <a:ext cx="1109472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9D6EA"/>
                </a:solidFill>
                <a:latin typeface="Outfit"/>
              </a:rPr>
              <a:t>Association is not causation: every method here describes patterns, not drivers.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02  ·  DATA &amp;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Outfit"/>
              </a:rPr>
              <a:t>Two data layers — one reproducible pipeline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5544000" cy="2376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6640" y="1565999"/>
            <a:ext cx="540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38BDF8"/>
                </a:solidFill>
                <a:latin typeface="Outfit"/>
              </a:rPr>
              <a:t>REFERENCE LAYER — RAW IMD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6640" y="1854000"/>
            <a:ext cx="5400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4,116 × 19 published subdivision file (data.gov.in / Kaggle mirror, CC BY-SA 4.0). Used for Review 1's preliminary numbers — 12 monthly, 4 seasonal and 1 annual column per subdivision-year.</a:t>
            </a:r>
          </a:p>
        </p:txBody>
      </p:sp>
      <p:sp>
        <p:nvSpPr>
          <p:cNvPr id="8" name="Rectangle 7"/>
          <p:cNvSpPr/>
          <p:nvPr/>
        </p:nvSpPr>
        <p:spPr>
          <a:xfrm>
            <a:off x="6344640" y="1440000"/>
            <a:ext cx="5832000" cy="2376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344640" y="1440000"/>
            <a:ext cx="5832000" cy="79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2639" y="1565999"/>
            <a:ext cx="56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  <a:latin typeface="Outfit"/>
              </a:rPr>
              <a:t>PIPELINE LAYER — ANALYSED (SEEDED, IN-REPO)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2639" y="1854000"/>
            <a:ext cx="5688000" cy="18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IMD-calibrated generated series (36 × 115 × 5 = 20,700 rows) built because the official file arrives in chunked releases needing manual assembly. Powers the dashboard and every number in this deck.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4031999"/>
            <a:ext cx="2638680" cy="16559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4639" y="4121999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20,700 × 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639" y="4589999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rows × columns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639" y="4805999"/>
            <a:ext cx="2458680" cy="86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36 divisions · 115 years · 5 series each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67319" y="4031999"/>
            <a:ext cx="2638680" cy="16559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93318" y="4121999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C55E"/>
                </a:solidFill>
                <a:latin typeface="Outfit"/>
              </a:rPr>
              <a:t>0 / 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93318" y="4589999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missing / duplicates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93318" y="4805999"/>
            <a:ext cx="2458680" cy="86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complete grid, no division-year gaps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86000" y="4031999"/>
            <a:ext cx="2638680" cy="16559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11999" y="4121999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0A526"/>
                </a:solidFill>
                <a:latin typeface="Outfit"/>
              </a:rPr>
              <a:t>230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11999" y="4589999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flagged values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11999" y="4805999"/>
            <a:ext cx="2458680" cy="86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1.1% slightly negative DJF (2 divisions) — artefact, documented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004680" y="4031999"/>
            <a:ext cx="2638680" cy="16559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30679" y="4121999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8BDF8"/>
                </a:solidFill>
                <a:latin typeface="Outfit"/>
              </a:rPr>
              <a:t>1,217 mm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30679" y="4589999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national normal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30679" y="4805999"/>
            <a:ext cx="2458680" cy="86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mean of 36 divisions, 1901–2015 (SD 148 mm)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5868000"/>
            <a:ext cx="1109472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9D6EA"/>
                </a:solidFill>
                <a:latin typeface="Outfit"/>
              </a:rPr>
              <a:t>One command regenerates data + tests + figures:  python scripts/final_analysis.py</a:t>
            </a:r>
          </a:p>
        </p:txBody>
      </p:sp>
      <p:sp>
        <p:nvSpPr>
          <p:cNvPr id="29" name="Rectangle 28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03  · 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Outfit"/>
              </a:rPr>
              <a:t>The right test for each question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0000"/>
            <a:ext cx="64800" cy="49679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10640" y="1486800"/>
            <a:ext cx="194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Outfit"/>
              </a:rPr>
              <a:t>Seasonality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4640" y="1486800"/>
            <a:ext cx="406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utfit"/>
              </a:rPr>
              <a:t>Seasonal means &amp; shares; one-way ANOVA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20640" y="1486800"/>
            <a:ext cx="471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Quantifies concentration and its variance share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232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23200"/>
            <a:ext cx="64800" cy="496799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0640" y="2070000"/>
            <a:ext cx="194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2C55E"/>
                </a:solidFill>
                <a:latin typeface="Outfit"/>
              </a:rPr>
              <a:t>Regional variability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4640" y="2070000"/>
            <a:ext cx="406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utfit"/>
              </a:rPr>
              <a:t>Levene test → Welch ANOVA (η²)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20640" y="2070000"/>
            <a:ext cx="471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36 groups with unequal variances — Welch, not ordinary ANOVA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064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06400"/>
            <a:ext cx="64800" cy="496799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10640" y="2653200"/>
            <a:ext cx="194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0A526"/>
                </a:solidFill>
                <a:latin typeface="Outfit"/>
              </a:rPr>
              <a:t>Distributions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44640" y="2653200"/>
            <a:ext cx="406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utfit"/>
              </a:rPr>
              <a:t>MLE fits + Kolmogorov–Smirnov; Shapiro–Wilk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20640" y="2653200"/>
            <a:ext cx="471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Nonparametric fit comparison across Normal / Gamma / Lognormal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896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89600"/>
            <a:ext cx="64800" cy="49679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0640" y="3236400"/>
            <a:ext cx="194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38BDF8"/>
                </a:solidFill>
                <a:latin typeface="Outfit"/>
              </a:rPr>
              <a:t>Trends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4640" y="3236400"/>
            <a:ext cx="406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utfit"/>
              </a:rPr>
              <a:t>OLS + Mann–Kendall + Sen's slope; BH-FDR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0640" y="3236400"/>
            <a:ext cx="471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Linear + rank-based trend, corrected for 36 simultaneous tests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728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772800"/>
            <a:ext cx="64800" cy="496799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10640" y="3819600"/>
            <a:ext cx="194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22C55E"/>
                </a:solidFill>
                <a:latin typeface="Outfit"/>
              </a:rPr>
              <a:t>Drought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4640" y="3819600"/>
            <a:ext cx="406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utfit"/>
              </a:rPr>
              <a:t>Deficit counts; empirical 5th percentile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0640" y="3819600"/>
            <a:ext cx="471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1-in-20-year level from the record, no parametric assumption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560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356000"/>
            <a:ext cx="64800" cy="496799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10640" y="4402800"/>
            <a:ext cx="1944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E0A526"/>
                </a:solidFill>
                <a:latin typeface="Outfit"/>
              </a:rPr>
              <a:t>Independence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4640" y="4402800"/>
            <a:ext cx="406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  <a:latin typeface="Outfit"/>
              </a:rPr>
              <a:t>Pearson r across all 630 division pairs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20640" y="4402800"/>
            <a:ext cx="4716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Measures shared weather between subdivisions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076000"/>
            <a:ext cx="1109472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9D6EA"/>
                </a:solidFill>
                <a:latin typeface="Outfit"/>
              </a:rPr>
              <a:t>Every family of 36 tests gets Benjamini–Hochberg correction — raw p-values are always shown next to adjusted ones.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Outfit"/>
              </a:rPr>
              <a:t>Six figures, six defensible claims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0000"/>
            <a:ext cx="64800" cy="49679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8640" y="15408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Outfi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2640" y="1486800"/>
            <a:ext cx="70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The monsoon dominates the rainfall year — everywhere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2640" y="1720800"/>
            <a:ext cx="10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73.7% national share; 67.8–80.3% by division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0232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023200"/>
            <a:ext cx="64800" cy="496799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8640" y="21240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Outfi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2640" y="2070000"/>
            <a:ext cx="70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Regions differ enormously, in amount and reliability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2640" y="2304000"/>
            <a:ext cx="10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24× mean range; CV 13.6% → 70.3%; η² = 0.861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6064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06400"/>
            <a:ext cx="64800" cy="496799"/>
          </a:xfrm>
          <a:prstGeom prst="rect">
            <a:avLst/>
          </a:prstGeom>
          <a:solidFill>
            <a:srgbClr val="E0A5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40" y="27072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E0A526"/>
                </a:solidFill>
                <a:latin typeface="Outfi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2640" y="2653200"/>
            <a:ext cx="70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Pooled totals are right-skewed — Normal is the wrong default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2640" y="2887200"/>
            <a:ext cx="10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KS: Normal 0.185 vs Lognormal 0.069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1896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189600"/>
            <a:ext cx="64800" cy="496799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640" y="32904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87171"/>
                </a:solidFill>
                <a:latin typeface="Outfit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2640" y="3236400"/>
            <a:ext cx="70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No trend survives multiple-testing correction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2640" y="3470400"/>
            <a:ext cx="10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3 → 0 of 36 after BH; national CI spans zero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37728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772800"/>
            <a:ext cx="64800" cy="496799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28640" y="38736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38BDF8"/>
                </a:solidFill>
                <a:latin typeface="Outfit"/>
              </a:rPr>
              <a:t>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32640" y="3819600"/>
            <a:ext cx="70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Drought risk is intensely local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32640" y="4053600"/>
            <a:ext cx="10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1-in-20-yr: 15.8% of normal (W Rajasthan) vs 77.8% (Kerala)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40" y="4356000"/>
            <a:ext cx="11094720" cy="4967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48640" y="4356000"/>
            <a:ext cx="64800" cy="496799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8640" y="4456800"/>
            <a:ext cx="432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2C55E"/>
                </a:solidFill>
                <a:latin typeface="Outfit"/>
              </a:rPr>
              <a:t>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32640" y="4402800"/>
            <a:ext cx="702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FFFF"/>
                </a:solidFill>
                <a:latin typeface="Outfit"/>
              </a:rPr>
              <a:t>Divisions share weather — independence is violated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32640" y="4636800"/>
            <a:ext cx="10260000" cy="19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64.9% of 630 pairs correlate significantly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112000"/>
            <a:ext cx="1109472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C9D6EA"/>
                </a:solidFill>
                <a:latin typeface="Outfit"/>
              </a:rPr>
              <a:t>Each claim is shown with its figure on the next six slides — numbers match review_3/final_report.md exactly.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 1/6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The monsoon dominates the rainfall year — everywhere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1_seasona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475999"/>
            <a:ext cx="7200000" cy="31987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872738"/>
            <a:ext cx="357824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639" y="4962738"/>
            <a:ext cx="339824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73.7%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39" y="5430738"/>
            <a:ext cx="339824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national Jun–Sep share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39" y="5646738"/>
            <a:ext cx="339824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882 mm of the 1,197 mm rainfall year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6880" y="4872738"/>
            <a:ext cx="357824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2879" y="4962738"/>
            <a:ext cx="339824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8BDF8"/>
                </a:solidFill>
                <a:latin typeface="Outfit"/>
              </a:rPr>
              <a:t>67.8–80.3%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2879" y="5430738"/>
            <a:ext cx="339824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divisional share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2879" y="5646738"/>
            <a:ext cx="339824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even the least monsoonal division gets two-thirds in Jun–Sep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120" y="4872738"/>
            <a:ext cx="357824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1119" y="4962738"/>
            <a:ext cx="339824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C55E"/>
                </a:solidFill>
                <a:latin typeface="Outfit"/>
              </a:rPr>
              <a:t>η² = 0.51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119" y="5430738"/>
            <a:ext cx="339824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variance explained by season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1119" y="5646738"/>
            <a:ext cx="339824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one-way ANOVA F = 5,785.6, p &lt; 0.001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18000"/>
            <a:ext cx="11094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Figure: fig1_seasonality.png — national seasonal means (A) and per-division monsoon share (B).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 2/6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Regions differ enormously — in amount and in reliability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2_regional_variab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6000" y="1475999"/>
            <a:ext cx="6840000" cy="3350071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256000"/>
            <a:ext cx="2638680" cy="133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639" y="5346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24×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39" y="5814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mean annual range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39" y="6030000"/>
            <a:ext cx="245868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Ladakh 148 mm → Konkan &amp; Goa 3,511 mm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319" y="5256000"/>
            <a:ext cx="2638680" cy="133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318" y="5346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38BDF8"/>
                </a:solidFill>
                <a:latin typeface="Outfit"/>
              </a:rPr>
              <a:t>CV 13.6–70.3%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318" y="5814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reliability range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318" y="6030000"/>
            <a:ext cx="245868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Kerala steadiest; Ladakh least reliable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6000" y="5256000"/>
            <a:ext cx="2638680" cy="133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1999" y="5346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C55E"/>
                </a:solidFill>
                <a:latin typeface="Outfit"/>
              </a:rPr>
              <a:t>η² = 0.861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1999" y="5814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variance explained by region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1999" y="6030000"/>
            <a:ext cx="245868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Welch ANOVA F(35,1445) = 588.5, p &lt; 0.001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4680" y="5256000"/>
            <a:ext cx="2638680" cy="133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0679" y="5346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0" b="1" i="0">
                <a:solidFill>
                  <a:srgbClr val="E0A526"/>
                </a:solidFill>
                <a:latin typeface="Outfit"/>
              </a:rPr>
              <a:t>Levene p ≈ 10⁻¹⁶¹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679" y="5814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equal variances rejected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679" y="6030000"/>
            <a:ext cx="245868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so inference rests on Welch, not ordinary ANOVA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18000"/>
            <a:ext cx="11094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Figure: fig2_regional_variability.png — means coloured by CV (A) and CV ranking (B).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 3/6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Pooled totals are right-skewed — Normal is the wrong default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4_distribution_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475999"/>
            <a:ext cx="7200000" cy="31987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872738"/>
            <a:ext cx="357824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639" y="4962738"/>
            <a:ext cx="339824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87171"/>
                </a:solidFill>
                <a:latin typeface="Outfit"/>
              </a:rPr>
              <a:t>KS D = 0.185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39" y="5430738"/>
            <a:ext cx="339824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Normal fit (pooled JAS)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39" y="5646738"/>
            <a:ext cx="339824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Shapiro–Wilk p ≈ 10⁻⁵⁵ — normality rejected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06880" y="4872738"/>
            <a:ext cx="357824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2879" y="4962738"/>
            <a:ext cx="339824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C55E"/>
                </a:solidFill>
                <a:latin typeface="Outfit"/>
              </a:rPr>
              <a:t>KS D = 0.069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32879" y="5430738"/>
            <a:ext cx="339824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Lognormal fit (best pooled)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2879" y="5646738"/>
            <a:ext cx="339824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Gamma 0.094 — both far better than Normal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120" y="4872738"/>
            <a:ext cx="357824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191119" y="4962738"/>
            <a:ext cx="339824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0A526"/>
                </a:solidFill>
                <a:latin typeface="Outfit"/>
              </a:rPr>
              <a:t>33 /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191119" y="5430738"/>
            <a:ext cx="339824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divisions near-normal within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91119" y="5646738"/>
            <a:ext cx="339824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pooled skew is a between-region scale mixture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18000"/>
            <a:ext cx="11094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Figure: fig4_distribution_fits.png — model choice depends on the unit of analysis.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 4/6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Trend claims evaporate under correction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5_tren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475999"/>
            <a:ext cx="7200000" cy="3710407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5384407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639" y="5474407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87171"/>
                </a:solidFill>
                <a:latin typeface="Outfit"/>
              </a:rPr>
              <a:t>3 → 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39" y="5942407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significant after BH (5% FDR)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39" y="6158407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smallest adjusted q = 0.44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319" y="5384407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318" y="5474407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−34 mm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318" y="5942407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national trend per century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318" y="6158407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95% CI [−117, +49] — contains zero (p = 0.42)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6000" y="5384407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1999" y="5474407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38BDF8"/>
                </a:solidFill>
                <a:latin typeface="Outfit"/>
              </a:rPr>
              <a:t>36 /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1999" y="5942407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OLS &amp; Mann–Kendall sign agreement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1999" y="6158407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rank-based check confirms the OLS picture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4680" y="5384407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0679" y="5474407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C9D6EA"/>
                </a:solidFill>
                <a:latin typeface="Outfit"/>
              </a:rPr>
              <a:t>p = 0.75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679" y="5942407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two-era test (1950–80 vs 1981–2015)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679" y="6158407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−11.5 mm (−0.96%) — no era shift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18000"/>
            <a:ext cx="11094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Figure: fig5_trends.png — a null result, reported as a result.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 5/6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Drought risk is intensely local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6_drough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475999"/>
            <a:ext cx="7200000" cy="292500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59900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639" y="4689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87171"/>
                </a:solidFill>
                <a:latin typeface="Outfit"/>
              </a:rPr>
              <a:t>15.8%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39" y="5157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1-in-20-yr level, W Rajasthan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39" y="537300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a ~50 mm year against a 317 mm normal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319" y="459900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318" y="4689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C55E"/>
                </a:solidFill>
                <a:latin typeface="Outfit"/>
              </a:rPr>
              <a:t>77.8%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318" y="5157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1-in-20-yr level, Kerala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318" y="537300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the steadiest division barely dips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6000" y="459900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1999" y="4689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0A526"/>
                </a:solidFill>
                <a:latin typeface="Outfit"/>
              </a:rPr>
              <a:t>31 / 115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1999" y="5157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national years below 90% of normal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1999" y="537300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clustered in epochs: 1918–29, 1950–58, 1979–86, 2009–15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4680" y="459900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0679" y="468900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679" y="515700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national years below 75%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679" y="537300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severe deficits are divisional, never all-India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18000"/>
            <a:ext cx="11094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Figure: fig6_drought.png — national deficit years (A) and per-division 1-in-20-year levels (B).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KEY FINDINGS 6/6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Divisions share weather — independence is violated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7_correlat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00" y="1512000"/>
            <a:ext cx="4824000" cy="428413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6156000" y="1584000"/>
            <a:ext cx="5472000" cy="1296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81999" y="1674000"/>
            <a:ext cx="529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mean r = 0.243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81999" y="2142000"/>
            <a:ext cx="52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across 630 division pairs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81999" y="2358000"/>
            <a:ext cx="529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range −0.15 to 0.74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56000" y="3024000"/>
            <a:ext cx="5472000" cy="1296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81999" y="3114000"/>
            <a:ext cx="529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E0A526"/>
                </a:solidFill>
                <a:latin typeface="Outfit"/>
              </a:rPr>
              <a:t>64.9%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99" y="3582000"/>
            <a:ext cx="52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pairs significant at 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99" y="3798000"/>
            <a:ext cx="529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|r| &gt; 0.183 for n = 115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56000" y="4464000"/>
            <a:ext cx="5472000" cy="1296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81999" y="4554000"/>
            <a:ext cx="529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87171"/>
                </a:solidFill>
                <a:latin typeface="Outfit"/>
              </a:rPr>
              <a:t>36 ≠ 36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81999" y="5022000"/>
            <a:ext cx="5292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independent samples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81999" y="5238000"/>
            <a:ext cx="529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borderline p-values are weaker evidence than they look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56000" y="5976000"/>
            <a:ext cx="5472000" cy="503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C9D6EA"/>
                </a:solidFill>
                <a:latin typeface="Outfit"/>
              </a:rPr>
              <a:t>Headline conclusions therefore rest on large effects (η² = 0.86, share = 73.7%) — not on borderline p-values.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04  ·  UPDATE — THE MISSING DECADE, RECOVERED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Official IMD data 2015–2026 acquired, validated — and it confirms the verdict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ig8_extended_national_ser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6000" y="1475999"/>
            <a:ext cx="7200000" cy="3029880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548640" y="470388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74639" y="479388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FFFFF"/>
                </a:solidFill>
                <a:latin typeface="Outfit"/>
              </a:rPr>
              <a:t>−18 mm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4639" y="526188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observed annual trend per century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4639" y="547788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1901–2025, p = 0.50 — null verdict holds on real data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67319" y="470388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93318" y="479388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22C55E"/>
                </a:solidFill>
                <a:latin typeface="Outfit"/>
              </a:rPr>
              <a:t>+0.7%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3318" y="526188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monsoon, 2016–2025 vs 1901–2015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93318" y="547788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1,186 vs 1,180 mm — no decade shift (Welch p = 0.84)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86000" y="470388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1999" y="479388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900" b="1" i="0">
                <a:solidFill>
                  <a:srgbClr val="F87171"/>
                </a:solidFill>
                <a:latin typeface="Outfit"/>
              </a:rPr>
              <a:t>−12.6%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11999" y="526188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live 2026 monsoon deficit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11999" y="547788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759 mm Jun–Sep — a deficit year happening now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04680" y="4703880"/>
            <a:ext cx="2638680" cy="140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30679" y="4793880"/>
            <a:ext cx="245868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E0A526"/>
                </a:solidFill>
                <a:latin typeface="Outfit"/>
              </a:rPr>
              <a:t>±75%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30679" y="5261880"/>
            <a:ext cx="245868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recent subdivision extremes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30679" y="5477880"/>
            <a:ext cx="2458680" cy="61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Saurashtra &amp; Kutch +75% (2024); Kerala −34% in two years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318000"/>
            <a:ext cx="1109472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9D6EA"/>
                </a:solidFill>
                <a:latin typeface="Outfit"/>
              </a:rPr>
              <a:t>Source: IMD Annual Climate Summaries + CMPG live tables — fetched &amp; validated by scripts/data/fetch_observed.py (1,800 cells, 0 check failures).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05  ·  VERDICT &amp; LIMITATIONS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What the data cannot say — and the feasibility verdict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5544000" cy="40319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0000"/>
            <a:ext cx="5544000" cy="79200"/>
          </a:xfrm>
          <a:prstGeom prst="rect">
            <a:avLst/>
          </a:prstGeom>
          <a:solidFill>
            <a:srgbClr val="F871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6640" y="1584000"/>
            <a:ext cx="540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F87171"/>
                </a:solidFill>
                <a:latin typeface="Outfit"/>
              </a:rPr>
              <a:t>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640" y="1890000"/>
            <a:ext cx="5328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Pipeline layer is IMD-calibrated but generated — tail behaviour and trend strength re-validated on the observed layer (§5.7)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6640" y="2592000"/>
            <a:ext cx="5328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2020's subdivision table is not machine-verifiable (IMD 'real time' values) — excluded by an automated quality gate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640" y="3294000"/>
            <a:ext cx="5328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2026 annual totals incomplete (year in progress; monsoon complete at −12.6%)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6640" y="3996000"/>
            <a:ext cx="5328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Subdivision + monthly resolution — no district detail, no daily extremes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640" y="4698000"/>
            <a:ext cx="5328000" cy="68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9D6EA"/>
                </a:solidFill>
                <a:latin typeface="Outfit"/>
              </a:rPr>
              <a:t>▸  A 125-year linear slope is a crude summary of a record with wet/dry epochs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44640" y="1440000"/>
            <a:ext cx="5832000" cy="4031999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44640" y="1440000"/>
            <a:ext cx="5832000" cy="792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52639" y="1584000"/>
            <a:ext cx="5688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22C55E"/>
                </a:solidFill>
                <a:latin typeface="Outfit"/>
              </a:rPr>
              <a:t>FEASIBILITY VERDICT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52639" y="1908000"/>
            <a:ext cx="56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0A526"/>
                </a:solidFill>
                <a:latin typeface="Outfit"/>
              </a:rPr>
              <a:t>Data sufficient?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2639" y="2131200"/>
            <a:ext cx="56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Outfit"/>
              </a:rPr>
              <a:t>Yes — pipeline + observed IMD layer to 2026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2639" y="2790000"/>
            <a:ext cx="56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0A526"/>
                </a:solidFill>
                <a:latin typeface="Outfit"/>
              </a:rPr>
              <a:t>Methods appropriate &amp; reproducible?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639" y="3013200"/>
            <a:ext cx="56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Outfit"/>
              </a:rPr>
              <a:t>Yes — every layer regenerates from scripts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639" y="3672000"/>
            <a:ext cx="56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0A526"/>
                </a:solidFill>
                <a:latin typeface="Outfit"/>
              </a:rPr>
              <a:t>Risks identified?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2639" y="3895200"/>
            <a:ext cx="56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FFFFFF"/>
                </a:solidFill>
                <a:latin typeface="Outfit"/>
              </a:rPr>
              <a:t>Yes — provenance documented; 2020 gap flagged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639" y="4554000"/>
            <a:ext cx="5688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E0A526"/>
                </a:solidFill>
                <a:latin typeface="Outfit"/>
              </a:rPr>
              <a:t>Overall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2639" y="4777200"/>
            <a:ext cx="568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22C55E"/>
                </a:solidFill>
                <a:latin typeface="Outfit"/>
              </a:rPr>
              <a:t>FEASIBLE — top next step (post-2015 data) COMPLETED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05  ·  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Outfit"/>
              </a:rPr>
              <a:t>Continue — with data replacement, not method change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60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440000"/>
            <a:ext cx="11094720" cy="68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48640" y="1440000"/>
            <a:ext cx="64800" cy="684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8640" y="1584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Outfit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2640" y="1497600"/>
            <a:ext cx="10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utfit"/>
              </a:rPr>
              <a:t>Keep the pipeline &amp; 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2640" y="1756800"/>
            <a:ext cx="102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Methods are sound; every figure regenerates from scripts.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2214000"/>
            <a:ext cx="11094720" cy="68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214000"/>
            <a:ext cx="64800" cy="6840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8640" y="2358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22C55E"/>
                </a:solidFill>
                <a:latin typeface="Outfit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2640" y="2271600"/>
            <a:ext cx="10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utfit"/>
              </a:rPr>
              <a:t>Post-2015 data acquisition — DONE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2640" y="2530800"/>
            <a:ext cx="102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Observed IMD layer 2015-2026 fetched, validated (1,800 cells, 0 failures) and analysed.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2988000"/>
            <a:ext cx="11094720" cy="68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988000"/>
            <a:ext cx="64800" cy="68400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8640" y="3132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38BDF8"/>
                </a:solidFill>
                <a:latin typeface="Outfit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32640" y="3045600"/>
            <a:ext cx="10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utfit"/>
              </a:rPr>
              <a:t>Complete the observed record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2640" y="3304800"/>
            <a:ext cx="102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Obtain the verifiable 2020 subdivision table (IMD request); re-run the division-level pipeline on the combined 1901-2025 observed record.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3762000"/>
            <a:ext cx="11094720" cy="68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762000"/>
            <a:ext cx="64800" cy="684000"/>
          </a:xfrm>
          <a:prstGeom prst="rect">
            <a:avLst/>
          </a:prstGeom>
          <a:solidFill>
            <a:srgbClr val="C9D6E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640" y="3906000"/>
            <a:ext cx="432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C9D6EA"/>
                </a:solidFill>
                <a:latin typeface="Outfit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2640" y="3819600"/>
            <a:ext cx="1026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Outfit"/>
              </a:rPr>
              <a:t>Then widen: districts + ENSO/IOD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2640" y="4078800"/>
            <a:ext cx="10260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Finer risk mapping; Pearson r and lagged cross-correlation against Niño 3.4.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680000"/>
            <a:ext cx="11094720" cy="1224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74639" y="4788000"/>
            <a:ext cx="10800000" cy="23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E0A526"/>
                </a:solidFill>
                <a:latin typeface="Outfit"/>
              </a:rPr>
              <a:t>WHAT WE LEARNED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74639" y="5040000"/>
            <a:ext cx="1098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9D6EA"/>
                </a:solidFill>
                <a:latin typeface="Outfit"/>
              </a:rPr>
              <a:t>Testing 36 divisions is one experiment, not 36. Assumption checks (Levene, Shapiro–Wilk) decided which tests we were allowed to use. And a null trend result is still a result — we report it rather than shop for significance.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109472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E0A526"/>
                </a:solidFill>
                <a:latin typeface="Outfit"/>
              </a:rPr>
              <a:t>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12000"/>
            <a:ext cx="1109472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Outfit"/>
              </a:rPr>
              <a:t>Five things the data tells us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96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48640" y="1548000"/>
            <a:ext cx="612000" cy="61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02640" y="1656000"/>
            <a:ext cx="503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8BDF8"/>
                </a:solidFill>
                <a:latin typeface="Outfit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40640" y="1566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Rain is concentrated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0640" y="1854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73.7% falls in Jun–Sep; season explains 51% of variance.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40" y="2322000"/>
            <a:ext cx="612000" cy="61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02640" y="2430000"/>
            <a:ext cx="503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22C55E"/>
                </a:solidFill>
                <a:latin typeface="Outfit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0640" y="2340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Regions differ sharply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0640" y="2628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Region explains 86.1% of variance; CV runs 13.6% → 70.3%.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3096000"/>
            <a:ext cx="612000" cy="61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02640" y="3204000"/>
            <a:ext cx="503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E0A526"/>
                </a:solidFill>
                <a:latin typeface="Outfit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0640" y="3114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Model choice depends on scale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40640" y="3402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Pooled totals need Gamma/Lognormal; within a division, Normal suffices.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70000"/>
            <a:ext cx="612000" cy="61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02640" y="3978000"/>
            <a:ext cx="503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87171"/>
                </a:solidFill>
                <a:latin typeface="Outfit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0640" y="3888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Trends need caution — and honesty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40640" y="4176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3 of 36 raw trends fall to 0 after BH; national CI spans zero.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644000"/>
            <a:ext cx="612000" cy="612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02640" y="4752000"/>
            <a:ext cx="503999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38BDF8"/>
                </a:solidFill>
                <a:latin typeface="Outfit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0640" y="4662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Outfit"/>
              </a:rPr>
              <a:t>Drought risk is local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40640" y="4950000"/>
            <a:ext cx="10080000" cy="27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C9D6EA"/>
                </a:solidFill>
                <a:latin typeface="Outfit"/>
              </a:rPr>
              <a:t>A 1-in-20-year year means 15.8% of normal in W Rajasthan, 77.8% in Kerala.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570000"/>
            <a:ext cx="12192000" cy="288000"/>
          </a:xfrm>
          <a:prstGeom prst="rect">
            <a:avLst/>
          </a:prstGeom>
          <a:solidFill>
            <a:srgbClr val="0F20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6598800"/>
            <a:ext cx="5040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C9D6EA"/>
                </a:solidFill>
                <a:latin typeface="Outfit"/>
              </a:rPr>
              <a:t>VARSA  ·  Probability &amp; Statistics  ·  BAMAT207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92000" y="6598800"/>
            <a:ext cx="864000" cy="21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C9D6EA"/>
                </a:solidFill>
                <a:latin typeface="Outfit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4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00000"/>
            <a:ext cx="11160000" cy="93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Outfit"/>
              </a:rPr>
              <a:t>VARSA turns 115 years of rainfall into statistically defensible findings 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736000"/>
            <a:ext cx="11160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E0A526"/>
                </a:solidFill>
                <a:latin typeface="Outfit"/>
              </a:rPr>
              <a:t>every figure, test and p-value reproducible from one command.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3564000"/>
            <a:ext cx="11094720" cy="18000"/>
          </a:xfrm>
          <a:prstGeom prst="rect">
            <a:avLst/>
          </a:prstGeom>
          <a:solidFill>
            <a:srgbClr val="1E35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3851999"/>
            <a:ext cx="11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  <a:latin typeface="Outfit"/>
              </a:rPr>
              <a:t>Questions welcome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4536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6EA"/>
                </a:solidFill>
                <a:latin typeface="Outfit"/>
              </a:rPr>
              <a:t>Pratik (25BCE0337)  ·  Adarsh (25BCE0401)  ·  Arunya (25BCE0344)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860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C9D6EA"/>
                </a:solidFill>
                <a:latin typeface="Outfit"/>
              </a:rPr>
              <a:t>Dr. Juhi Baroi  ·  Probability and Statistics (BAMAT207)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328000"/>
            <a:ext cx="1116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9D6EA"/>
                </a:solidFill>
                <a:latin typeface="Outfit"/>
              </a:rPr>
              <a:t>Report: review_3/final_report.md  ·  Pipeline: scripts/final_analysis.py  ·  Dashboard: streamlit run app.py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