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7999"/>
            <a:ext cx="64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A526"/>
                </a:solidFill>
                <a:latin typeface="Outfit"/>
              </a:rPr>
              <a:t>PROBABILITY &amp; STATISTICS  ·  REVIEW 3  ·  FINAL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80000"/>
            <a:ext cx="648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0" b="1" i="0">
                <a:solidFill>
                  <a:srgbClr val="FFFFFF"/>
                </a:solidFill>
                <a:latin typeface="Outfit"/>
              </a:rPr>
              <a:t>VARSA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32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0" i="0">
                <a:solidFill>
                  <a:srgbClr val="FFFFFF"/>
                </a:solidFill>
                <a:latin typeface="Outfit"/>
              </a:rPr>
              <a:t>Variability, Anomalies and Regional Statistics of Indian Rainfall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48000"/>
            <a:ext cx="64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A526"/>
                </a:solidFill>
                <a:latin typeface="Outfit"/>
              </a:rPr>
              <a:t>FINAL RESULTS  ·  ASSUMPTION CHECKS  · 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00000"/>
            <a:ext cx="64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6EA"/>
                </a:solidFill>
                <a:latin typeface="Outfit"/>
              </a:rPr>
              <a:t>Full statistical pipeline on 36 subdivisions  |  1901–2015  |  every number reproducible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40000"/>
            <a:ext cx="11094720" cy="1872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000" y="4392000"/>
            <a:ext cx="31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70" b="1" i="0">
                <a:solidFill>
                  <a:srgbClr val="E0A526"/>
                </a:solidFill>
                <a:latin typeface="Outfit"/>
              </a:rPr>
              <a:t>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4644000"/>
            <a:ext cx="47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utfit"/>
              </a:rPr>
              <a:t>Probability and Statistics (BAMAT207)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000" y="5076000"/>
            <a:ext cx="31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70" b="1" i="0">
                <a:solidFill>
                  <a:srgbClr val="E0A526"/>
                </a:solidFill>
                <a:latin typeface="Outfit"/>
              </a:rPr>
              <a:t>FACULTY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000" y="5328000"/>
            <a:ext cx="47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utfit"/>
              </a:rPr>
              <a:t>Dr. Juhi Baroi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000" y="4392000"/>
            <a:ext cx="31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70" b="1" i="0">
                <a:solidFill>
                  <a:srgbClr val="E0A526"/>
                </a:solidFill>
                <a:latin typeface="Outfit"/>
              </a:rPr>
              <a:t>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000" y="4644000"/>
            <a:ext cx="237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Outfit"/>
              </a:rPr>
              <a:t>Pratik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76000" y="4644000"/>
            <a:ext cx="273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6EA"/>
                </a:solidFill>
                <a:latin typeface="Outfit"/>
              </a:rPr>
              <a:t>25BCE0337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000" y="4989600"/>
            <a:ext cx="237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Outfit"/>
              </a:rPr>
              <a:t>Adarsh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6000" y="4989600"/>
            <a:ext cx="273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6EA"/>
                </a:solidFill>
                <a:latin typeface="Outfit"/>
              </a:rPr>
              <a:t>25BCE0401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000" y="5335200"/>
            <a:ext cx="237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Outfit"/>
              </a:rPr>
              <a:t>Arunya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6000" y="5335200"/>
            <a:ext cx="2736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6EA"/>
                </a:solidFill>
                <a:latin typeface="Outfit"/>
              </a:rPr>
              <a:t>25BCE0344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999"/>
            <a:ext cx="547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70" b="0" i="0">
                <a:solidFill>
                  <a:srgbClr val="C9D6EA"/>
                </a:solidFill>
                <a:latin typeface="Outfit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88000"/>
            <a:ext cx="1109472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Outfit"/>
              </a:rPr>
              <a:t>What the final report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6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12000"/>
            <a:ext cx="684000" cy="46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4640" y="1612800"/>
            <a:ext cx="612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C9D6EA"/>
                </a:solidFill>
                <a:latin typeface="Outfi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2640" y="1620000"/>
            <a:ext cx="1059936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utfit"/>
              </a:rPr>
              <a:t>Questions &amp; scope — what we asked of the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6000"/>
            <a:ext cx="684000" cy="46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4640" y="2296800"/>
            <a:ext cx="612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38BDF8"/>
                </a:solidFill>
                <a:latin typeface="Outfi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2640" y="2304000"/>
            <a:ext cx="1059936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utfit"/>
              </a:rPr>
              <a:t>Data &amp; audit — two layers, one reproducible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0000"/>
            <a:ext cx="684000" cy="46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4640" y="2980800"/>
            <a:ext cx="612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C9D6EA"/>
                </a:solidFill>
                <a:latin typeface="Outfi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2640" y="2988000"/>
            <a:ext cx="1059936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utfit"/>
              </a:rPr>
              <a:t>Methods — the right test for each question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64000"/>
            <a:ext cx="684000" cy="46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4640" y="3664800"/>
            <a:ext cx="612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E0A526"/>
                </a:solidFill>
                <a:latin typeface="Outfit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2640" y="3672000"/>
            <a:ext cx="1059936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utfit"/>
              </a:rPr>
              <a:t>Key findings — six figures, six defensible claims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48000"/>
            <a:ext cx="684000" cy="46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4640" y="4348800"/>
            <a:ext cx="612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22C55E"/>
                </a:solidFill>
                <a:latin typeface="Outfit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2640" y="4356000"/>
            <a:ext cx="1059936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utfit"/>
              </a:rPr>
              <a:t>Verdict, limitations &amp; recommendation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88000"/>
            <a:ext cx="1109472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01  · 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Outfit"/>
              </a:rPr>
              <a:t>Five questions, carried from Review 1 to the finish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0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40000"/>
            <a:ext cx="720000" cy="46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2640" y="1548000"/>
            <a:ext cx="61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  <a:latin typeface="Outfit"/>
              </a:rPr>
              <a:t>RQ1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2640" y="1540800"/>
            <a:ext cx="68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Outfit"/>
              </a:rPr>
              <a:t>How concentrated is rainfall in the June–September monsoon?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2000"/>
            <a:ext cx="720000" cy="46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2640" y="2160000"/>
            <a:ext cx="61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  <a:latin typeface="Outfit"/>
              </a:rPr>
              <a:t>RQ2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2640" y="2152800"/>
            <a:ext cx="68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Outfit"/>
              </a:rPr>
              <a:t>How much do amount and reliability (CV) differ between subdivisions?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64000"/>
            <a:ext cx="720000" cy="46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2640" y="2772000"/>
            <a:ext cx="61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  <a:latin typeface="Outfit"/>
              </a:rPr>
              <a:t>RQ3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2640" y="2764800"/>
            <a:ext cx="68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Outfit"/>
              </a:rPr>
              <a:t>Which distribution — Normal, Gamma or Lognormal — fits rainfall totals?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76000"/>
            <a:ext cx="720000" cy="46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2640" y="3384000"/>
            <a:ext cx="61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  <a:latin typeface="Outfit"/>
              </a:rPr>
              <a:t>RQ4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2640" y="3376800"/>
            <a:ext cx="68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Outfit"/>
              </a:rPr>
              <a:t>Which subdivisions trend over 115 years, after correcting 36 tests?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88000"/>
            <a:ext cx="720000" cy="46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2640" y="3996000"/>
            <a:ext cx="61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  <a:latin typeface="Outfit"/>
              </a:rPr>
              <a:t>RQ5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2640" y="3988800"/>
            <a:ext cx="68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Outfit"/>
              </a:rPr>
              <a:t>How deep is a 1-in-20-year deficit, nationally and by division?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16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9D6EA"/>
                </a:solidFill>
                <a:latin typeface="Outfit"/>
              </a:rPr>
              <a:t>Why it matters: rainfall arrives in a few intense months and is spread unevenly across regions — farmers and water planners need local reliability, and statistics states how confident each claim can be.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36640" y="1440000"/>
            <a:ext cx="2706720" cy="4176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36640" y="1440000"/>
            <a:ext cx="2706720" cy="79200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44640" y="1584000"/>
            <a:ext cx="249072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A526"/>
                </a:solidFill>
                <a:latin typeface="Outfit"/>
              </a:rPr>
              <a:t>REVIEW 1  →  REVIEW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4640" y="1908000"/>
            <a:ext cx="249072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▸  Review 1: preliminary numbers from the raw IMD 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4640" y="2825999"/>
            <a:ext cx="249072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▸  Review 2: interactive dashboard + data limitations logged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4640" y="3743998"/>
            <a:ext cx="249072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▸  Review 3: full pipeline — every figure, test and p-value regenerates from one command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4640" y="4661997"/>
            <a:ext cx="249072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▸  Same qualitative conclusions on both data layers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88000"/>
            <a:ext cx="1109472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01  · 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Outfit"/>
              </a:rPr>
              <a:t>Scope &amp; boundaries — stated up front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0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40000"/>
            <a:ext cx="5544000" cy="39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40000"/>
            <a:ext cx="5544000" cy="79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640" y="1584000"/>
            <a:ext cx="5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  <a:latin typeface="Outfit"/>
              </a:rPr>
              <a:t>IN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640" y="1908000"/>
            <a:ext cx="532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6EA"/>
                </a:solidFill>
                <a:latin typeface="Outfit"/>
              </a:rPr>
              <a:t>▸  36 IMD meteorological subdivisions, 1901–2015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640" y="2466000"/>
            <a:ext cx="532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6EA"/>
                </a:solidFill>
                <a:latin typeface="Outfit"/>
              </a:rPr>
              <a:t>▸  Seasonal and annual aggregated totals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640" y="3024000"/>
            <a:ext cx="532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6EA"/>
                </a:solidFill>
                <a:latin typeface="Outfit"/>
              </a:rPr>
              <a:t>▸  ANOVA family, distribution fitting, OLS + Mann–Kendall, correlation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640" y="3582000"/>
            <a:ext cx="532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6EA"/>
                </a:solidFill>
                <a:latin typeface="Outfit"/>
              </a:rPr>
              <a:t>▸  Multiplicity control (BH/FDR) and assumption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640" y="4140000"/>
            <a:ext cx="532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6EA"/>
                </a:solidFill>
                <a:latin typeface="Outfit"/>
              </a:rPr>
              <a:t>▸  Reproducible Python pipeline + Streamlit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44640" y="1440000"/>
            <a:ext cx="5832000" cy="39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44640" y="1440000"/>
            <a:ext cx="5832000" cy="792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2639" y="1584000"/>
            <a:ext cx="568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7171"/>
                </a:solidFill>
                <a:latin typeface="Outfit"/>
              </a:rPr>
              <a:t>OUT OF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2639" y="1908000"/>
            <a:ext cx="561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6EA"/>
                </a:solidFill>
                <a:latin typeface="Outfit"/>
              </a:rPr>
              <a:t>▸  District- or grid-level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2639" y="2466000"/>
            <a:ext cx="561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6EA"/>
                </a:solidFill>
                <a:latin typeface="Outfit"/>
              </a:rPr>
              <a:t>▸  Daily / sub-daily rainfall extremes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2639" y="3024000"/>
            <a:ext cx="561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6EA"/>
                </a:solidFill>
                <a:latin typeface="Outfit"/>
              </a:rPr>
              <a:t>▸  Causal attribution of trends (e.g. to climate change)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2639" y="3582000"/>
            <a:ext cx="561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6EA"/>
                </a:solidFill>
                <a:latin typeface="Outfit"/>
              </a:rPr>
              <a:t>▸  Real-time data ingestion; forecasting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2639" y="4140000"/>
            <a:ext cx="5616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6EA"/>
                </a:solidFill>
                <a:latin typeface="Outfit"/>
              </a:rPr>
              <a:t>▸  Spatial-statistical models (kriging, spatial autoregression)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616000"/>
            <a:ext cx="1109472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9D6EA"/>
                </a:solidFill>
                <a:latin typeface="Outfit"/>
              </a:rPr>
              <a:t>Association is not causation: every method here describes patterns, not drivers.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88000"/>
            <a:ext cx="1109472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02  ·  DATA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Outfit"/>
              </a:rPr>
              <a:t>Two data layers — one reproducible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0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40000"/>
            <a:ext cx="5544000" cy="2376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6640" y="1565999"/>
            <a:ext cx="5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  <a:latin typeface="Outfit"/>
              </a:rPr>
              <a:t>REFERENCE LAYER — RAW IMD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640" y="1854000"/>
            <a:ext cx="5400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6EA"/>
                </a:solidFill>
                <a:latin typeface="Outfit"/>
              </a:rPr>
              <a:t>4,116 × 19 published subdivision file (data.gov.in / Kaggle mirror, CC BY-SA 4.0). Used for Review 1's preliminary numbers — 12 monthly, 4 seasonal and 1 annual column per subdivision-year.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4640" y="1440000"/>
            <a:ext cx="5832000" cy="2376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44640" y="1440000"/>
            <a:ext cx="5832000" cy="79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2639" y="1565999"/>
            <a:ext cx="568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  <a:latin typeface="Outfit"/>
              </a:rPr>
              <a:t>PIPELINE LAYER — ANALYSED (SEEDED, IN-REPO)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2639" y="1854000"/>
            <a:ext cx="5688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6EA"/>
                </a:solidFill>
                <a:latin typeface="Outfit"/>
              </a:rPr>
              <a:t>IMD-calibrated generated series (36 × 115 × 5 = 20,700 rows) built because the official file arrives in chunked releases needing manual assembly. Powers the dashboard and every number in this deck.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31999"/>
            <a:ext cx="2638680" cy="1655999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639" y="4121999"/>
            <a:ext cx="24586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Outfit"/>
              </a:rPr>
              <a:t>20,700 ×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639" y="4589999"/>
            <a:ext cx="245868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rows × columns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639" y="4805999"/>
            <a:ext cx="2458680" cy="86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36 divisions · 115 years · 5 series each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7319" y="4031999"/>
            <a:ext cx="2638680" cy="1655999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318" y="4121999"/>
            <a:ext cx="24586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2C55E"/>
                </a:solidFill>
                <a:latin typeface="Outfit"/>
              </a:rPr>
              <a:t>0 /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318" y="4589999"/>
            <a:ext cx="245868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missing / duplicates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318" y="4805999"/>
            <a:ext cx="2458680" cy="86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complete grid, no division-year gaps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6000" y="4031999"/>
            <a:ext cx="2638680" cy="1655999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1999" y="4121999"/>
            <a:ext cx="24586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0A526"/>
                </a:solidFill>
                <a:latin typeface="Outfit"/>
              </a:rPr>
              <a:t>230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1999" y="4589999"/>
            <a:ext cx="245868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flagged values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1999" y="4805999"/>
            <a:ext cx="2458680" cy="86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1.1% slightly negative DJF (2 divisions) — artefact, documented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4680" y="4031999"/>
            <a:ext cx="2638680" cy="1655999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30679" y="4121999"/>
            <a:ext cx="24586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8BDF8"/>
                </a:solidFill>
                <a:latin typeface="Outfit"/>
              </a:rPr>
              <a:t>1,217 mm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0679" y="4589999"/>
            <a:ext cx="245868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national normal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0679" y="4805999"/>
            <a:ext cx="2458680" cy="86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mean of 36 divisions, 1901–2015 (SD 148 mm)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68000"/>
            <a:ext cx="1109472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9D6EA"/>
                </a:solidFill>
                <a:latin typeface="Outfit"/>
              </a:rPr>
              <a:t>One command regenerates data + tests + figures:  python scripts/final_analysis.py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88000"/>
            <a:ext cx="1109472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03  · 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Outfit"/>
              </a:rPr>
              <a:t>The right test for each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0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40000"/>
            <a:ext cx="11094720" cy="496799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40000"/>
            <a:ext cx="64800" cy="49679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0640" y="1486800"/>
            <a:ext cx="194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Outfit"/>
              </a:rPr>
              <a:t>Seasonality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4640" y="1486800"/>
            <a:ext cx="40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utfit"/>
              </a:rPr>
              <a:t>Seasonal means &amp; shares; one-way ANOVA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0640" y="1486800"/>
            <a:ext cx="471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6EA"/>
                </a:solidFill>
                <a:latin typeface="Outfit"/>
              </a:rPr>
              <a:t>Quantifies concentration and its variance share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23200"/>
            <a:ext cx="11094720" cy="496799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23200"/>
            <a:ext cx="64800" cy="49679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0640" y="2070000"/>
            <a:ext cx="194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2C55E"/>
                </a:solidFill>
                <a:latin typeface="Outfit"/>
              </a:rPr>
              <a:t>Regional variability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4640" y="2070000"/>
            <a:ext cx="40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utfit"/>
              </a:rPr>
              <a:t>Levene test → Welch ANOVA (η²)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0640" y="2070000"/>
            <a:ext cx="471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6EA"/>
                </a:solidFill>
                <a:latin typeface="Outfit"/>
              </a:rPr>
              <a:t>36 groups with unequal variances — Welch, not ordinary ANOVA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06400"/>
            <a:ext cx="11094720" cy="496799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06400"/>
            <a:ext cx="64800" cy="496799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640" y="2653200"/>
            <a:ext cx="194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0A526"/>
                </a:solidFill>
                <a:latin typeface="Outfit"/>
              </a:rPr>
              <a:t>Distributions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4640" y="2653200"/>
            <a:ext cx="40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utfit"/>
              </a:rPr>
              <a:t>MLE fits + Kolmogorov–Smirnov; Shapiro–Wilk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0640" y="2653200"/>
            <a:ext cx="471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6EA"/>
                </a:solidFill>
                <a:latin typeface="Outfit"/>
              </a:rPr>
              <a:t>Nonparametric fit comparison across Normal / Gamma / Lognormal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89600"/>
            <a:ext cx="11094720" cy="496799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189600"/>
            <a:ext cx="64800" cy="49679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0640" y="3236400"/>
            <a:ext cx="194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Outfit"/>
              </a:rPr>
              <a:t>Trends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4640" y="3236400"/>
            <a:ext cx="40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utfit"/>
              </a:rPr>
              <a:t>OLS + Mann–Kendall + Sen's slope; BH-FDR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0640" y="3236400"/>
            <a:ext cx="471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6EA"/>
                </a:solidFill>
                <a:latin typeface="Outfit"/>
              </a:rPr>
              <a:t>Linear + rank-based trend, corrected for 36 simultaneous tests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72800"/>
            <a:ext cx="11094720" cy="496799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772800"/>
            <a:ext cx="64800" cy="49679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0640" y="3819600"/>
            <a:ext cx="194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2C55E"/>
                </a:solidFill>
                <a:latin typeface="Outfit"/>
              </a:rPr>
              <a:t>Drought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4640" y="3819600"/>
            <a:ext cx="40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utfit"/>
              </a:rPr>
              <a:t>Deficit counts; empirical 5th percentile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0640" y="3819600"/>
            <a:ext cx="471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6EA"/>
                </a:solidFill>
                <a:latin typeface="Outfit"/>
              </a:rPr>
              <a:t>1-in-20-year level from the record, no parametric assumption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56000"/>
            <a:ext cx="11094720" cy="496799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356000"/>
            <a:ext cx="64800" cy="496799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0640" y="4402800"/>
            <a:ext cx="194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0A526"/>
                </a:solidFill>
                <a:latin typeface="Outfit"/>
              </a:rPr>
              <a:t>Independence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4640" y="4402800"/>
            <a:ext cx="40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Outfit"/>
              </a:rPr>
              <a:t>Pearson r across all 630 division pairs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0640" y="4402800"/>
            <a:ext cx="471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6EA"/>
                </a:solidFill>
                <a:latin typeface="Outfit"/>
              </a:rPr>
              <a:t>Measures shared weather between subdivisions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076000"/>
            <a:ext cx="1109472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9D6EA"/>
                </a:solidFill>
                <a:latin typeface="Outfit"/>
              </a:rPr>
              <a:t>Every family of 36 tests gets Benjamini–Hochberg correction — raw p-values are always shown next to adjusted ones.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88000"/>
            <a:ext cx="1109472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04  · 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Outfit"/>
              </a:rPr>
              <a:t>Six figures, six defensible claims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0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40000"/>
            <a:ext cx="11094720" cy="496799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40000"/>
            <a:ext cx="64800" cy="49679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8640" y="15408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Outfi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2640" y="1486800"/>
            <a:ext cx="70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Outfit"/>
              </a:rPr>
              <a:t>The monsoon dominates the rainfall year —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2640" y="1720800"/>
            <a:ext cx="102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73.7% national share; 67.8–80.3% by division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23200"/>
            <a:ext cx="11094720" cy="496799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23200"/>
            <a:ext cx="64800" cy="49679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8640" y="2124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  <a:latin typeface="Outfi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2640" y="2070000"/>
            <a:ext cx="70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Outfit"/>
              </a:rPr>
              <a:t>Regions differ enormously, in amount and reliability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2640" y="2304000"/>
            <a:ext cx="102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24× mean range; CV 13.6% → 70.3%; η² = 0.861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06400"/>
            <a:ext cx="11094720" cy="496799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06400"/>
            <a:ext cx="64800" cy="496799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8640" y="27072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A526"/>
                </a:solidFill>
                <a:latin typeface="Outfi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2640" y="2653200"/>
            <a:ext cx="70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Outfit"/>
              </a:rPr>
              <a:t>Pooled totals are right-skewed — Normal is the wrong default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2640" y="2887200"/>
            <a:ext cx="102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KS: Normal 0.185 vs Lognormal 0.069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89600"/>
            <a:ext cx="11094720" cy="496799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189600"/>
            <a:ext cx="64800" cy="496799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8640" y="32904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7171"/>
                </a:solidFill>
                <a:latin typeface="Outfit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2640" y="3236400"/>
            <a:ext cx="70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Outfit"/>
              </a:rPr>
              <a:t>No trend survives multiple-testing correction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2640" y="3470400"/>
            <a:ext cx="102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3 → 0 of 36 after BH; national CI spans zero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72800"/>
            <a:ext cx="11094720" cy="496799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772800"/>
            <a:ext cx="64800" cy="49679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8640" y="38736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Outfi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2640" y="3819600"/>
            <a:ext cx="70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Outfit"/>
              </a:rPr>
              <a:t>Drought risk is intensely local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2640" y="4053600"/>
            <a:ext cx="102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1-in-20-yr: 15.8% of normal (W Rajasthan) vs 77.8% (Kerala)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56000"/>
            <a:ext cx="11094720" cy="496799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356000"/>
            <a:ext cx="64800" cy="49679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8640" y="44568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  <a:latin typeface="Outfit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2640" y="4402800"/>
            <a:ext cx="70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Outfit"/>
              </a:rPr>
              <a:t>Divisions share weather — independence is violated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2640" y="4636800"/>
            <a:ext cx="102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64.9% of 630 pairs correlate significantly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112000"/>
            <a:ext cx="1109472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9D6EA"/>
                </a:solidFill>
                <a:latin typeface="Outfit"/>
              </a:rPr>
              <a:t>Each claim is shown with its figure on the next six slides — numbers match review_3/final_report.md exactly.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88000"/>
            <a:ext cx="1109472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04  ·  KEY FINDINGS 1/6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Outfit"/>
              </a:rPr>
              <a:t>The monsoon dominates the rainfall year — everywhere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0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1_season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000" y="1475999"/>
            <a:ext cx="7200000" cy="31987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4872738"/>
            <a:ext cx="3578240" cy="140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4639" y="4962738"/>
            <a:ext cx="339824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Outfit"/>
              </a:rPr>
              <a:t>73.7%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639" y="5430738"/>
            <a:ext cx="33982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national Jun–Sep 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639" y="5646738"/>
            <a:ext cx="3398240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882 mm of the 1,197 mm rainfall year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6880" y="4872738"/>
            <a:ext cx="3578240" cy="140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2879" y="4962738"/>
            <a:ext cx="339824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8BDF8"/>
                </a:solidFill>
                <a:latin typeface="Outfit"/>
              </a:rPr>
              <a:t>67.8–80.3%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2879" y="5430738"/>
            <a:ext cx="33982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divisional share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2879" y="5646738"/>
            <a:ext cx="3398240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even the least monsoonal division gets two-thirds in Jun–Sep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5120" y="4872738"/>
            <a:ext cx="3578240" cy="140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1119" y="4962738"/>
            <a:ext cx="339824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2C55E"/>
                </a:solidFill>
                <a:latin typeface="Outfit"/>
              </a:rPr>
              <a:t>η² = 0.51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119" y="5430738"/>
            <a:ext cx="33982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variance explained by season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119" y="5646738"/>
            <a:ext cx="3398240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one-way ANOVA F = 5,785.6, p &lt; 0.001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18000"/>
            <a:ext cx="1109472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9D6EA"/>
                </a:solidFill>
                <a:latin typeface="Outfit"/>
              </a:rPr>
              <a:t>Figure: fig1_seasonality.png — national seasonal means (A) and per-division monsoon share (B).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88000"/>
            <a:ext cx="1109472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04  ·  KEY FINDINGS 2/6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Outfit"/>
              </a:rPr>
              <a:t>Regions differ enormously — in amount and in 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0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2_regional_var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000" y="1475999"/>
            <a:ext cx="6840000" cy="335007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5256000"/>
            <a:ext cx="2638680" cy="1332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4639" y="5346000"/>
            <a:ext cx="24586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Outfit"/>
              </a:rPr>
              <a:t>24×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639" y="5814000"/>
            <a:ext cx="245868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mean annual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639" y="6030000"/>
            <a:ext cx="245868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Ladakh 148 mm → Konkan &amp; Goa 3,511 mm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7319" y="5256000"/>
            <a:ext cx="2638680" cy="1332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318" y="5346000"/>
            <a:ext cx="24586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38BDF8"/>
                </a:solidFill>
                <a:latin typeface="Outfit"/>
              </a:rPr>
              <a:t>CV 13.6–70.3%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318" y="5814000"/>
            <a:ext cx="245868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reliability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318" y="6030000"/>
            <a:ext cx="245868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Kerala steadiest; Ladakh least reliable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6000" y="5256000"/>
            <a:ext cx="2638680" cy="1332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1999" y="5346000"/>
            <a:ext cx="24586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2C55E"/>
                </a:solidFill>
                <a:latin typeface="Outfit"/>
              </a:rPr>
              <a:t>η² = 0.861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1999" y="5814000"/>
            <a:ext cx="245868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variance explained by region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1999" y="6030000"/>
            <a:ext cx="245868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Welch ANOVA F(35,1445) = 588.5, p &lt; 0.001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4680" y="5256000"/>
            <a:ext cx="2638680" cy="1332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0679" y="5346000"/>
            <a:ext cx="24586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E0A526"/>
                </a:solidFill>
                <a:latin typeface="Outfit"/>
              </a:rPr>
              <a:t>Levene p ≈ 10⁻¹⁶¹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0679" y="5814000"/>
            <a:ext cx="245868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equal variances rejected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0679" y="6030000"/>
            <a:ext cx="245868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so inference rests on Welch, not ordinary ANOVA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18000"/>
            <a:ext cx="1109472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9D6EA"/>
                </a:solidFill>
                <a:latin typeface="Outfit"/>
              </a:rPr>
              <a:t>Figure: fig2_regional_variability.png — means coloured by CV (A) and CV ranking (B).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88000"/>
            <a:ext cx="1109472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04  ·  KEY FINDINGS 3/6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Outfit"/>
              </a:rPr>
              <a:t>Pooled totals are right-skewed — Normal is the wrong default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0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4_distribution_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000" y="1475999"/>
            <a:ext cx="7200000" cy="31987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4872738"/>
            <a:ext cx="3578240" cy="140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4639" y="4962738"/>
            <a:ext cx="339824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87171"/>
                </a:solidFill>
                <a:latin typeface="Outfit"/>
              </a:rPr>
              <a:t>KS D = 0.185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639" y="5430738"/>
            <a:ext cx="33982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Normal fit (pooled JAS)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639" y="5646738"/>
            <a:ext cx="3398240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Shapiro–Wilk p ≈ 10⁻⁵⁵ — normality rejected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6880" y="4872738"/>
            <a:ext cx="3578240" cy="140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2879" y="4962738"/>
            <a:ext cx="339824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2C55E"/>
                </a:solidFill>
                <a:latin typeface="Outfit"/>
              </a:rPr>
              <a:t>KS D = 0.069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2879" y="5430738"/>
            <a:ext cx="33982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Lognormal fit (best pooled)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2879" y="5646738"/>
            <a:ext cx="3398240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Gamma 0.094 — both far better than Normal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5120" y="4872738"/>
            <a:ext cx="3578240" cy="140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1119" y="4962738"/>
            <a:ext cx="339824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0A526"/>
                </a:solidFill>
                <a:latin typeface="Outfit"/>
              </a:rPr>
              <a:t>33 / 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119" y="5430738"/>
            <a:ext cx="339824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divisions near-normal within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119" y="5646738"/>
            <a:ext cx="3398240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pooled skew is a between-region scale mixture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18000"/>
            <a:ext cx="1109472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9D6EA"/>
                </a:solidFill>
                <a:latin typeface="Outfit"/>
              </a:rPr>
              <a:t>Figure: fig4_distribution_fits.png — model choice depends on the unit of analysis.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88000"/>
            <a:ext cx="1109472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04  ·  KEY FINDINGS 4/6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Outfit"/>
              </a:rPr>
              <a:t>Trend claims evaporate under correction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0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000" y="1475999"/>
            <a:ext cx="7200000" cy="37104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5384407"/>
            <a:ext cx="2638680" cy="140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4639" y="5474407"/>
            <a:ext cx="24586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87171"/>
                </a:solidFill>
                <a:latin typeface="Outfit"/>
              </a:rPr>
              <a:t>3 →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639" y="5942407"/>
            <a:ext cx="245868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significant after BH (5% FDR)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639" y="6158407"/>
            <a:ext cx="2458680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smallest adjusted q = 0.44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7319" y="5384407"/>
            <a:ext cx="2638680" cy="140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318" y="5474407"/>
            <a:ext cx="24586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Outfit"/>
              </a:rPr>
              <a:t>−34 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318" y="5942407"/>
            <a:ext cx="245868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national trend per century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318" y="6158407"/>
            <a:ext cx="2458680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95% CI [−117, +49] — contains zero (p = 0.42)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6000" y="5384407"/>
            <a:ext cx="2638680" cy="140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1999" y="5474407"/>
            <a:ext cx="24586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8BDF8"/>
                </a:solidFill>
                <a:latin typeface="Outfit"/>
              </a:rPr>
              <a:t>36 / 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1999" y="5942407"/>
            <a:ext cx="245868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OLS &amp; Mann–Kendall sign agreement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1999" y="6158407"/>
            <a:ext cx="2458680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rank-based check confirms the OLS picture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4680" y="5384407"/>
            <a:ext cx="2638680" cy="140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0679" y="5474407"/>
            <a:ext cx="24586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C9D6EA"/>
                </a:solidFill>
                <a:latin typeface="Outfit"/>
              </a:rPr>
              <a:t>p = 0.75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0679" y="5942407"/>
            <a:ext cx="245868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two-era test (1950–80 vs 1981–2015)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0679" y="6158407"/>
            <a:ext cx="2458680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−11.5 mm (−0.96%) — no era shift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18000"/>
            <a:ext cx="1109472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9D6EA"/>
                </a:solidFill>
                <a:latin typeface="Outfit"/>
              </a:rPr>
              <a:t>Figure: fig5_trends.png — a null result, reported as a result.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88000"/>
            <a:ext cx="1109472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04  ·  KEY FINDINGS 5/6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Outfit"/>
              </a:rPr>
              <a:t>Drought risk is intensely local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0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6_drou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000" y="1475999"/>
            <a:ext cx="7200000" cy="2925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4599000"/>
            <a:ext cx="2638680" cy="140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4639" y="4689000"/>
            <a:ext cx="24586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87171"/>
                </a:solidFill>
                <a:latin typeface="Outfit"/>
              </a:rPr>
              <a:t>15.8%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639" y="5157000"/>
            <a:ext cx="245868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1-in-20-yr level, W Rajasthan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639" y="5373000"/>
            <a:ext cx="2458680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a ~50 mm year against a 317 mm normal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7319" y="4599000"/>
            <a:ext cx="2638680" cy="140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318" y="4689000"/>
            <a:ext cx="24586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2C55E"/>
                </a:solidFill>
                <a:latin typeface="Outfit"/>
              </a:rPr>
              <a:t>77.8%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318" y="5157000"/>
            <a:ext cx="245868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1-in-20-yr level, Kerala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318" y="5373000"/>
            <a:ext cx="2458680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the steadiest division barely dips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6000" y="4599000"/>
            <a:ext cx="2638680" cy="140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1999" y="4689000"/>
            <a:ext cx="24586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0A526"/>
                </a:solidFill>
                <a:latin typeface="Outfit"/>
              </a:rPr>
              <a:t>31 / 115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1999" y="5157000"/>
            <a:ext cx="245868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national years below 90% of normal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1999" y="5373000"/>
            <a:ext cx="2458680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clustered in epochs: 1918–29, 1950–58, 1979–86, 2009–15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4680" y="4599000"/>
            <a:ext cx="2638680" cy="140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0679" y="4689000"/>
            <a:ext cx="24586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Outfit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0679" y="5157000"/>
            <a:ext cx="245868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national years below 75%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0679" y="5373000"/>
            <a:ext cx="2458680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severe deficits are divisional, never all-India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18000"/>
            <a:ext cx="1109472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9D6EA"/>
                </a:solidFill>
                <a:latin typeface="Outfit"/>
              </a:rPr>
              <a:t>Figure: fig6_drought.png — national deficit years (A) and per-division 1-in-20-year levels (B).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88000"/>
            <a:ext cx="1109472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04  ·  KEY FINDINGS 6/6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Outfit"/>
              </a:rPr>
              <a:t>Divisions share weather — independence is violated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0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7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512000"/>
            <a:ext cx="4824000" cy="428413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56000" y="1584000"/>
            <a:ext cx="5472000" cy="1296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1999" y="1674000"/>
            <a:ext cx="5292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Outfit"/>
              </a:rPr>
              <a:t>mean r = 0.243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1999" y="2142000"/>
            <a:ext cx="52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across 630 division pairs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1999" y="2358000"/>
            <a:ext cx="529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range −0.15 to 0.74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6000" y="3024000"/>
            <a:ext cx="5472000" cy="1296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99" y="3114000"/>
            <a:ext cx="5292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0A526"/>
                </a:solidFill>
                <a:latin typeface="Outfit"/>
              </a:rPr>
              <a:t>64.9%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99" y="3582000"/>
            <a:ext cx="52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pairs significant at 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99" y="3798000"/>
            <a:ext cx="529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|r| &gt; 0.183 for n = 115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000" y="4464000"/>
            <a:ext cx="5472000" cy="1296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99" y="4554000"/>
            <a:ext cx="5292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87171"/>
                </a:solidFill>
                <a:latin typeface="Outfit"/>
              </a:rPr>
              <a:t>36 ≠ 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99" y="5022000"/>
            <a:ext cx="52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independent samples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99" y="5238000"/>
            <a:ext cx="529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borderline p-values are weaker evidence than they look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6000" y="5976000"/>
            <a:ext cx="547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9D6EA"/>
                </a:solidFill>
                <a:latin typeface="Outfit"/>
              </a:rPr>
              <a:t>Headline conclusions therefore rest on large effects (η² = 0.86, share = 73.7%) — not on borderline p-values.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88000"/>
            <a:ext cx="1109472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04  ·  UPDATE — THE MISSING DECADE, RECOVERED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Outfit"/>
              </a:rPr>
              <a:t>Official IMD data 2015–2026 acquired, validated — and it confirms the verdict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0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8_extended_national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000" y="1475999"/>
            <a:ext cx="7200000" cy="3029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4703880"/>
            <a:ext cx="2638680" cy="140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4639" y="4793880"/>
            <a:ext cx="24586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Outfit"/>
              </a:rPr>
              <a:t>−18 mm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639" y="5261880"/>
            <a:ext cx="245868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observed annual trend per century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639" y="5477880"/>
            <a:ext cx="2458680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1901–2025, p = 0.50 — null verdict holds on real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7319" y="4703880"/>
            <a:ext cx="2638680" cy="140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318" y="4793880"/>
            <a:ext cx="24586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2C55E"/>
                </a:solidFill>
                <a:latin typeface="Outfit"/>
              </a:rPr>
              <a:t>+0.7%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318" y="5261880"/>
            <a:ext cx="245868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monsoon, 2016–2025 vs 1901–2015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318" y="5477880"/>
            <a:ext cx="2458680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1,186 vs 1,180 mm — no decade shift (Welch p = 0.84)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6000" y="4703880"/>
            <a:ext cx="2638680" cy="140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1999" y="4793880"/>
            <a:ext cx="24586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87171"/>
                </a:solidFill>
                <a:latin typeface="Outfit"/>
              </a:rPr>
              <a:t>−12.6%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1999" y="5261880"/>
            <a:ext cx="245868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live 2026 monsoon deficit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1999" y="5477880"/>
            <a:ext cx="2458680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759 mm Jun–Sep — a deficit year happening now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4680" y="4703880"/>
            <a:ext cx="2638680" cy="140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0679" y="4793880"/>
            <a:ext cx="245868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0A526"/>
                </a:solidFill>
                <a:latin typeface="Outfit"/>
              </a:rPr>
              <a:t>±75%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0679" y="5261880"/>
            <a:ext cx="245868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recent subdivision extremes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0679" y="5477880"/>
            <a:ext cx="2458680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Saurashtra &amp; Kutch +75% (2024); Kerala −34% in two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18000"/>
            <a:ext cx="1109472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9D6EA"/>
                </a:solidFill>
                <a:latin typeface="Outfit"/>
              </a:rPr>
              <a:t>Source: IMD Annual Climate Summaries + CMPG live tables — fetched &amp; validated by scripts/data/fetch_observed.py (1,800 cells, 0 check failures).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88000"/>
            <a:ext cx="1109472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05  ·  VERDICT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Outfit"/>
              </a:rPr>
              <a:t>What the data cannot say — and the feasibility verdict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0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40000"/>
            <a:ext cx="5544000" cy="4031999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40000"/>
            <a:ext cx="5544000" cy="792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640" y="1584000"/>
            <a:ext cx="5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7171"/>
                </a:solidFill>
                <a:latin typeface="Outfit"/>
              </a:rP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640" y="1890000"/>
            <a:ext cx="532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▸  Pipeline layer is IMD-calibrated but generated — tail behaviour and trend strength re-validated on the observed layer (§5.7)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640" y="2592000"/>
            <a:ext cx="532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▸  2020's subdivision table is not machine-verifiable (IMD 'real time' values) — excluded by an automated quality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640" y="3294000"/>
            <a:ext cx="532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▸  2026 annual totals incomplete (year in progress; monsoon complete at −12.6%)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640" y="3996000"/>
            <a:ext cx="532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▸  Subdivision + monthly resolution — no district detail, no daily extremes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640" y="4698000"/>
            <a:ext cx="532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6EA"/>
                </a:solidFill>
                <a:latin typeface="Outfit"/>
              </a:rPr>
              <a:t>▸  A 125-year linear slope is a crude summary of a record with wet/dry epochs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44640" y="1440000"/>
            <a:ext cx="5832000" cy="4031999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44640" y="1440000"/>
            <a:ext cx="5832000" cy="79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2639" y="1584000"/>
            <a:ext cx="568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  <a:latin typeface="Outfit"/>
              </a:rPr>
              <a:t>FEASIBILITY VERDICT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2639" y="1908000"/>
            <a:ext cx="56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0A526"/>
                </a:solidFill>
                <a:latin typeface="Outfit"/>
              </a:rPr>
              <a:t>Data sufficient?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2639" y="2131200"/>
            <a:ext cx="56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Outfit"/>
              </a:rPr>
              <a:t>Yes — pipeline + observed IMD layer to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2639" y="2790000"/>
            <a:ext cx="56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0A526"/>
                </a:solidFill>
                <a:latin typeface="Outfit"/>
              </a:rPr>
              <a:t>Methods appropriate &amp; reproducible?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2639" y="3013200"/>
            <a:ext cx="56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Outfit"/>
              </a:rPr>
              <a:t>Yes — every layer regenerates from scripts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2639" y="3672000"/>
            <a:ext cx="56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0A526"/>
                </a:solidFill>
                <a:latin typeface="Outfit"/>
              </a:rPr>
              <a:t>Risks identified?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2639" y="3895200"/>
            <a:ext cx="56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Outfit"/>
              </a:rPr>
              <a:t>Yes — provenance documented; 2020 gap flagged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2639" y="4554000"/>
            <a:ext cx="56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0A526"/>
                </a:solidFill>
                <a:latin typeface="Outfit"/>
              </a:rPr>
              <a:t>Overall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2639" y="4777200"/>
            <a:ext cx="568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2C55E"/>
                </a:solidFill>
                <a:latin typeface="Outfit"/>
              </a:rPr>
              <a:t>FEASIBLE — top next step (post-2015 data) COMPLETED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88000"/>
            <a:ext cx="1109472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05  · 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Outfit"/>
              </a:rPr>
              <a:t>Continue — with data replacement, not method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0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40000"/>
            <a:ext cx="11094720" cy="68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40000"/>
            <a:ext cx="64800" cy="684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8640" y="1584000"/>
            <a:ext cx="43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Outfi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2640" y="1497600"/>
            <a:ext cx="10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utfit"/>
              </a:rPr>
              <a:t>Keep the pipeline &amp;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2640" y="1756800"/>
            <a:ext cx="102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6EA"/>
                </a:solidFill>
                <a:latin typeface="Outfit"/>
              </a:rPr>
              <a:t>Methods are sound; every figure regenerates from scripts.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14000"/>
            <a:ext cx="11094720" cy="68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14000"/>
            <a:ext cx="64800" cy="684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8640" y="2358000"/>
            <a:ext cx="43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Outfi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2640" y="2271600"/>
            <a:ext cx="10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utfit"/>
              </a:rPr>
              <a:t>Post-2015 data acquisition — 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2640" y="2530800"/>
            <a:ext cx="102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6EA"/>
                </a:solidFill>
                <a:latin typeface="Outfit"/>
              </a:rPr>
              <a:t>Observed IMD layer 2015-2026 fetched, validated (1,800 cells, 0 failures) and analysed.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88000"/>
            <a:ext cx="11094720" cy="68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988000"/>
            <a:ext cx="64800" cy="684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8640" y="3132000"/>
            <a:ext cx="43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  <a:latin typeface="Outfi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2640" y="3045600"/>
            <a:ext cx="10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utfit"/>
              </a:rPr>
              <a:t>Complete the observed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2640" y="3304800"/>
            <a:ext cx="102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6EA"/>
                </a:solidFill>
                <a:latin typeface="Outfit"/>
              </a:rPr>
              <a:t>Obtain the verifiable 2020 subdivision table (IMD request); re-run the division-level pipeline on the combined 1901-2025 observed record.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62000"/>
            <a:ext cx="11094720" cy="68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762000"/>
            <a:ext cx="64800" cy="684000"/>
          </a:xfrm>
          <a:prstGeom prst="rect">
            <a:avLst/>
          </a:prstGeom>
          <a:solidFill>
            <a:srgbClr val="C9D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8640" y="3906000"/>
            <a:ext cx="43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D6EA"/>
                </a:solidFill>
                <a:latin typeface="Outfit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2640" y="3819600"/>
            <a:ext cx="10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Outfit"/>
              </a:rPr>
              <a:t>Then widen: districts + ENSO/IOD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2640" y="4078800"/>
            <a:ext cx="102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6EA"/>
                </a:solidFill>
                <a:latin typeface="Outfit"/>
              </a:rPr>
              <a:t>Finer risk mapping; Pearson r and lagged cross-correlation against Niño 3.4.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680000"/>
            <a:ext cx="11094720" cy="1224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639" y="4788000"/>
            <a:ext cx="10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A526"/>
                </a:solidFill>
                <a:latin typeface="Outfit"/>
              </a:rPr>
              <a:t>WHAT WE LEARNED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639" y="5040000"/>
            <a:ext cx="109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6EA"/>
                </a:solidFill>
                <a:latin typeface="Outfit"/>
              </a:rPr>
              <a:t>Testing 36 divisions is one experiment, not 36. Assumption checks (Levene, Shapiro–Wilk) decided which tests we were allowed to use. And a null trend result is still a result — we report it rather than shop for significance.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88000"/>
            <a:ext cx="1109472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A526"/>
                </a:solidFill>
                <a:latin typeface="Outfit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22000"/>
            <a:ext cx="110947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Outfit"/>
              </a:rPr>
              <a:t>Five things the data tells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6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48000"/>
            <a:ext cx="612000" cy="612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2640" y="1656000"/>
            <a:ext cx="50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8BDF8"/>
                </a:solidFill>
                <a:latin typeface="Outfi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0640" y="1566000"/>
            <a:ext cx="10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utfit"/>
              </a:rPr>
              <a:t>Rain is concentrated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0640" y="1854000"/>
            <a:ext cx="10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6EA"/>
                </a:solidFill>
                <a:latin typeface="Outfit"/>
              </a:rPr>
              <a:t>73.7% falls in Jun–Sep; season explains 51% of variance.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22000"/>
            <a:ext cx="612000" cy="612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2640" y="2430000"/>
            <a:ext cx="50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2C55E"/>
                </a:solidFill>
                <a:latin typeface="Outfi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0640" y="2340000"/>
            <a:ext cx="10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utfit"/>
              </a:rPr>
              <a:t>Regions differ sharply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0640" y="2628000"/>
            <a:ext cx="10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6EA"/>
                </a:solidFill>
                <a:latin typeface="Outfit"/>
              </a:rPr>
              <a:t>Region explains 86.1% of variance; CV runs 13.6% → 70.3%.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96000"/>
            <a:ext cx="612000" cy="612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2640" y="3204000"/>
            <a:ext cx="50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0A526"/>
                </a:solidFill>
                <a:latin typeface="Outfi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0640" y="3114000"/>
            <a:ext cx="10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utfit"/>
              </a:rPr>
              <a:t>Model choice depends on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0640" y="3402000"/>
            <a:ext cx="10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6EA"/>
                </a:solidFill>
                <a:latin typeface="Outfit"/>
              </a:rPr>
              <a:t>Pooled totals need Gamma/Lognormal; within a division, Normal suffices.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70000"/>
            <a:ext cx="612000" cy="612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2640" y="3978000"/>
            <a:ext cx="50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87171"/>
                </a:solidFill>
                <a:latin typeface="Outfi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0640" y="3888000"/>
            <a:ext cx="10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utfit"/>
              </a:rPr>
              <a:t>Trends need caution — and honesty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0640" y="4176000"/>
            <a:ext cx="10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6EA"/>
                </a:solidFill>
                <a:latin typeface="Outfit"/>
              </a:rPr>
              <a:t>3 of 36 raw trends fall to 0 after BH; national CI spans zero.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44000"/>
            <a:ext cx="612000" cy="612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2640" y="4752000"/>
            <a:ext cx="50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8BDF8"/>
                </a:solidFill>
                <a:latin typeface="Outfit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0640" y="4662000"/>
            <a:ext cx="10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utfit"/>
              </a:rPr>
              <a:t>Drought risk is local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0640" y="4950000"/>
            <a:ext cx="10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D6EA"/>
                </a:solidFill>
                <a:latin typeface="Outfit"/>
              </a:rPr>
              <a:t>A 1-in-20-year year means 15.8% of normal in W Rajasthan, 77.8% in Kerala.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5988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9D6EA"/>
                </a:solidFill>
                <a:latin typeface="Outfit"/>
              </a:rPr>
              <a:t>VARSA  ·  Probability &amp; Statistics  ·  BAMAT207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000" y="6598800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C9D6EA"/>
                </a:solidFill>
                <a:latin typeface="Outfi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00000"/>
            <a:ext cx="1116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Outfit"/>
              </a:rPr>
              <a:t>VARSA turns 115 years of rainfall into statistically defensible findings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36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0A526"/>
                </a:solidFill>
                <a:latin typeface="Outfit"/>
              </a:rPr>
              <a:t>every figure, test and p-value reproducible from one command.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564000"/>
            <a:ext cx="11094720" cy="1800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51999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Outfit"/>
              </a:rPr>
              <a:t>Questions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36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6EA"/>
                </a:solidFill>
                <a:latin typeface="Outfit"/>
              </a:rPr>
              <a:t>Pratik (25BCE0337)  ·  Adarsh (25BCE0401)  ·  Arunya (25BCE0344)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6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9D6EA"/>
                </a:solidFill>
                <a:latin typeface="Outfit"/>
              </a:rPr>
              <a:t>Dr. Juhi Baroi  ·  Probability and Statistics (BAMAT207)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28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9D6EA"/>
                </a:solidFill>
                <a:latin typeface="Outfit"/>
              </a:rPr>
              <a:t>Report: review_3/final_report.md  ·  Pipeline: scripts/final_analysis.py  ·  Dashboard: streamlit run app.py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